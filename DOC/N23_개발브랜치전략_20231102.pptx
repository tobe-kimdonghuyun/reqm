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1" r:id="rId1"/>
  </p:sldMasterIdLst>
  <p:notesMasterIdLst>
    <p:notesMasterId r:id="rId16"/>
  </p:notesMasterIdLst>
  <p:sldIdLst>
    <p:sldId id="292" r:id="rId2"/>
    <p:sldId id="425" r:id="rId3"/>
    <p:sldId id="440" r:id="rId4"/>
    <p:sldId id="431" r:id="rId5"/>
    <p:sldId id="439" r:id="rId6"/>
    <p:sldId id="441" r:id="rId7"/>
    <p:sldId id="442" r:id="rId8"/>
    <p:sldId id="443" r:id="rId9"/>
    <p:sldId id="444" r:id="rId10"/>
    <p:sldId id="447" r:id="rId11"/>
    <p:sldId id="445" r:id="rId12"/>
    <p:sldId id="446" r:id="rId13"/>
    <p:sldId id="448" r:id="rId14"/>
    <p:sldId id="271" r:id="rId15"/>
  </p:sldIdLst>
  <p:sldSz cx="9144000" cy="6858000" type="screen4x3"/>
  <p:notesSz cx="6797675" cy="9926638"/>
  <p:embeddedFontLst>
    <p:embeddedFont>
      <p:font typeface="나눔스퀘어 Bold" panose="020B0600000101010101" pitchFamily="50" charset="-127"/>
      <p:bold r:id="rId17"/>
    </p:embeddedFont>
    <p:embeddedFont>
      <p:font typeface="나눔스퀘어 ExtraBold" panose="020B0600000101010101" pitchFamily="50" charset="-12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나눔스퀘어" panose="020B0600000101010101" pitchFamily="50" charset="-127"/>
      <p:regular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8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CAAD"/>
    <a:srgbClr val="971A01"/>
    <a:srgbClr val="FEAC9C"/>
    <a:srgbClr val="9BBB59"/>
    <a:srgbClr val="C0504D"/>
    <a:srgbClr val="EBF1DE"/>
    <a:srgbClr val="F2DCDB"/>
    <a:srgbClr val="8DB4E2"/>
    <a:srgbClr val="EEEEEE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02" autoAdjust="0"/>
    <p:restoredTop sz="93729" autoAdjust="0"/>
  </p:normalViewPr>
  <p:slideViewPr>
    <p:cSldViewPr snapToGrid="0">
      <p:cViewPr varScale="1">
        <p:scale>
          <a:sx n="107" d="100"/>
          <a:sy n="107" d="100"/>
        </p:scale>
        <p:origin x="942" y="102"/>
      </p:cViewPr>
      <p:guideLst>
        <p:guide orient="horz" pos="2160"/>
        <p:guide pos="2880"/>
        <p:guide orient="horz" pos="8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E5254-4194-4E84-BEC3-EF28E119E8D5}" type="datetimeFigureOut">
              <a:rPr lang="ko-KR" altLang="en-US" smtClean="0"/>
              <a:t>2023-10-30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7AEA3-E196-4B39-9926-77A02D960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64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7AEA3-E196-4B39-9926-77A02D960C7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764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7AEA3-E196-4B39-9926-77A02D960C7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48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7AEA3-E196-4B39-9926-77A02D960C7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342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7AEA3-E196-4B39-9926-77A02D960C7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061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7AEA3-E196-4B39-9926-77A02D960C7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974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431067" y="5021986"/>
            <a:ext cx="2109447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31067" y="3395178"/>
            <a:ext cx="4621212" cy="1325563"/>
          </a:xfrm>
          <a:prstGeom prst="rect">
            <a:avLst/>
          </a:prstGeom>
        </p:spPr>
        <p:txBody>
          <a:bodyPr/>
          <a:lstStyle>
            <a:lvl1pPr>
              <a:defRPr sz="27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431068" y="5253380"/>
            <a:ext cx="4826555" cy="1097915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200" b="0" kern="12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j-cs"/>
              </a:defRPr>
            </a:lvl1pPr>
            <a:lvl2pPr marL="0" indent="0"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kern="12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j-cs"/>
              </a:defRPr>
            </a:lvl2pPr>
            <a:lvl3pPr marL="0" indent="0"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kern="12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j-cs"/>
              </a:defRPr>
            </a:lvl3pPr>
            <a:lvl4pPr marL="0" indent="0"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kern="12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j-cs"/>
              </a:defRPr>
            </a:lvl4pPr>
            <a:lvl5pPr marL="0" indent="0"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200" kern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j-cs"/>
              </a:defRPr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  <a:endParaRPr lang="en-US" altLang="ko-KR" dirty="0" smtClean="0"/>
          </a:p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en-US" dirty="0" smtClean="0"/>
          </a:p>
          <a:p>
            <a:pPr lvl="0"/>
            <a:endParaRPr lang="ko-KR" altLang="en-US" dirty="0" smtClean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99" r="26328"/>
          <a:stretch/>
        </p:blipFill>
        <p:spPr>
          <a:xfrm>
            <a:off x="413682" y="432244"/>
            <a:ext cx="891488" cy="212609"/>
          </a:xfrm>
          <a:prstGeom prst="rect">
            <a:avLst/>
          </a:prstGeom>
          <a:ln w="31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6703607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322001" y="561045"/>
            <a:ext cx="999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Index</a:t>
            </a:r>
            <a:endParaRPr lang="ko-KR" altLang="en-US" sz="2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-1" y="1251284"/>
            <a:ext cx="9144001" cy="4826434"/>
          </a:xfrm>
          <a:prstGeom prst="rect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" name="제목 1"/>
          <p:cNvSpPr txBox="1">
            <a:spLocks/>
          </p:cNvSpPr>
          <p:nvPr userDrawn="1"/>
        </p:nvSpPr>
        <p:spPr>
          <a:xfrm>
            <a:off x="492919" y="1796154"/>
            <a:ext cx="5529263" cy="389979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28625" indent="-428625" algn="l"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altLang="ko-KR" sz="21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492918" y="1549950"/>
            <a:ext cx="6142197" cy="4302209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514350" indent="-17145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857250" indent="-17145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1200150" indent="-17145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1543050" indent="-17145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6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-1" y="1251284"/>
            <a:ext cx="9144001" cy="4826434"/>
          </a:xfrm>
          <a:prstGeom prst="rect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" name="제목 1"/>
          <p:cNvSpPr txBox="1">
            <a:spLocks/>
          </p:cNvSpPr>
          <p:nvPr userDrawn="1"/>
        </p:nvSpPr>
        <p:spPr>
          <a:xfrm>
            <a:off x="492919" y="1796154"/>
            <a:ext cx="5529263" cy="389979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28625" indent="-428625" algn="l"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altLang="ko-KR" sz="2100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492918" y="1549950"/>
            <a:ext cx="6142197" cy="4302209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514350" indent="-17145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857250" indent="-17145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1200150" indent="-17145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1543050" indent="-17145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60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43459" y="445809"/>
            <a:ext cx="8171892" cy="8182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1" name="제목 1"/>
          <p:cNvSpPr txBox="1">
            <a:spLocks/>
          </p:cNvSpPr>
          <p:nvPr userDrawn="1"/>
        </p:nvSpPr>
        <p:spPr>
          <a:xfrm>
            <a:off x="343459" y="1434354"/>
            <a:ext cx="8171891" cy="4724399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defRPr>
            </a:lvl1pPr>
          </a:lstStyle>
          <a:p>
            <a:endParaRPr lang="ko-KR" altLang="en-US" sz="2400" dirty="0"/>
          </a:p>
        </p:txBody>
      </p:sp>
      <p:sp>
        <p:nvSpPr>
          <p:cNvPr id="12" name="Text Placeholder 2"/>
          <p:cNvSpPr>
            <a:spLocks noGrp="1"/>
          </p:cNvSpPr>
          <p:nvPr>
            <p:ph idx="1" hasCustomPrompt="1"/>
          </p:nvPr>
        </p:nvSpPr>
        <p:spPr>
          <a:xfrm>
            <a:off x="343459" y="1434353"/>
            <a:ext cx="8171891" cy="4742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1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>
              <a:defRPr sz="1800"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>
              <a:defRPr sz="1500"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>
              <a:defRPr sz="1350"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>
              <a:defRPr sz="1350"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826568" y="635635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6DE4815-47DD-4BD6-984D-9AFA435EB5E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6858000" cy="6858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99" r="26328"/>
          <a:stretch/>
        </p:blipFill>
        <p:spPr>
          <a:xfrm>
            <a:off x="413682" y="6436911"/>
            <a:ext cx="740235" cy="176537"/>
          </a:xfrm>
          <a:prstGeom prst="rect">
            <a:avLst/>
          </a:prstGeom>
          <a:ln w="31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742127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36340" y="2246477"/>
            <a:ext cx="2727029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5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감사합니다</a:t>
            </a:r>
            <a:r>
              <a:rPr lang="en-US" altLang="ko-KR" sz="405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endParaRPr lang="ko-KR" altLang="en-US" sz="405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99" r="26328"/>
          <a:stretch/>
        </p:blipFill>
        <p:spPr>
          <a:xfrm>
            <a:off x="413682" y="6436911"/>
            <a:ext cx="740235" cy="176537"/>
          </a:xfrm>
          <a:prstGeom prst="rect">
            <a:avLst/>
          </a:prstGeom>
          <a:ln w="31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561853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84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7" r:id="rId2"/>
    <p:sldLayoutId id="2147483689" r:id="rId3"/>
    <p:sldLayoutId id="2147483683" r:id="rId4"/>
    <p:sldLayoutId id="2147483688" r:id="rId5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16768" y="2691448"/>
            <a:ext cx="4940855" cy="141994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3800" dirty="0" smtClean="0"/>
              <a:t>제품기술연구소</a:t>
            </a:r>
            <a:r>
              <a:rPr lang="ko-KR" altLang="en-US" sz="3800"/>
              <a:t/>
            </a:r>
            <a:br>
              <a:rPr lang="ko-KR" altLang="en-US" sz="3800"/>
            </a:br>
            <a:r>
              <a:rPr lang="ko-KR" altLang="en-US" sz="3800" smtClean="0"/>
              <a:t>   </a:t>
            </a:r>
            <a:r>
              <a:rPr lang="en-US" altLang="ko-KR" sz="3800" smtClean="0"/>
              <a:t>N23 </a:t>
            </a:r>
            <a:r>
              <a:rPr lang="ko-KR" altLang="en-US" sz="3800" smtClean="0"/>
              <a:t>개발브랜치 전략</a:t>
            </a:r>
            <a:endParaRPr lang="ko-KR" altLang="en-US" sz="38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mtClean="0"/>
              <a:t>제품기술연구소 </a:t>
            </a:r>
            <a:r>
              <a:rPr lang="en-US" altLang="ko-KR" smtClean="0"/>
              <a:t>- </a:t>
            </a:r>
            <a:r>
              <a:rPr lang="ko-KR" altLang="en-US" smtClean="0"/>
              <a:t>품질보증그룹</a:t>
            </a:r>
            <a:endParaRPr lang="en-US" altLang="ko-KR" dirty="0" smtClean="0"/>
          </a:p>
          <a:p>
            <a:r>
              <a:rPr lang="en-US" altLang="ko-KR" smtClean="0"/>
              <a:t>2023.06.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019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 smtClean="0"/>
              <a:t>1. </a:t>
            </a:r>
            <a:r>
              <a:rPr lang="en-US" altLang="ko-KR"/>
              <a:t>N23 </a:t>
            </a:r>
            <a:r>
              <a:rPr lang="ko-KR" altLang="en-US" smtClean="0"/>
              <a:t>개발브랜치 전략</a:t>
            </a:r>
            <a:endParaRPr lang="ko-KR" altLang="en-US" dirty="0"/>
          </a:p>
        </p:txBody>
      </p:sp>
      <p:sp>
        <p:nvSpPr>
          <p:cNvPr id="8" name="순서도: 대체 처리 7"/>
          <p:cNvSpPr/>
          <p:nvPr/>
        </p:nvSpPr>
        <p:spPr>
          <a:xfrm>
            <a:off x="525389" y="876139"/>
            <a:ext cx="288925" cy="28892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endParaRPr kumimoji="0"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809674"/>
            <a:ext cx="4094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브랜치 목록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14313" y="1165064"/>
            <a:ext cx="780179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Nexacro Platform V23 (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이하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v23)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 개발 브랜치이다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Nexacro Platform V21(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이하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v21)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 개발 브랜치 였으나 브랜치를 분리하지 않기로 하여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에서도 사용한다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브랜치는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 기준으로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브랜치로 용도 변경된다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143000" lvl="2" indent="-2286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이후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월에 정기배포가 있으므로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월에 있을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배포 이전에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배포나갈 계획이 없기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때문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브랜치는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통합테스트 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분기되어 테스트 된다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lphaL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Pre_Patch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위한 브랜치이다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정기 배포가 아닌 긴급 배포시 배포가 되는 브랜치이다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배포가 끝나고 나면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월정기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브랜치를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하게 된다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이후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일까지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유지보수 브랜치이다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lphaL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정기 테스트 대상이 되는 브랜치이다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정기 테스트 프리징 시점에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브랜치에서 분기되어 진다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테스트가 완료 된 후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된다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143000" lvl="2" indent="-2286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하기 전에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정기를 위한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브랜치를 분기한다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143000" lvl="2" indent="-2286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정기를 위한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브랜치에는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목록에 대해서만 수정 반영한다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013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 smtClean="0"/>
              <a:t>1. </a:t>
            </a:r>
            <a:r>
              <a:rPr lang="ko-KR" altLang="en-US" smtClean="0"/>
              <a:t>연구소 브랜치 전략</a:t>
            </a:r>
            <a:endParaRPr lang="ko-KR" altLang="en-US" dirty="0"/>
          </a:p>
        </p:txBody>
      </p:sp>
      <p:sp>
        <p:nvSpPr>
          <p:cNvPr id="8" name="순서도: 대체 처리 7"/>
          <p:cNvSpPr/>
          <p:nvPr/>
        </p:nvSpPr>
        <p:spPr>
          <a:xfrm>
            <a:off x="525389" y="876139"/>
            <a:ext cx="288925" cy="28892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endParaRPr kumimoji="0"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809674"/>
            <a:ext cx="4094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브랜치 목록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14313" y="1165064"/>
            <a:ext cx="78017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 startAt="4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CATS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CATS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23/06/05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부로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CATS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용도로 진행한다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매일 수행된 결과에 대해서는 제품개발그룹에서는 즉시 처리하는 것을 기본으로 한다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lphaLcPeriod"/>
              <a:defRPr/>
            </a:pP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043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/>
              <a:t>1. </a:t>
            </a:r>
            <a:r>
              <a:rPr lang="en-US" altLang="ko-KR" smtClean="0"/>
              <a:t>Nexacro Platform v23</a:t>
            </a:r>
            <a:r>
              <a:rPr lang="ko-KR" altLang="en-US" smtClean="0"/>
              <a:t> </a:t>
            </a:r>
            <a:r>
              <a:rPr lang="ko-KR" altLang="en-US"/>
              <a:t>브랜치 </a:t>
            </a:r>
            <a:r>
              <a:rPr lang="ko-KR" altLang="en-US" smtClean="0"/>
              <a:t>전략</a:t>
            </a:r>
            <a:endParaRPr lang="ko-KR" altLang="en-US" dirty="0"/>
          </a:p>
        </p:txBody>
      </p:sp>
      <p:sp>
        <p:nvSpPr>
          <p:cNvPr id="8" name="순서도: 대체 처리 7"/>
          <p:cNvSpPr/>
          <p:nvPr/>
        </p:nvSpPr>
        <p:spPr>
          <a:xfrm>
            <a:off x="525389" y="876139"/>
            <a:ext cx="288925" cy="28892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</a:t>
            </a:r>
            <a:endParaRPr kumimoji="0"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5" y="809674"/>
            <a:ext cx="24731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브랜치 </a:t>
            </a:r>
            <a:r>
              <a:rPr lang="en-US" altLang="ko-KR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Flow (</a:t>
            </a:r>
            <a:r>
              <a:rPr lang="ko-KR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간략</a:t>
            </a:r>
            <a:r>
              <a:rPr lang="en-US" altLang="ko-KR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257579" y="157943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6282677" y="1571154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2598574" y="157943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/>
          <p:cNvCxnSpPr>
            <a:stCxn id="7" idx="6"/>
            <a:endCxn id="13" idx="2"/>
          </p:cNvCxnSpPr>
          <p:nvPr/>
        </p:nvCxnSpPr>
        <p:spPr>
          <a:xfrm>
            <a:off x="490334" y="1695813"/>
            <a:ext cx="2108240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2659" y="1271447"/>
            <a:ext cx="1512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2870549" y="4394546"/>
            <a:ext cx="232755" cy="2327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화살표 연결선 54"/>
          <p:cNvCxnSpPr>
            <a:stCxn id="13" idx="6"/>
            <a:endCxn id="9" idx="2"/>
          </p:cNvCxnSpPr>
          <p:nvPr/>
        </p:nvCxnSpPr>
        <p:spPr>
          <a:xfrm flipV="1">
            <a:off x="2831329" y="1687532"/>
            <a:ext cx="3451348" cy="82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3807030" y="4389671"/>
            <a:ext cx="232755" cy="2327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화살표 연결선 81"/>
          <p:cNvCxnSpPr>
            <a:stCxn id="49" idx="6"/>
            <a:endCxn id="62" idx="2"/>
          </p:cNvCxnSpPr>
          <p:nvPr/>
        </p:nvCxnSpPr>
        <p:spPr>
          <a:xfrm flipV="1">
            <a:off x="3103304" y="4506049"/>
            <a:ext cx="703726" cy="48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463643" y="4489858"/>
            <a:ext cx="1583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브랜치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(21.0.0.</a:t>
            </a:r>
            <a:r>
              <a:rPr lang="en-US" altLang="ko-KR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1500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12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3" name="직선 화살표 연결선 112"/>
          <p:cNvCxnSpPr>
            <a:stCxn id="13" idx="4"/>
            <a:endCxn id="49" idx="0"/>
          </p:cNvCxnSpPr>
          <p:nvPr/>
        </p:nvCxnSpPr>
        <p:spPr>
          <a:xfrm>
            <a:off x="2714952" y="1812190"/>
            <a:ext cx="271975" cy="25823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모서리가 둥근 사각형 설명선 123"/>
          <p:cNvSpPr/>
          <p:nvPr/>
        </p:nvSpPr>
        <p:spPr>
          <a:xfrm>
            <a:off x="3090660" y="1081286"/>
            <a:ext cx="929265" cy="397860"/>
          </a:xfrm>
          <a:prstGeom prst="wedgeRoundRectCallout">
            <a:avLst>
              <a:gd name="adj1" fmla="val -78877"/>
              <a:gd name="adj2" fmla="val 8651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정기프리징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5" name="모서리가 둥근 사각형 설명선 124"/>
          <p:cNvSpPr/>
          <p:nvPr/>
        </p:nvSpPr>
        <p:spPr>
          <a:xfrm>
            <a:off x="3082531" y="3780016"/>
            <a:ext cx="1045642" cy="397860"/>
          </a:xfrm>
          <a:prstGeom prst="wedgeRoundRectCallout">
            <a:avLst>
              <a:gd name="adj1" fmla="val 51155"/>
              <a:gd name="adj2" fmla="val 11805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정기배포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6" name="타원 125"/>
          <p:cNvSpPr/>
          <p:nvPr/>
        </p:nvSpPr>
        <p:spPr>
          <a:xfrm>
            <a:off x="258829" y="5631484"/>
            <a:ext cx="232755" cy="23275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타원 133"/>
          <p:cNvSpPr/>
          <p:nvPr/>
        </p:nvSpPr>
        <p:spPr>
          <a:xfrm>
            <a:off x="7727246" y="5641887"/>
            <a:ext cx="232755" cy="23275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5" name="직선 화살표 연결선 134"/>
          <p:cNvCxnSpPr>
            <a:stCxn id="126" idx="6"/>
            <a:endCxn id="134" idx="2"/>
          </p:cNvCxnSpPr>
          <p:nvPr/>
        </p:nvCxnSpPr>
        <p:spPr>
          <a:xfrm>
            <a:off x="491584" y="5747862"/>
            <a:ext cx="7235662" cy="104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170838" y="5926827"/>
            <a:ext cx="998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0" name="타원 149"/>
          <p:cNvSpPr/>
          <p:nvPr/>
        </p:nvSpPr>
        <p:spPr>
          <a:xfrm>
            <a:off x="4417377" y="4391347"/>
            <a:ext cx="232755" cy="2327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1" name="직선 화살표 연결선 150"/>
          <p:cNvCxnSpPr>
            <a:stCxn id="62" idx="6"/>
            <a:endCxn id="150" idx="2"/>
          </p:cNvCxnSpPr>
          <p:nvPr/>
        </p:nvCxnSpPr>
        <p:spPr>
          <a:xfrm>
            <a:off x="4039785" y="4506049"/>
            <a:ext cx="377592" cy="16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091409" y="1310480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2023.06.05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55938" y="1794464"/>
            <a:ext cx="1303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128173" y="1812190"/>
            <a:ext cx="1303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mtClean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 </a:t>
            </a:r>
            <a:r>
              <a:rPr lang="ko-KR" altLang="en-US" sz="1200" b="1" smtClean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</a:t>
            </a:r>
            <a:r>
              <a:rPr lang="en-US" altLang="ko-KR" sz="1200" b="1" smtClean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</a:t>
            </a:r>
            <a:endParaRPr lang="ko-KR" altLang="en-US" sz="1200" b="1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5111984" y="2330650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/>
          <p:cNvSpPr/>
          <p:nvPr/>
        </p:nvSpPr>
        <p:spPr>
          <a:xfrm>
            <a:off x="5389303" y="2328193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왼쪽 중괄호 84"/>
          <p:cNvSpPr/>
          <p:nvPr/>
        </p:nvSpPr>
        <p:spPr>
          <a:xfrm rot="5400000">
            <a:off x="5324470" y="1724791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/>
          <p:cNvSpPr/>
          <p:nvPr/>
        </p:nvSpPr>
        <p:spPr>
          <a:xfrm>
            <a:off x="5668468" y="2328193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/>
          <p:cNvSpPr txBox="1"/>
          <p:nvPr/>
        </p:nvSpPr>
        <p:spPr>
          <a:xfrm>
            <a:off x="4951132" y="2525162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개발건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8" name="직선 화살표 연결선 87"/>
          <p:cNvCxnSpPr>
            <a:stCxn id="85" idx="1"/>
          </p:cNvCxnSpPr>
          <p:nvPr/>
        </p:nvCxnSpPr>
        <p:spPr>
          <a:xfrm flipV="1">
            <a:off x="5458347" y="1669678"/>
            <a:ext cx="66313" cy="467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>
            <a:off x="4569612" y="4624102"/>
            <a:ext cx="2384" cy="11312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608322" y="5364888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4" name="타원 93"/>
          <p:cNvSpPr/>
          <p:nvPr/>
        </p:nvSpPr>
        <p:spPr>
          <a:xfrm>
            <a:off x="4730815" y="3717449"/>
            <a:ext cx="232755" cy="2327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2" name="직선 화살표 연결선 101"/>
          <p:cNvCxnSpPr>
            <a:stCxn id="150" idx="7"/>
            <a:endCxn id="94" idx="4"/>
          </p:cNvCxnSpPr>
          <p:nvPr/>
        </p:nvCxnSpPr>
        <p:spPr>
          <a:xfrm flipV="1">
            <a:off x="4616046" y="3950204"/>
            <a:ext cx="231147" cy="4752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>
            <a:stCxn id="94" idx="6"/>
            <a:endCxn id="147" idx="2"/>
          </p:cNvCxnSpPr>
          <p:nvPr/>
        </p:nvCxnSpPr>
        <p:spPr>
          <a:xfrm flipV="1">
            <a:off x="4963570" y="3822648"/>
            <a:ext cx="3326030" cy="11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795177" y="3889662"/>
            <a:ext cx="174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RELASE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 생성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(21.0.0.</a:t>
            </a:r>
            <a:r>
              <a:rPr lang="en-US" altLang="ko-KR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1600)</a:t>
            </a:r>
            <a:endParaRPr lang="en-US" altLang="ko-KR" sz="12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6" name="타원 105"/>
          <p:cNvSpPr/>
          <p:nvPr/>
        </p:nvSpPr>
        <p:spPr>
          <a:xfrm>
            <a:off x="6290435" y="4538168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/>
          <p:cNvSpPr/>
          <p:nvPr/>
        </p:nvSpPr>
        <p:spPr>
          <a:xfrm>
            <a:off x="6567754" y="4535711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왼쪽 중괄호 107"/>
          <p:cNvSpPr/>
          <p:nvPr/>
        </p:nvSpPr>
        <p:spPr>
          <a:xfrm rot="5400000">
            <a:off x="6486745" y="3922161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/>
          <p:cNvSpPr/>
          <p:nvPr/>
        </p:nvSpPr>
        <p:spPr>
          <a:xfrm>
            <a:off x="6846919" y="4535711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5968214" y="4678891"/>
            <a:ext cx="1284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필수건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1" name="직선 화살표 연결선 110"/>
          <p:cNvCxnSpPr/>
          <p:nvPr/>
        </p:nvCxnSpPr>
        <p:spPr>
          <a:xfrm flipV="1">
            <a:off x="6629588" y="3822648"/>
            <a:ext cx="47499" cy="512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타원 111"/>
          <p:cNvSpPr/>
          <p:nvPr/>
        </p:nvSpPr>
        <p:spPr>
          <a:xfrm>
            <a:off x="8116768" y="1580754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>
            <a:off x="6548564" y="3268872"/>
            <a:ext cx="232755" cy="2327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5" name="직선 화살표 연결선 114"/>
          <p:cNvCxnSpPr>
            <a:stCxn id="114" idx="6"/>
            <a:endCxn id="131" idx="2"/>
          </p:cNvCxnSpPr>
          <p:nvPr/>
        </p:nvCxnSpPr>
        <p:spPr>
          <a:xfrm flipV="1">
            <a:off x="6781319" y="3381480"/>
            <a:ext cx="936961" cy="37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>
            <a:stCxn id="9" idx="4"/>
            <a:endCxn id="114" idx="0"/>
          </p:cNvCxnSpPr>
          <p:nvPr/>
        </p:nvCxnSpPr>
        <p:spPr>
          <a:xfrm>
            <a:off x="6399055" y="1803909"/>
            <a:ext cx="265887" cy="14649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6664941" y="2883409"/>
            <a:ext cx="1426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첫 정기 브랜치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(23.0.0.</a:t>
            </a:r>
            <a:r>
              <a:rPr lang="en-US" altLang="ko-KR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100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12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20" name="직선 화살표 연결선 119"/>
          <p:cNvCxnSpPr>
            <a:stCxn id="9" idx="6"/>
            <a:endCxn id="112" idx="2"/>
          </p:cNvCxnSpPr>
          <p:nvPr/>
        </p:nvCxnSpPr>
        <p:spPr>
          <a:xfrm>
            <a:off x="6515432" y="1687532"/>
            <a:ext cx="1601336" cy="9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모서리가 둥근 직사각형 56"/>
          <p:cNvSpPr/>
          <p:nvPr/>
        </p:nvSpPr>
        <p:spPr>
          <a:xfrm>
            <a:off x="124384" y="2915175"/>
            <a:ext cx="8929969" cy="218424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TextBox 126"/>
          <p:cNvSpPr txBox="1"/>
          <p:nvPr/>
        </p:nvSpPr>
        <p:spPr>
          <a:xfrm>
            <a:off x="279626" y="2923456"/>
            <a:ext cx="1743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833208" y="1308886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2023.10.10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1" name="타원 130"/>
          <p:cNvSpPr/>
          <p:nvPr/>
        </p:nvSpPr>
        <p:spPr>
          <a:xfrm>
            <a:off x="7718280" y="3265102"/>
            <a:ext cx="232755" cy="2327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화살표 연결선 135"/>
          <p:cNvCxnSpPr>
            <a:endCxn id="134" idx="0"/>
          </p:cNvCxnSpPr>
          <p:nvPr/>
        </p:nvCxnSpPr>
        <p:spPr>
          <a:xfrm>
            <a:off x="7832327" y="3498714"/>
            <a:ext cx="11297" cy="21431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6974182" y="5249240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9" name="타원 138"/>
          <p:cNvSpPr/>
          <p:nvPr/>
        </p:nvSpPr>
        <p:spPr>
          <a:xfrm>
            <a:off x="8600018" y="5641887"/>
            <a:ext cx="232755" cy="23275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화살표 연결선 139"/>
          <p:cNvCxnSpPr>
            <a:stCxn id="134" idx="6"/>
            <a:endCxn id="139" idx="2"/>
          </p:cNvCxnSpPr>
          <p:nvPr/>
        </p:nvCxnSpPr>
        <p:spPr>
          <a:xfrm>
            <a:off x="7960001" y="5758265"/>
            <a:ext cx="64001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8004986" y="5936232"/>
            <a:ext cx="1303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mtClean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 </a:t>
            </a:r>
            <a:r>
              <a:rPr lang="ko-KR" altLang="en-US" sz="1200" b="1" smtClean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</a:t>
            </a:r>
            <a:r>
              <a:rPr lang="en-US" altLang="ko-KR" sz="1200" b="1" smtClean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</a:t>
            </a:r>
            <a:endParaRPr lang="ko-KR" altLang="en-US" sz="1200" b="1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2953672" y="5794115"/>
            <a:ext cx="1303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7" name="타원 146"/>
          <p:cNvSpPr/>
          <p:nvPr/>
        </p:nvSpPr>
        <p:spPr>
          <a:xfrm>
            <a:off x="8289600" y="3706270"/>
            <a:ext cx="232755" cy="2327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모서리가 둥근 사각형 설명선 148"/>
          <p:cNvSpPr/>
          <p:nvPr/>
        </p:nvSpPr>
        <p:spPr>
          <a:xfrm>
            <a:off x="7957671" y="4099076"/>
            <a:ext cx="962567" cy="551172"/>
          </a:xfrm>
          <a:prstGeom prst="wedgeRoundRectCallout">
            <a:avLst>
              <a:gd name="adj1" fmla="val -6734"/>
              <a:gd name="adj2" fmla="val -8048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정기배포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6961383" y="5907970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2023.10.31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53" name="직선 화살표 연결선 152"/>
          <p:cNvCxnSpPr>
            <a:stCxn id="147" idx="6"/>
          </p:cNvCxnSpPr>
          <p:nvPr/>
        </p:nvCxnSpPr>
        <p:spPr>
          <a:xfrm flipV="1">
            <a:off x="8522355" y="3822362"/>
            <a:ext cx="476509" cy="2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모서리가 둥근 사각형 설명선 155"/>
          <p:cNvSpPr/>
          <p:nvPr/>
        </p:nvSpPr>
        <p:spPr>
          <a:xfrm>
            <a:off x="7676518" y="2408377"/>
            <a:ext cx="1045642" cy="397860"/>
          </a:xfrm>
          <a:prstGeom prst="wedgeRoundRectCallout">
            <a:avLst>
              <a:gd name="adj1" fmla="val 60586"/>
              <a:gd name="adj2" fmla="val 30282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유지보수 브랜치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4534715" y="4635150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2023.6.27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556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 smtClean="0"/>
              <a:t>2. F&amp;Q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55576" y="809674"/>
            <a:ext cx="4094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58588" y="658349"/>
            <a:ext cx="825752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브랜치는 어떻게 운용 되나요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형상을 분리하지 않기로 결정하였기 때문에 기존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브랜치가 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 시점은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월정기가 프리징 된 시점은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23/06/05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부터 입니다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버전의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23/06/05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기준으로 없어지므로 고객요구건을 응대할 때 주의해야 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master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는 현재 계획으로는 유지되지 않습니다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요청건에 대해서 소스 유입을 해야합니다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브랜치는 어떻게 운용 되나요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첫배포가 이루어지기 전까지는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 용도로 기존과 같이 활용됩니다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 시점은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첫 배포가 이루어지는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 입니다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 배포 후에는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pre-patch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브랜치로 변경됩니다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 부터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정기배포 시까지는 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pre-patch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 불가하게 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브랜치는 어떻게 운용되나요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lang="ko-KR" altLang="en-US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정기배포가 끝난 뒤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그리고 바로 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브랜치를 생성합니다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.(master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변경되었기 때문에 생성하는 브랜치이다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.)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브랜치에는 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143000" lvl="2" indent="-2286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정기요청 필수건에 대해서 작업하게 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143000" lvl="2" indent="-2286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Pre-Patch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나가게 되는 건들도 소스 유입해야 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143000" lvl="2" indent="-2286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배포 후에는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유지보수 브랜치로 남겨두어 제품 유지보수를 진행합니다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en-US" altLang="ko-KR" sz="1200" smtClean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smtClean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추후 재논의예정</a:t>
            </a:r>
            <a:r>
              <a:rPr lang="en-US" altLang="ko-KR" sz="12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1200" smtClean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134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 smtClean="0"/>
              <a:t>2. F&amp;Q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55576" y="809674"/>
            <a:ext cx="4094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58588" y="658349"/>
            <a:ext cx="825752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8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 현재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(V21 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월정기 테스트 진행 중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요구사항은 어떻게 처리해야 하나요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 시점에는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정기테스트가 진행 중이고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용으로 변경되었습니다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작업브랜치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Master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용이고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용으로 각각이 모두 처리되어야 하기 때문입니다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  <a:defRPr/>
            </a:pP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4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정기가 배포가 나간 뒤에는 고객요구사항을 어떻게 처리 해야 하나요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??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월정기배포가 나가게 되면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월정기 브랜치를 생성할 예정입니다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Pre-Patch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요청하지 않는다면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marL="1143000" lvl="2" indent="-2286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작업 브랜치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월정기 브랜치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Master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고객이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Pre-Patch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요청한다면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</a:p>
          <a:p>
            <a:pPr marL="1143000" lvl="2" indent="-2286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작업 브랜치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11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월정기 브랜치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Master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 유입에 대한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정보는 품질보증그룹에서 안내 할 것입니다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202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/>
              <a:t>1. </a:t>
            </a:r>
            <a:r>
              <a:rPr lang="en-US" altLang="ko-KR" smtClean="0"/>
              <a:t>Nexacro Platform v23</a:t>
            </a:r>
            <a:r>
              <a:rPr lang="ko-KR" altLang="en-US" smtClean="0"/>
              <a:t> </a:t>
            </a:r>
            <a:r>
              <a:rPr lang="ko-KR" altLang="en-US"/>
              <a:t>브랜치 </a:t>
            </a:r>
            <a:r>
              <a:rPr lang="ko-KR" altLang="en-US" smtClean="0"/>
              <a:t>전략</a:t>
            </a:r>
            <a:endParaRPr lang="ko-KR" altLang="en-US" dirty="0"/>
          </a:p>
        </p:txBody>
      </p:sp>
      <p:sp>
        <p:nvSpPr>
          <p:cNvPr id="8" name="순서도: 대체 처리 7"/>
          <p:cNvSpPr/>
          <p:nvPr/>
        </p:nvSpPr>
        <p:spPr>
          <a:xfrm>
            <a:off x="525389" y="876139"/>
            <a:ext cx="288925" cy="28892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</a:t>
            </a:r>
            <a:endParaRPr kumimoji="0"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5" y="809674"/>
            <a:ext cx="3890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요구사항별 브랜치 소스유입흐름도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257579" y="157943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>
            <a:stCxn id="70" idx="6"/>
            <a:endCxn id="75" idx="2"/>
          </p:cNvCxnSpPr>
          <p:nvPr/>
        </p:nvCxnSpPr>
        <p:spPr>
          <a:xfrm flipV="1">
            <a:off x="490334" y="1695812"/>
            <a:ext cx="1385454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/>
          <p:cNvSpPr/>
          <p:nvPr/>
        </p:nvSpPr>
        <p:spPr>
          <a:xfrm>
            <a:off x="1875788" y="1579434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>
            <a:off x="7823550" y="3858386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/>
          <p:cNvSpPr/>
          <p:nvPr/>
        </p:nvSpPr>
        <p:spPr>
          <a:xfrm>
            <a:off x="263015" y="521014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>
            <a:stCxn id="92" idx="6"/>
            <a:endCxn id="191" idx="2"/>
          </p:cNvCxnSpPr>
          <p:nvPr/>
        </p:nvCxnSpPr>
        <p:spPr>
          <a:xfrm flipV="1">
            <a:off x="495770" y="5318268"/>
            <a:ext cx="2780106" cy="825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타원 79"/>
          <p:cNvSpPr/>
          <p:nvPr/>
        </p:nvSpPr>
        <p:spPr>
          <a:xfrm>
            <a:off x="3293878" y="315451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/>
          <p:cNvSpPr/>
          <p:nvPr/>
        </p:nvSpPr>
        <p:spPr>
          <a:xfrm>
            <a:off x="1875788" y="3157222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>
            <a:stCxn id="75" idx="6"/>
          </p:cNvCxnSpPr>
          <p:nvPr/>
        </p:nvCxnSpPr>
        <p:spPr>
          <a:xfrm>
            <a:off x="2108543" y="1695812"/>
            <a:ext cx="683149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타원 94"/>
          <p:cNvSpPr/>
          <p:nvPr/>
        </p:nvSpPr>
        <p:spPr>
          <a:xfrm>
            <a:off x="2951439" y="2178055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/>
          <p:cNvSpPr/>
          <p:nvPr/>
        </p:nvSpPr>
        <p:spPr>
          <a:xfrm>
            <a:off x="3139108" y="2175598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/>
          <p:cNvSpPr/>
          <p:nvPr/>
        </p:nvSpPr>
        <p:spPr>
          <a:xfrm>
            <a:off x="3328623" y="2175598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타원 98"/>
          <p:cNvSpPr/>
          <p:nvPr/>
        </p:nvSpPr>
        <p:spPr>
          <a:xfrm>
            <a:off x="3928001" y="386822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1273188" y="1291939"/>
            <a:ext cx="174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2023.6.5(v21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 프리징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746712" y="2902930"/>
            <a:ext cx="174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2023.6.27(v21 6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배포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4" name="직선 화살표 연결선 103"/>
          <p:cNvCxnSpPr>
            <a:stCxn id="79" idx="6"/>
            <a:endCxn id="80" idx="2"/>
          </p:cNvCxnSpPr>
          <p:nvPr/>
        </p:nvCxnSpPr>
        <p:spPr>
          <a:xfrm flipV="1">
            <a:off x="2108543" y="3270888"/>
            <a:ext cx="1185335" cy="271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37602" y="3410992"/>
            <a:ext cx="1741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21.0.0.1500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 생성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902208" y="3600465"/>
            <a:ext cx="1741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 생성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타원 121"/>
          <p:cNvSpPr/>
          <p:nvPr/>
        </p:nvSpPr>
        <p:spPr>
          <a:xfrm>
            <a:off x="5103082" y="1579434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/>
          <p:cNvSpPr/>
          <p:nvPr/>
        </p:nvSpPr>
        <p:spPr>
          <a:xfrm>
            <a:off x="5103081" y="255900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/>
          <p:cNvSpPr txBox="1"/>
          <p:nvPr/>
        </p:nvSpPr>
        <p:spPr>
          <a:xfrm>
            <a:off x="4680049" y="1288116"/>
            <a:ext cx="174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2023.10.10(v23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소스프리징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32" name="직선 화살표 연결선 131"/>
          <p:cNvCxnSpPr>
            <a:stCxn id="122" idx="4"/>
            <a:endCxn id="123" idx="0"/>
          </p:cNvCxnSpPr>
          <p:nvPr/>
        </p:nvCxnSpPr>
        <p:spPr>
          <a:xfrm flipH="1">
            <a:off x="5219459" y="1812189"/>
            <a:ext cx="1" cy="7468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3767013" y="2407259"/>
            <a:ext cx="15688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23.0.0.100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 생성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1" name="타원 140"/>
          <p:cNvSpPr/>
          <p:nvPr/>
        </p:nvSpPr>
        <p:spPr>
          <a:xfrm>
            <a:off x="6322066" y="255900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2" name="직선 화살표 연결선 141"/>
          <p:cNvCxnSpPr>
            <a:stCxn id="123" idx="6"/>
            <a:endCxn id="141" idx="2"/>
          </p:cNvCxnSpPr>
          <p:nvPr/>
        </p:nvCxnSpPr>
        <p:spPr>
          <a:xfrm>
            <a:off x="5335836" y="2675386"/>
            <a:ext cx="98623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843830" y="2160197"/>
            <a:ext cx="174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2023.10.31(v23 10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배포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6" name="타원 145"/>
          <p:cNvSpPr/>
          <p:nvPr/>
        </p:nvSpPr>
        <p:spPr>
          <a:xfrm>
            <a:off x="6848256" y="3858386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화살표 연결선 147"/>
          <p:cNvCxnSpPr>
            <a:stCxn id="99" idx="6"/>
            <a:endCxn id="146" idx="2"/>
          </p:cNvCxnSpPr>
          <p:nvPr/>
        </p:nvCxnSpPr>
        <p:spPr>
          <a:xfrm flipV="1">
            <a:off x="4160756" y="3974764"/>
            <a:ext cx="2687500" cy="983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타원 153"/>
          <p:cNvSpPr/>
          <p:nvPr/>
        </p:nvSpPr>
        <p:spPr>
          <a:xfrm>
            <a:off x="6322066" y="521013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8" name="직선 화살표 연결선 157"/>
          <p:cNvCxnSpPr>
            <a:stCxn id="141" idx="4"/>
            <a:endCxn id="154" idx="0"/>
          </p:cNvCxnSpPr>
          <p:nvPr/>
        </p:nvCxnSpPr>
        <p:spPr>
          <a:xfrm>
            <a:off x="6438444" y="2791763"/>
            <a:ext cx="0" cy="24183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/>
          <p:cNvCxnSpPr>
            <a:stCxn id="146" idx="6"/>
            <a:endCxn id="91" idx="2"/>
          </p:cNvCxnSpPr>
          <p:nvPr/>
        </p:nvCxnSpPr>
        <p:spPr>
          <a:xfrm>
            <a:off x="7081011" y="3974764"/>
            <a:ext cx="742539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/>
          <p:cNvCxnSpPr>
            <a:stCxn id="91" idx="6"/>
          </p:cNvCxnSpPr>
          <p:nvPr/>
        </p:nvCxnSpPr>
        <p:spPr>
          <a:xfrm flipV="1">
            <a:off x="8056305" y="3974763"/>
            <a:ext cx="509784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5508803" y="5478834"/>
            <a:ext cx="19961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브랜치가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용이 되는 시점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4" name="왼쪽 중괄호 163"/>
          <p:cNvSpPr/>
          <p:nvPr/>
        </p:nvSpPr>
        <p:spPr>
          <a:xfrm rot="5400000">
            <a:off x="3110866" y="1534175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5" name="직선 화살표 연결선 164"/>
          <p:cNvCxnSpPr>
            <a:stCxn id="164" idx="1"/>
          </p:cNvCxnSpPr>
          <p:nvPr/>
        </p:nvCxnSpPr>
        <p:spPr>
          <a:xfrm flipV="1">
            <a:off x="3244743" y="1673047"/>
            <a:ext cx="178461" cy="2737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2761230" y="2300945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개발건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7" name="타원 166"/>
          <p:cNvSpPr/>
          <p:nvPr/>
        </p:nvSpPr>
        <p:spPr>
          <a:xfrm>
            <a:off x="4605101" y="4522592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타원 167"/>
          <p:cNvSpPr/>
          <p:nvPr/>
        </p:nvSpPr>
        <p:spPr>
          <a:xfrm>
            <a:off x="4792770" y="4520135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타원 168"/>
          <p:cNvSpPr/>
          <p:nvPr/>
        </p:nvSpPr>
        <p:spPr>
          <a:xfrm>
            <a:off x="4982285" y="4520135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왼쪽 중괄호 169"/>
          <p:cNvSpPr/>
          <p:nvPr/>
        </p:nvSpPr>
        <p:spPr>
          <a:xfrm rot="5400000">
            <a:off x="4764528" y="3878712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TextBox 170"/>
          <p:cNvSpPr txBox="1"/>
          <p:nvPr/>
        </p:nvSpPr>
        <p:spPr>
          <a:xfrm>
            <a:off x="4076022" y="4681506"/>
            <a:ext cx="1613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필수건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72" name="직선 화살표 연결선 171"/>
          <p:cNvCxnSpPr/>
          <p:nvPr/>
        </p:nvCxnSpPr>
        <p:spPr>
          <a:xfrm flipV="1">
            <a:off x="4882892" y="3952857"/>
            <a:ext cx="546362" cy="335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/>
          <p:cNvCxnSpPr>
            <a:stCxn id="170" idx="1"/>
          </p:cNvCxnSpPr>
          <p:nvPr/>
        </p:nvCxnSpPr>
        <p:spPr>
          <a:xfrm flipV="1">
            <a:off x="4898405" y="1691989"/>
            <a:ext cx="5573" cy="2599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순서도: 연결자 62"/>
          <p:cNvSpPr/>
          <p:nvPr/>
        </p:nvSpPr>
        <p:spPr>
          <a:xfrm>
            <a:off x="4693810" y="4125441"/>
            <a:ext cx="423709" cy="365739"/>
          </a:xfrm>
          <a:prstGeom prst="flowChartConnector">
            <a:avLst/>
          </a:prstGeom>
          <a:noFill/>
          <a:ln w="28575">
            <a:solidFill>
              <a:srgbClr val="04C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모서리가 둥근 사각형 설명선 173"/>
          <p:cNvSpPr/>
          <p:nvPr/>
        </p:nvSpPr>
        <p:spPr>
          <a:xfrm>
            <a:off x="838100" y="4536386"/>
            <a:ext cx="1531842" cy="726597"/>
          </a:xfrm>
          <a:prstGeom prst="wedgeRoundRectCallout">
            <a:avLst>
              <a:gd name="adj1" fmla="val 121104"/>
              <a:gd name="adj2" fmla="val -1343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긴급요구사항 중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정기배포 전에 처리가 되어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유입된 건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merge</a:t>
            </a:r>
            <a:endParaRPr lang="ko-KR" altLang="en-US" sz="10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5" name="타원 174"/>
          <p:cNvSpPr/>
          <p:nvPr/>
        </p:nvSpPr>
        <p:spPr>
          <a:xfrm>
            <a:off x="7763000" y="2319718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타원 175"/>
          <p:cNvSpPr/>
          <p:nvPr/>
        </p:nvSpPr>
        <p:spPr>
          <a:xfrm>
            <a:off x="7950669" y="2317261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타원 176"/>
          <p:cNvSpPr/>
          <p:nvPr/>
        </p:nvSpPr>
        <p:spPr>
          <a:xfrm>
            <a:off x="8140184" y="2317261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왼쪽 중괄호 177"/>
          <p:cNvSpPr/>
          <p:nvPr/>
        </p:nvSpPr>
        <p:spPr>
          <a:xfrm rot="5400000">
            <a:off x="7922427" y="1675838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TextBox 178"/>
          <p:cNvSpPr txBox="1"/>
          <p:nvPr/>
        </p:nvSpPr>
        <p:spPr>
          <a:xfrm>
            <a:off x="7572791" y="2442608"/>
            <a:ext cx="104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고객요구사항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80" name="직선 화살표 연결선 179"/>
          <p:cNvCxnSpPr>
            <a:stCxn id="178" idx="1"/>
          </p:cNvCxnSpPr>
          <p:nvPr/>
        </p:nvCxnSpPr>
        <p:spPr>
          <a:xfrm flipH="1" flipV="1">
            <a:off x="7864417" y="1686341"/>
            <a:ext cx="191887" cy="4020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타원 180"/>
          <p:cNvSpPr/>
          <p:nvPr/>
        </p:nvSpPr>
        <p:spPr>
          <a:xfrm>
            <a:off x="2088957" y="5783397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타원 181"/>
          <p:cNvSpPr/>
          <p:nvPr/>
        </p:nvSpPr>
        <p:spPr>
          <a:xfrm>
            <a:off x="2276626" y="5780940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타원 182"/>
          <p:cNvSpPr/>
          <p:nvPr/>
        </p:nvSpPr>
        <p:spPr>
          <a:xfrm>
            <a:off x="2466141" y="5780940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/>
          <p:cNvSpPr txBox="1"/>
          <p:nvPr/>
        </p:nvSpPr>
        <p:spPr>
          <a:xfrm>
            <a:off x="1651647" y="5940401"/>
            <a:ext cx="1504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긴급요구사항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9" name="왼쪽 중괄호 188"/>
          <p:cNvSpPr/>
          <p:nvPr/>
        </p:nvSpPr>
        <p:spPr>
          <a:xfrm rot="5400000">
            <a:off x="2196906" y="5151650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0" name="직선 화살표 연결선 189"/>
          <p:cNvCxnSpPr>
            <a:stCxn id="189" idx="1"/>
          </p:cNvCxnSpPr>
          <p:nvPr/>
        </p:nvCxnSpPr>
        <p:spPr>
          <a:xfrm flipV="1">
            <a:off x="2330783" y="5325009"/>
            <a:ext cx="9474" cy="239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타원 190"/>
          <p:cNvSpPr/>
          <p:nvPr/>
        </p:nvSpPr>
        <p:spPr>
          <a:xfrm>
            <a:off x="3275876" y="520189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2" name="직선 화살표 연결선 191"/>
          <p:cNvCxnSpPr>
            <a:stCxn id="117" idx="6"/>
            <a:endCxn id="154" idx="2"/>
          </p:cNvCxnSpPr>
          <p:nvPr/>
        </p:nvCxnSpPr>
        <p:spPr>
          <a:xfrm>
            <a:off x="3903308" y="5317803"/>
            <a:ext cx="2418758" cy="87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/>
          <p:cNvCxnSpPr>
            <a:stCxn id="191" idx="0"/>
            <a:endCxn id="102" idx="4"/>
          </p:cNvCxnSpPr>
          <p:nvPr/>
        </p:nvCxnSpPr>
        <p:spPr>
          <a:xfrm flipV="1">
            <a:off x="3392254" y="3387265"/>
            <a:ext cx="358251" cy="181462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모서리가 둥근 사각형 설명선 201"/>
          <p:cNvSpPr/>
          <p:nvPr/>
        </p:nvSpPr>
        <p:spPr>
          <a:xfrm>
            <a:off x="-36443" y="5531937"/>
            <a:ext cx="1531842" cy="726597"/>
          </a:xfrm>
          <a:prstGeom prst="wedgeRoundRectCallout">
            <a:avLst>
              <a:gd name="adj1" fmla="val 101792"/>
              <a:gd name="adj2" fmla="val -5292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브랜치가 없기때문에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브랜치 생성 전 까지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브랜치에 유입한다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0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8" name="타원 217"/>
          <p:cNvSpPr/>
          <p:nvPr/>
        </p:nvSpPr>
        <p:spPr>
          <a:xfrm>
            <a:off x="4518391" y="5738570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타원 218"/>
          <p:cNvSpPr/>
          <p:nvPr/>
        </p:nvSpPr>
        <p:spPr>
          <a:xfrm>
            <a:off x="4706060" y="5736113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타원 219"/>
          <p:cNvSpPr/>
          <p:nvPr/>
        </p:nvSpPr>
        <p:spPr>
          <a:xfrm>
            <a:off x="4895575" y="5736113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TextBox 220"/>
          <p:cNvSpPr txBox="1"/>
          <p:nvPr/>
        </p:nvSpPr>
        <p:spPr>
          <a:xfrm>
            <a:off x="4081081" y="5895574"/>
            <a:ext cx="1504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긴급요구사항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2" name="왼쪽 중괄호 221"/>
          <p:cNvSpPr/>
          <p:nvPr/>
        </p:nvSpPr>
        <p:spPr>
          <a:xfrm rot="5400000">
            <a:off x="4635813" y="5129972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3" name="직선 화살표 연결선 222"/>
          <p:cNvCxnSpPr>
            <a:stCxn id="222" idx="1"/>
          </p:cNvCxnSpPr>
          <p:nvPr/>
        </p:nvCxnSpPr>
        <p:spPr>
          <a:xfrm flipV="1">
            <a:off x="4769690" y="3943352"/>
            <a:ext cx="1245626" cy="1599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화살표 연결선 226"/>
          <p:cNvCxnSpPr>
            <a:stCxn id="189" idx="1"/>
          </p:cNvCxnSpPr>
          <p:nvPr/>
        </p:nvCxnSpPr>
        <p:spPr>
          <a:xfrm flipV="1">
            <a:off x="2330783" y="1673047"/>
            <a:ext cx="1233909" cy="38911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모서리가 둥근 사각형 설명선 229"/>
          <p:cNvSpPr/>
          <p:nvPr/>
        </p:nvSpPr>
        <p:spPr>
          <a:xfrm>
            <a:off x="2945303" y="6189265"/>
            <a:ext cx="1531842" cy="604690"/>
          </a:xfrm>
          <a:prstGeom prst="wedgeRoundRectCallout">
            <a:avLst>
              <a:gd name="adj1" fmla="val -18764"/>
              <a:gd name="adj2" fmla="val -8126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유입된 내용은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에도 반영되어야 한다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0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1" name="순서도: 연결자 230"/>
          <p:cNvSpPr/>
          <p:nvPr/>
        </p:nvSpPr>
        <p:spPr>
          <a:xfrm>
            <a:off x="2144129" y="5301155"/>
            <a:ext cx="423709" cy="365739"/>
          </a:xfrm>
          <a:prstGeom prst="flowChartConnector">
            <a:avLst/>
          </a:prstGeom>
          <a:noFill/>
          <a:ln w="28575">
            <a:solidFill>
              <a:srgbClr val="04C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3" name="직선 화살표 연결선 232"/>
          <p:cNvCxnSpPr>
            <a:stCxn id="222" idx="1"/>
          </p:cNvCxnSpPr>
          <p:nvPr/>
        </p:nvCxnSpPr>
        <p:spPr>
          <a:xfrm flipH="1" flipV="1">
            <a:off x="4717777" y="1710133"/>
            <a:ext cx="51913" cy="38324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순서도: 연결자 235"/>
          <p:cNvSpPr/>
          <p:nvPr/>
        </p:nvSpPr>
        <p:spPr>
          <a:xfrm>
            <a:off x="4539495" y="5370643"/>
            <a:ext cx="423709" cy="365739"/>
          </a:xfrm>
          <a:prstGeom prst="flowChartConnector">
            <a:avLst/>
          </a:prstGeom>
          <a:noFill/>
          <a:ln w="28575">
            <a:solidFill>
              <a:srgbClr val="04C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순서도: 연결자 240"/>
          <p:cNvSpPr/>
          <p:nvPr/>
        </p:nvSpPr>
        <p:spPr>
          <a:xfrm>
            <a:off x="3247430" y="5559394"/>
            <a:ext cx="423709" cy="365739"/>
          </a:xfrm>
          <a:prstGeom prst="flowChartConnector">
            <a:avLst/>
          </a:prstGeom>
          <a:noFill/>
          <a:ln w="28575">
            <a:solidFill>
              <a:srgbClr val="04C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TextBox 241"/>
          <p:cNvSpPr txBox="1"/>
          <p:nvPr/>
        </p:nvSpPr>
        <p:spPr>
          <a:xfrm>
            <a:off x="6214868" y="3595971"/>
            <a:ext cx="174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2023.11.7(v21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소스프리징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7396506" y="4147473"/>
            <a:ext cx="12062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베포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4" name="타원 243"/>
          <p:cNvSpPr/>
          <p:nvPr/>
        </p:nvSpPr>
        <p:spPr>
          <a:xfrm>
            <a:off x="8113238" y="5857402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타원 244"/>
          <p:cNvSpPr/>
          <p:nvPr/>
        </p:nvSpPr>
        <p:spPr>
          <a:xfrm>
            <a:off x="8300907" y="5854945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6" name="타원 245"/>
          <p:cNvSpPr/>
          <p:nvPr/>
        </p:nvSpPr>
        <p:spPr>
          <a:xfrm>
            <a:off x="8490422" y="5854945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/>
          <p:cNvSpPr txBox="1"/>
          <p:nvPr/>
        </p:nvSpPr>
        <p:spPr>
          <a:xfrm>
            <a:off x="7675928" y="6014406"/>
            <a:ext cx="1504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긴급요구사항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8" name="왼쪽 중괄호 247"/>
          <p:cNvSpPr/>
          <p:nvPr/>
        </p:nvSpPr>
        <p:spPr>
          <a:xfrm rot="5400000">
            <a:off x="8277004" y="5240332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1" name="직선 화살표 연결선 250"/>
          <p:cNvCxnSpPr>
            <a:stCxn id="154" idx="6"/>
          </p:cNvCxnSpPr>
          <p:nvPr/>
        </p:nvCxnSpPr>
        <p:spPr>
          <a:xfrm flipV="1">
            <a:off x="6554821" y="5325009"/>
            <a:ext cx="2230043" cy="15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화살표 연결선 254"/>
          <p:cNvCxnSpPr>
            <a:stCxn id="248" idx="1"/>
          </p:cNvCxnSpPr>
          <p:nvPr/>
        </p:nvCxnSpPr>
        <p:spPr>
          <a:xfrm flipH="1" flipV="1">
            <a:off x="8364538" y="3966702"/>
            <a:ext cx="46343" cy="168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/>
          <p:cNvCxnSpPr>
            <a:stCxn id="248" idx="1"/>
          </p:cNvCxnSpPr>
          <p:nvPr/>
        </p:nvCxnSpPr>
        <p:spPr>
          <a:xfrm flipV="1">
            <a:off x="8410881" y="1709632"/>
            <a:ext cx="252752" cy="39432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순서도: 연결자 263"/>
          <p:cNvSpPr/>
          <p:nvPr/>
        </p:nvSpPr>
        <p:spPr>
          <a:xfrm>
            <a:off x="8178533" y="5363338"/>
            <a:ext cx="423709" cy="365739"/>
          </a:xfrm>
          <a:prstGeom prst="flowChartConnector">
            <a:avLst/>
          </a:prstGeom>
          <a:noFill/>
          <a:ln w="28575">
            <a:solidFill>
              <a:srgbClr val="04CA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239631" y="1819350"/>
            <a:ext cx="1512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12505" y="5286551"/>
            <a:ext cx="1512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2" name="타원 101"/>
          <p:cNvSpPr/>
          <p:nvPr/>
        </p:nvSpPr>
        <p:spPr>
          <a:xfrm>
            <a:off x="3634127" y="315451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화살표 연결선 104"/>
          <p:cNvCxnSpPr>
            <a:stCxn id="80" idx="6"/>
            <a:endCxn id="102" idx="2"/>
          </p:cNvCxnSpPr>
          <p:nvPr/>
        </p:nvCxnSpPr>
        <p:spPr>
          <a:xfrm>
            <a:off x="3526633" y="3270888"/>
            <a:ext cx="107494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>
            <a:stCxn id="102" idx="4"/>
            <a:endCxn id="99" idx="0"/>
          </p:cNvCxnSpPr>
          <p:nvPr/>
        </p:nvCxnSpPr>
        <p:spPr>
          <a:xfrm>
            <a:off x="3750505" y="3387265"/>
            <a:ext cx="293874" cy="48095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>
            <a:stCxn id="102" idx="4"/>
            <a:endCxn id="117" idx="0"/>
          </p:cNvCxnSpPr>
          <p:nvPr/>
        </p:nvCxnSpPr>
        <p:spPr>
          <a:xfrm>
            <a:off x="3750505" y="3387265"/>
            <a:ext cx="36426" cy="181416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타원 116"/>
          <p:cNvSpPr/>
          <p:nvPr/>
        </p:nvSpPr>
        <p:spPr>
          <a:xfrm>
            <a:off x="3670553" y="520142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0" name="직선 화살표 연결선 119"/>
          <p:cNvCxnSpPr>
            <a:stCxn id="191" idx="6"/>
            <a:endCxn id="117" idx="2"/>
          </p:cNvCxnSpPr>
          <p:nvPr/>
        </p:nvCxnSpPr>
        <p:spPr>
          <a:xfrm flipV="1">
            <a:off x="3508631" y="5317803"/>
            <a:ext cx="161922" cy="46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3702430" y="4936847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169821" y="2404551"/>
            <a:ext cx="8929969" cy="1819455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/>
          <p:cNvSpPr txBox="1"/>
          <p:nvPr/>
        </p:nvSpPr>
        <p:spPr>
          <a:xfrm>
            <a:off x="237141" y="2470284"/>
            <a:ext cx="1743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3" name="직선 화살표 연결선 102"/>
          <p:cNvCxnSpPr>
            <a:stCxn id="222" idx="1"/>
          </p:cNvCxnSpPr>
          <p:nvPr/>
        </p:nvCxnSpPr>
        <p:spPr>
          <a:xfrm flipV="1">
            <a:off x="4769690" y="5325009"/>
            <a:ext cx="449769" cy="217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31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 smtClean="0"/>
              <a:t>2. Nexacro Platform v23</a:t>
            </a:r>
            <a:r>
              <a:rPr lang="ko-KR" altLang="en-US" smtClean="0"/>
              <a:t> </a:t>
            </a:r>
            <a:r>
              <a:rPr lang="ko-KR" altLang="en-US"/>
              <a:t>브랜치 </a:t>
            </a:r>
            <a:r>
              <a:rPr lang="ko-KR" altLang="en-US" smtClean="0"/>
              <a:t>전략 </a:t>
            </a:r>
            <a:r>
              <a:rPr lang="en-US" altLang="ko-KR" smtClean="0"/>
              <a:t>(7/7 </a:t>
            </a:r>
            <a:r>
              <a:rPr lang="ko-KR" altLang="en-US" smtClean="0"/>
              <a:t>변경안</a:t>
            </a:r>
            <a:r>
              <a:rPr lang="en-US" altLang="ko-KR" smtClean="0"/>
              <a:t>)</a:t>
            </a:r>
            <a:endParaRPr lang="ko-KR" altLang="en-US" dirty="0"/>
          </a:p>
        </p:txBody>
      </p:sp>
      <p:sp>
        <p:nvSpPr>
          <p:cNvPr id="8" name="순서도: 대체 처리 7"/>
          <p:cNvSpPr/>
          <p:nvPr/>
        </p:nvSpPr>
        <p:spPr>
          <a:xfrm>
            <a:off x="525389" y="876139"/>
            <a:ext cx="288925" cy="28892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</a:t>
            </a:r>
            <a:endParaRPr kumimoji="0"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5" y="809674"/>
            <a:ext cx="3890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요구사항별 브랜치 소스유입흐름도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9" name="타원 108"/>
          <p:cNvSpPr/>
          <p:nvPr/>
        </p:nvSpPr>
        <p:spPr>
          <a:xfrm>
            <a:off x="257579" y="157943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239631" y="1819350"/>
            <a:ext cx="1512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1" name="타원 110"/>
          <p:cNvSpPr/>
          <p:nvPr/>
        </p:nvSpPr>
        <p:spPr>
          <a:xfrm>
            <a:off x="1875788" y="1579434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화살표 연결선 111"/>
          <p:cNvCxnSpPr/>
          <p:nvPr/>
        </p:nvCxnSpPr>
        <p:spPr>
          <a:xfrm flipV="1">
            <a:off x="490334" y="1695812"/>
            <a:ext cx="1385454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>
            <a:stCxn id="111" idx="6"/>
            <a:endCxn id="205" idx="2"/>
          </p:cNvCxnSpPr>
          <p:nvPr/>
        </p:nvCxnSpPr>
        <p:spPr>
          <a:xfrm flipV="1">
            <a:off x="2108543" y="1692459"/>
            <a:ext cx="3974781" cy="33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타원 114"/>
          <p:cNvSpPr/>
          <p:nvPr/>
        </p:nvSpPr>
        <p:spPr>
          <a:xfrm>
            <a:off x="3650687" y="2178055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/>
          <p:cNvSpPr/>
          <p:nvPr/>
        </p:nvSpPr>
        <p:spPr>
          <a:xfrm>
            <a:off x="3838356" y="2175598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/>
          <p:cNvSpPr/>
          <p:nvPr/>
        </p:nvSpPr>
        <p:spPr>
          <a:xfrm>
            <a:off x="4027871" y="2175598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왼쪽 중괄호 123"/>
          <p:cNvSpPr/>
          <p:nvPr/>
        </p:nvSpPr>
        <p:spPr>
          <a:xfrm rot="5400000">
            <a:off x="3810114" y="1534175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TextBox 125"/>
          <p:cNvSpPr txBox="1"/>
          <p:nvPr/>
        </p:nvSpPr>
        <p:spPr>
          <a:xfrm>
            <a:off x="3361865" y="2300945"/>
            <a:ext cx="1245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개발건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27" name="직선 화살표 연결선 126"/>
          <p:cNvCxnSpPr/>
          <p:nvPr/>
        </p:nvCxnSpPr>
        <p:spPr>
          <a:xfrm flipV="1">
            <a:off x="3943991" y="1673047"/>
            <a:ext cx="178461" cy="2737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타원 130"/>
          <p:cNvSpPr/>
          <p:nvPr/>
        </p:nvSpPr>
        <p:spPr>
          <a:xfrm>
            <a:off x="2465524" y="319478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TextBox 133"/>
          <p:cNvSpPr txBox="1"/>
          <p:nvPr/>
        </p:nvSpPr>
        <p:spPr>
          <a:xfrm>
            <a:off x="227364" y="2542790"/>
            <a:ext cx="1743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408111" y="3498502"/>
            <a:ext cx="174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2023.7.5(v21 6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배포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6" name="타원 135"/>
          <p:cNvSpPr/>
          <p:nvPr/>
        </p:nvSpPr>
        <p:spPr>
          <a:xfrm>
            <a:off x="3033616" y="36560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7" name="직선 화살표 연결선 136"/>
          <p:cNvCxnSpPr>
            <a:stCxn id="131" idx="5"/>
            <a:endCxn id="136" idx="1"/>
          </p:cNvCxnSpPr>
          <p:nvPr/>
        </p:nvCxnSpPr>
        <p:spPr>
          <a:xfrm>
            <a:off x="2664193" y="3393449"/>
            <a:ext cx="403509" cy="29671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2865977" y="3365992"/>
            <a:ext cx="1741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 생성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9" name="타원 138"/>
          <p:cNvSpPr/>
          <p:nvPr/>
        </p:nvSpPr>
        <p:spPr>
          <a:xfrm>
            <a:off x="3711236" y="36560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화살표 연결선 139"/>
          <p:cNvCxnSpPr>
            <a:endCxn id="136" idx="0"/>
          </p:cNvCxnSpPr>
          <p:nvPr/>
        </p:nvCxnSpPr>
        <p:spPr>
          <a:xfrm>
            <a:off x="3033616" y="1695812"/>
            <a:ext cx="116378" cy="196026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모서리가 둥근 사각형 설명선 143"/>
          <p:cNvSpPr/>
          <p:nvPr/>
        </p:nvSpPr>
        <p:spPr>
          <a:xfrm>
            <a:off x="4201984" y="2792361"/>
            <a:ext cx="865641" cy="609472"/>
          </a:xfrm>
          <a:prstGeom prst="wedgeRoundRectCallout">
            <a:avLst>
              <a:gd name="adj1" fmla="val -176070"/>
              <a:gd name="adj2" fmla="val -5910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월정기 기간내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작업건 유입</a:t>
            </a:r>
            <a:endParaRPr lang="ko-KR" altLang="en-US" sz="10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45" name="직선 화살표 연결선 144"/>
          <p:cNvCxnSpPr>
            <a:stCxn id="136" idx="6"/>
            <a:endCxn id="139" idx="2"/>
          </p:cNvCxnSpPr>
          <p:nvPr/>
        </p:nvCxnSpPr>
        <p:spPr>
          <a:xfrm>
            <a:off x="3266371" y="3772457"/>
            <a:ext cx="4448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타원 146"/>
          <p:cNvSpPr/>
          <p:nvPr/>
        </p:nvSpPr>
        <p:spPr>
          <a:xfrm>
            <a:off x="263015" y="521014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타원 148"/>
          <p:cNvSpPr/>
          <p:nvPr/>
        </p:nvSpPr>
        <p:spPr>
          <a:xfrm>
            <a:off x="3711235" y="521013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0" name="직선 화살표 연결선 149"/>
          <p:cNvCxnSpPr>
            <a:stCxn id="139" idx="4"/>
            <a:endCxn id="149" idx="0"/>
          </p:cNvCxnSpPr>
          <p:nvPr/>
        </p:nvCxnSpPr>
        <p:spPr>
          <a:xfrm flipH="1">
            <a:off x="3827613" y="3888834"/>
            <a:ext cx="1" cy="132130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/>
          <p:cNvCxnSpPr>
            <a:stCxn id="147" idx="6"/>
            <a:endCxn id="149" idx="2"/>
          </p:cNvCxnSpPr>
          <p:nvPr/>
        </p:nvCxnSpPr>
        <p:spPr>
          <a:xfrm flipV="1">
            <a:off x="495770" y="5326517"/>
            <a:ext cx="3215465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106227" y="5442894"/>
            <a:ext cx="1512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3790706" y="4549486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5" name="타원 154"/>
          <p:cNvSpPr/>
          <p:nvPr/>
        </p:nvSpPr>
        <p:spPr>
          <a:xfrm>
            <a:off x="268690" y="432003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타원 155"/>
          <p:cNvSpPr/>
          <p:nvPr/>
        </p:nvSpPr>
        <p:spPr>
          <a:xfrm>
            <a:off x="2101561" y="4315356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7" name="직선 화살표 연결선 156"/>
          <p:cNvCxnSpPr>
            <a:stCxn id="155" idx="6"/>
            <a:endCxn id="156" idx="2"/>
          </p:cNvCxnSpPr>
          <p:nvPr/>
        </p:nvCxnSpPr>
        <p:spPr>
          <a:xfrm flipV="1">
            <a:off x="501445" y="4431734"/>
            <a:ext cx="1600116" cy="4682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/>
          <p:cNvCxnSpPr>
            <a:stCxn id="156" idx="0"/>
          </p:cNvCxnSpPr>
          <p:nvPr/>
        </p:nvCxnSpPr>
        <p:spPr>
          <a:xfrm flipV="1">
            <a:off x="2217939" y="1695812"/>
            <a:ext cx="247586" cy="26195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/>
          <p:cNvCxnSpPr>
            <a:stCxn id="156" idx="6"/>
            <a:endCxn id="136" idx="3"/>
          </p:cNvCxnSpPr>
          <p:nvPr/>
        </p:nvCxnSpPr>
        <p:spPr>
          <a:xfrm flipV="1">
            <a:off x="2334316" y="3854748"/>
            <a:ext cx="733386" cy="57698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68302" y="4569709"/>
            <a:ext cx="199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Nexacro 17.1 RTL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6" name="타원 185"/>
          <p:cNvSpPr/>
          <p:nvPr/>
        </p:nvSpPr>
        <p:spPr>
          <a:xfrm>
            <a:off x="6813133" y="36560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7" name="직선 화살표 연결선 186"/>
          <p:cNvCxnSpPr>
            <a:stCxn id="139" idx="6"/>
            <a:endCxn id="186" idx="2"/>
          </p:cNvCxnSpPr>
          <p:nvPr/>
        </p:nvCxnSpPr>
        <p:spPr>
          <a:xfrm>
            <a:off x="3943991" y="3772457"/>
            <a:ext cx="2869142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모서리가 둥근 사각형 설명선 187"/>
          <p:cNvSpPr/>
          <p:nvPr/>
        </p:nvSpPr>
        <p:spPr>
          <a:xfrm>
            <a:off x="6083324" y="3013827"/>
            <a:ext cx="1117639" cy="609472"/>
          </a:xfrm>
          <a:prstGeom prst="wedgeRoundRectCallout">
            <a:avLst>
              <a:gd name="adj1" fmla="val -163236"/>
              <a:gd name="adj2" fmla="val 7180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용도 사용</a:t>
            </a:r>
            <a:endParaRPr lang="ko-KR" altLang="en-US" sz="10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4" name="타원 193"/>
          <p:cNvSpPr/>
          <p:nvPr/>
        </p:nvSpPr>
        <p:spPr>
          <a:xfrm>
            <a:off x="7786220" y="521013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5" name="직선 화살표 연결선 194"/>
          <p:cNvCxnSpPr>
            <a:stCxn id="149" idx="6"/>
            <a:endCxn id="196" idx="2"/>
          </p:cNvCxnSpPr>
          <p:nvPr/>
        </p:nvCxnSpPr>
        <p:spPr>
          <a:xfrm flipV="1">
            <a:off x="3943990" y="5326516"/>
            <a:ext cx="463097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타원 195"/>
          <p:cNvSpPr/>
          <p:nvPr/>
        </p:nvSpPr>
        <p:spPr>
          <a:xfrm>
            <a:off x="4407087" y="521013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TextBox 196"/>
          <p:cNvSpPr txBox="1"/>
          <p:nvPr/>
        </p:nvSpPr>
        <p:spPr>
          <a:xfrm>
            <a:off x="4054285" y="5523969"/>
            <a:ext cx="110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RTL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배포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98" name="직선 화살표 연결선 197"/>
          <p:cNvCxnSpPr>
            <a:stCxn id="196" idx="6"/>
            <a:endCxn id="194" idx="2"/>
          </p:cNvCxnSpPr>
          <p:nvPr/>
        </p:nvCxnSpPr>
        <p:spPr>
          <a:xfrm>
            <a:off x="4639842" y="5326516"/>
            <a:ext cx="3146378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6044338" y="3932702"/>
            <a:ext cx="174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2023.11.7(v21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소스프리징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0" name="타원 199"/>
          <p:cNvSpPr/>
          <p:nvPr/>
        </p:nvSpPr>
        <p:spPr>
          <a:xfrm>
            <a:off x="7786220" y="365607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1" name="직선 화살표 연결선 200"/>
          <p:cNvCxnSpPr>
            <a:stCxn id="186" idx="6"/>
            <a:endCxn id="200" idx="2"/>
          </p:cNvCxnSpPr>
          <p:nvPr/>
        </p:nvCxnSpPr>
        <p:spPr>
          <a:xfrm flipV="1">
            <a:off x="7045888" y="3772456"/>
            <a:ext cx="740332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7621432" y="3431904"/>
            <a:ext cx="12062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베포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04" name="직선 화살표 연결선 203"/>
          <p:cNvCxnSpPr>
            <a:stCxn id="194" idx="6"/>
          </p:cNvCxnSpPr>
          <p:nvPr/>
        </p:nvCxnSpPr>
        <p:spPr>
          <a:xfrm flipV="1">
            <a:off x="8018975" y="5326515"/>
            <a:ext cx="603342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타원 204"/>
          <p:cNvSpPr/>
          <p:nvPr/>
        </p:nvSpPr>
        <p:spPr>
          <a:xfrm>
            <a:off x="6083324" y="1576081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TextBox 206"/>
          <p:cNvSpPr txBox="1"/>
          <p:nvPr/>
        </p:nvSpPr>
        <p:spPr>
          <a:xfrm>
            <a:off x="5082284" y="1255026"/>
            <a:ext cx="174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2023.10.10(v23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소스프리징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8" name="타원 207"/>
          <p:cNvSpPr/>
          <p:nvPr/>
        </p:nvSpPr>
        <p:spPr>
          <a:xfrm>
            <a:off x="6260053" y="2546351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타원 208"/>
          <p:cNvSpPr/>
          <p:nvPr/>
        </p:nvSpPr>
        <p:spPr>
          <a:xfrm>
            <a:off x="7349979" y="2546351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TextBox 209"/>
          <p:cNvSpPr txBox="1"/>
          <p:nvPr/>
        </p:nvSpPr>
        <p:spPr>
          <a:xfrm>
            <a:off x="4884999" y="2513571"/>
            <a:ext cx="15688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23.0.0.100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 생성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11" name="직선 화살표 연결선 210"/>
          <p:cNvCxnSpPr>
            <a:stCxn id="205" idx="4"/>
            <a:endCxn id="208" idx="0"/>
          </p:cNvCxnSpPr>
          <p:nvPr/>
        </p:nvCxnSpPr>
        <p:spPr>
          <a:xfrm>
            <a:off x="6199702" y="1808836"/>
            <a:ext cx="176729" cy="7375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/>
          <p:cNvCxnSpPr>
            <a:stCxn id="208" idx="6"/>
            <a:endCxn id="209" idx="2"/>
          </p:cNvCxnSpPr>
          <p:nvPr/>
        </p:nvCxnSpPr>
        <p:spPr>
          <a:xfrm>
            <a:off x="6492808" y="2662729"/>
            <a:ext cx="85717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6711799" y="2284311"/>
            <a:ext cx="174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2023.10.31(v23 10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배포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14" name="직선 화살표 연결선 213"/>
          <p:cNvCxnSpPr>
            <a:stCxn id="205" idx="6"/>
          </p:cNvCxnSpPr>
          <p:nvPr/>
        </p:nvCxnSpPr>
        <p:spPr>
          <a:xfrm>
            <a:off x="6316079" y="1692459"/>
            <a:ext cx="2218321" cy="33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55575" y="2953231"/>
            <a:ext cx="1741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21.0.0.1500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6" name="타원 215"/>
          <p:cNvSpPr/>
          <p:nvPr/>
        </p:nvSpPr>
        <p:spPr>
          <a:xfrm>
            <a:off x="1144076" y="31947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7" name="직선 화살표 연결선 216"/>
          <p:cNvCxnSpPr>
            <a:stCxn id="216" idx="6"/>
            <a:endCxn id="131" idx="2"/>
          </p:cNvCxnSpPr>
          <p:nvPr/>
        </p:nvCxnSpPr>
        <p:spPr>
          <a:xfrm>
            <a:off x="1376831" y="3311157"/>
            <a:ext cx="1088693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모서리가 둥근 사각형 설명선 223"/>
          <p:cNvSpPr/>
          <p:nvPr/>
        </p:nvSpPr>
        <p:spPr>
          <a:xfrm>
            <a:off x="3289448" y="6075808"/>
            <a:ext cx="1117639" cy="609472"/>
          </a:xfrm>
          <a:prstGeom prst="wedgeRoundRectCallout">
            <a:avLst>
              <a:gd name="adj1" fmla="val 23656"/>
              <a:gd name="adj2" fmla="val -16941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RTL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테스트</a:t>
            </a:r>
            <a:endParaRPr lang="ko-KR" altLang="en-US" sz="10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25" name="직선 화살표 연결선 224"/>
          <p:cNvCxnSpPr>
            <a:stCxn id="209" idx="4"/>
            <a:endCxn id="194" idx="0"/>
          </p:cNvCxnSpPr>
          <p:nvPr/>
        </p:nvCxnSpPr>
        <p:spPr>
          <a:xfrm>
            <a:off x="7466357" y="2779106"/>
            <a:ext cx="436241" cy="24310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화살표 연결선 225"/>
          <p:cNvCxnSpPr/>
          <p:nvPr/>
        </p:nvCxnSpPr>
        <p:spPr>
          <a:xfrm>
            <a:off x="6361025" y="5857335"/>
            <a:ext cx="815838" cy="33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/>
          <p:cNvSpPr txBox="1"/>
          <p:nvPr/>
        </p:nvSpPr>
        <p:spPr>
          <a:xfrm>
            <a:off x="7200963" y="5740808"/>
            <a:ext cx="912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V23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흐름도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32" name="직선 화살표 연결선 231"/>
          <p:cNvCxnSpPr/>
          <p:nvPr/>
        </p:nvCxnSpPr>
        <p:spPr>
          <a:xfrm>
            <a:off x="6376430" y="6180065"/>
            <a:ext cx="815838" cy="331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7214853" y="6038723"/>
            <a:ext cx="813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흐름도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35" name="직선 화살표 연결선 234"/>
          <p:cNvCxnSpPr/>
          <p:nvPr/>
        </p:nvCxnSpPr>
        <p:spPr>
          <a:xfrm>
            <a:off x="6394357" y="6457971"/>
            <a:ext cx="815838" cy="3319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7223745" y="6326953"/>
            <a:ext cx="1310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RTL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 유입 흐름도</a:t>
            </a:r>
            <a:endParaRPr lang="en-US" altLang="ko-KR" sz="10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169821" y="2504266"/>
            <a:ext cx="8929969" cy="1625591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TextBox 238"/>
          <p:cNvSpPr txBox="1"/>
          <p:nvPr/>
        </p:nvSpPr>
        <p:spPr>
          <a:xfrm>
            <a:off x="1273188" y="1291939"/>
            <a:ext cx="174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2023.6.5(v21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 프리징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851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 smtClean="0"/>
              <a:t>3. Nexacro Platform v24</a:t>
            </a:r>
            <a:r>
              <a:rPr lang="ko-KR" altLang="en-US" smtClean="0"/>
              <a:t> </a:t>
            </a:r>
            <a:r>
              <a:rPr lang="ko-KR" altLang="en-US"/>
              <a:t>브랜치 </a:t>
            </a:r>
            <a:r>
              <a:rPr lang="ko-KR" altLang="en-US" smtClean="0"/>
              <a:t>전략 </a:t>
            </a:r>
            <a:r>
              <a:rPr lang="en-US" altLang="ko-KR" smtClean="0"/>
              <a:t>(10/11 </a:t>
            </a:r>
            <a:r>
              <a:rPr lang="ko-KR" altLang="en-US" smtClean="0"/>
              <a:t>변경안</a:t>
            </a:r>
            <a:r>
              <a:rPr lang="en-US" altLang="ko-KR" smtClean="0"/>
              <a:t>)</a:t>
            </a:r>
            <a:endParaRPr lang="ko-KR" altLang="en-US" dirty="0"/>
          </a:p>
        </p:txBody>
      </p:sp>
      <p:sp>
        <p:nvSpPr>
          <p:cNvPr id="8" name="순서도: 대체 처리 7"/>
          <p:cNvSpPr/>
          <p:nvPr/>
        </p:nvSpPr>
        <p:spPr>
          <a:xfrm>
            <a:off x="525389" y="876139"/>
            <a:ext cx="288925" cy="28892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</a:t>
            </a:r>
            <a:endParaRPr kumimoji="0"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5" y="809674"/>
            <a:ext cx="3890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요구사항별 브랜치 소스유입흐름도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9" name="타원 108"/>
          <p:cNvSpPr/>
          <p:nvPr/>
        </p:nvSpPr>
        <p:spPr>
          <a:xfrm>
            <a:off x="257579" y="157943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239631" y="1819350"/>
            <a:ext cx="1512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1" name="타원 110"/>
          <p:cNvSpPr/>
          <p:nvPr/>
        </p:nvSpPr>
        <p:spPr>
          <a:xfrm>
            <a:off x="1875788" y="1579434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화살표 연결선 111"/>
          <p:cNvCxnSpPr/>
          <p:nvPr/>
        </p:nvCxnSpPr>
        <p:spPr>
          <a:xfrm flipV="1">
            <a:off x="490334" y="1695812"/>
            <a:ext cx="1385454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/>
          <p:nvPr/>
        </p:nvCxnSpPr>
        <p:spPr>
          <a:xfrm flipV="1">
            <a:off x="2103502" y="1715200"/>
            <a:ext cx="6520545" cy="33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227364" y="2542790"/>
            <a:ext cx="1743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7" name="타원 146"/>
          <p:cNvSpPr/>
          <p:nvPr/>
        </p:nvSpPr>
        <p:spPr>
          <a:xfrm>
            <a:off x="263015" y="521014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타원 148"/>
          <p:cNvSpPr/>
          <p:nvPr/>
        </p:nvSpPr>
        <p:spPr>
          <a:xfrm>
            <a:off x="5082284" y="5210137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1" name="직선 화살표 연결선 150"/>
          <p:cNvCxnSpPr>
            <a:stCxn id="147" idx="6"/>
            <a:endCxn id="149" idx="2"/>
          </p:cNvCxnSpPr>
          <p:nvPr/>
        </p:nvCxnSpPr>
        <p:spPr>
          <a:xfrm flipV="1">
            <a:off x="495770" y="5326515"/>
            <a:ext cx="4586514" cy="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106227" y="5442894"/>
            <a:ext cx="1512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169821" y="2504266"/>
            <a:ext cx="8929969" cy="2616855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TextBox 238"/>
          <p:cNvSpPr txBox="1"/>
          <p:nvPr/>
        </p:nvSpPr>
        <p:spPr>
          <a:xfrm>
            <a:off x="1273188" y="1291939"/>
            <a:ext cx="1828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2023.10.11(v24 </a:t>
            </a:r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 프리징</a:t>
            </a:r>
            <a:r>
              <a:rPr lang="en-US" altLang="ko-KR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2071110" y="2881344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화살표 연결선 73"/>
          <p:cNvCxnSpPr>
            <a:stCxn id="111" idx="4"/>
            <a:endCxn id="73" idx="0"/>
          </p:cNvCxnSpPr>
          <p:nvPr/>
        </p:nvCxnSpPr>
        <p:spPr>
          <a:xfrm>
            <a:off x="1992166" y="1812189"/>
            <a:ext cx="195322" cy="106915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73" idx="6"/>
            <a:endCxn id="81" idx="2"/>
          </p:cNvCxnSpPr>
          <p:nvPr/>
        </p:nvCxnSpPr>
        <p:spPr>
          <a:xfrm flipV="1">
            <a:off x="2303865" y="2994211"/>
            <a:ext cx="2488928" cy="35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4792793" y="2877833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4167984" y="3191664"/>
            <a:ext cx="1828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2023.10.31(v24 </a:t>
            </a:r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배포</a:t>
            </a:r>
            <a:r>
              <a:rPr lang="en-US" altLang="ko-KR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2871466" y="3503855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/>
          <p:cNvSpPr/>
          <p:nvPr/>
        </p:nvSpPr>
        <p:spPr>
          <a:xfrm>
            <a:off x="3059135" y="3501398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/>
          <p:cNvSpPr/>
          <p:nvPr/>
        </p:nvSpPr>
        <p:spPr>
          <a:xfrm>
            <a:off x="3248650" y="3501398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왼쪽 중괄호 88"/>
          <p:cNvSpPr/>
          <p:nvPr/>
        </p:nvSpPr>
        <p:spPr>
          <a:xfrm rot="5400000">
            <a:off x="3030893" y="2859975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2125590" y="3599861"/>
            <a:ext cx="2732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V24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피드백건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master, release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유입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91" name="직선 화살표 연결선 90"/>
          <p:cNvCxnSpPr>
            <a:stCxn id="89" idx="1"/>
          </p:cNvCxnSpPr>
          <p:nvPr/>
        </p:nvCxnSpPr>
        <p:spPr>
          <a:xfrm flipV="1">
            <a:off x="3164770" y="2994211"/>
            <a:ext cx="211143" cy="2783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stCxn id="89" idx="1"/>
          </p:cNvCxnSpPr>
          <p:nvPr/>
        </p:nvCxnSpPr>
        <p:spPr>
          <a:xfrm flipV="1">
            <a:off x="3164770" y="1715200"/>
            <a:ext cx="0" cy="15573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타원 97"/>
          <p:cNvSpPr/>
          <p:nvPr/>
        </p:nvSpPr>
        <p:spPr>
          <a:xfrm>
            <a:off x="2071110" y="4109503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타원 98"/>
          <p:cNvSpPr/>
          <p:nvPr/>
        </p:nvSpPr>
        <p:spPr>
          <a:xfrm>
            <a:off x="7786219" y="4109503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/>
          <p:cNvCxnSpPr>
            <a:stCxn id="98" idx="6"/>
            <a:endCxn id="99" idx="2"/>
          </p:cNvCxnSpPr>
          <p:nvPr/>
        </p:nvCxnSpPr>
        <p:spPr>
          <a:xfrm>
            <a:off x="2303865" y="4225881"/>
            <a:ext cx="54823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7271190" y="3876415"/>
            <a:ext cx="1828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2023.11.28(v21 </a:t>
            </a:r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배포</a:t>
            </a:r>
            <a:r>
              <a:rPr lang="en-US" altLang="ko-KR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047145" y="3823264"/>
            <a:ext cx="1741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3364525" y="4705125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/>
          <p:cNvSpPr/>
          <p:nvPr/>
        </p:nvSpPr>
        <p:spPr>
          <a:xfrm>
            <a:off x="3552194" y="4702668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/>
          <p:cNvSpPr/>
          <p:nvPr/>
        </p:nvSpPr>
        <p:spPr>
          <a:xfrm>
            <a:off x="3741709" y="4702668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왼쪽 중괄호 107"/>
          <p:cNvSpPr/>
          <p:nvPr/>
        </p:nvSpPr>
        <p:spPr>
          <a:xfrm rot="5400000">
            <a:off x="3523952" y="4061245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/>
          <p:cNvSpPr txBox="1"/>
          <p:nvPr/>
        </p:nvSpPr>
        <p:spPr>
          <a:xfrm>
            <a:off x="3021914" y="4828015"/>
            <a:ext cx="28410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요청건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master, 1600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 작업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7" name="직선 화살표 연결선 116"/>
          <p:cNvCxnSpPr>
            <a:stCxn id="108" idx="1"/>
          </p:cNvCxnSpPr>
          <p:nvPr/>
        </p:nvCxnSpPr>
        <p:spPr>
          <a:xfrm flipV="1">
            <a:off x="3657829" y="1715200"/>
            <a:ext cx="0" cy="27586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/>
          <p:cNvCxnSpPr>
            <a:stCxn id="108" idx="1"/>
          </p:cNvCxnSpPr>
          <p:nvPr/>
        </p:nvCxnSpPr>
        <p:spPr>
          <a:xfrm flipV="1">
            <a:off x="3657829" y="4231253"/>
            <a:ext cx="232771" cy="2425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>
            <a:stCxn id="81" idx="4"/>
            <a:endCxn id="149" idx="0"/>
          </p:cNvCxnSpPr>
          <p:nvPr/>
        </p:nvCxnSpPr>
        <p:spPr>
          <a:xfrm>
            <a:off x="4909171" y="3110588"/>
            <a:ext cx="289491" cy="209954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5008988" y="4410126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22" name="직선 화살표 연결선 121"/>
          <p:cNvCxnSpPr>
            <a:stCxn id="149" idx="6"/>
          </p:cNvCxnSpPr>
          <p:nvPr/>
        </p:nvCxnSpPr>
        <p:spPr>
          <a:xfrm flipV="1">
            <a:off x="5315039" y="5326514"/>
            <a:ext cx="3497267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020944" y="3036590"/>
            <a:ext cx="1741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24.0.0.100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814314" y="5808669"/>
            <a:ext cx="82575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10/11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v24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피드백건은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master, release(24.0.0.100)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브랜치에 유입이 되어야 함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용 요구사항은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master, 1600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브랜치에 작업이 되어야 하고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1600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버전이 배포되는 시점 브랜치 전략은 다시 공지 예정임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082284" y="5442654"/>
            <a:ext cx="2315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V24 </a:t>
            </a:r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전용 </a:t>
            </a:r>
            <a:r>
              <a:rPr lang="en-US" altLang="ko-KR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브랜치로 전환됨</a:t>
            </a:r>
            <a:r>
              <a:rPr lang="en-US" altLang="ko-KR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24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 smtClean="0"/>
              <a:t>4. Nexacro Platform v21</a:t>
            </a:r>
            <a:r>
              <a:rPr lang="ko-KR" altLang="en-US" smtClean="0"/>
              <a:t> </a:t>
            </a:r>
            <a:r>
              <a:rPr lang="ko-KR" altLang="en-US"/>
              <a:t>브랜치 </a:t>
            </a:r>
            <a:r>
              <a:rPr lang="ko-KR" altLang="en-US" smtClean="0"/>
              <a:t>전략 </a:t>
            </a:r>
            <a:r>
              <a:rPr lang="en-US" altLang="ko-KR" smtClean="0"/>
              <a:t>(10/31 </a:t>
            </a:r>
            <a:r>
              <a:rPr lang="ko-KR" altLang="en-US" smtClean="0"/>
              <a:t>변경안</a:t>
            </a:r>
            <a:r>
              <a:rPr lang="en-US" altLang="ko-KR" smtClean="0"/>
              <a:t>)</a:t>
            </a:r>
            <a:endParaRPr lang="ko-KR" altLang="en-US" dirty="0"/>
          </a:p>
        </p:txBody>
      </p:sp>
      <p:sp>
        <p:nvSpPr>
          <p:cNvPr id="47" name="타원 46"/>
          <p:cNvSpPr/>
          <p:nvPr/>
        </p:nvSpPr>
        <p:spPr>
          <a:xfrm>
            <a:off x="2465524" y="319478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227364" y="2542790"/>
            <a:ext cx="1743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5317147" y="31947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5549902" y="3185509"/>
            <a:ext cx="1594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배포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11/28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55575" y="2953231"/>
            <a:ext cx="1741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1144076" y="31947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화살표 연결선 68"/>
          <p:cNvCxnSpPr>
            <a:stCxn id="68" idx="6"/>
            <a:endCxn id="47" idx="2"/>
          </p:cNvCxnSpPr>
          <p:nvPr/>
        </p:nvCxnSpPr>
        <p:spPr>
          <a:xfrm>
            <a:off x="1376831" y="3311157"/>
            <a:ext cx="1088693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/>
          <p:cNvSpPr/>
          <p:nvPr/>
        </p:nvSpPr>
        <p:spPr>
          <a:xfrm>
            <a:off x="169821" y="2504266"/>
            <a:ext cx="8929969" cy="1574675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510576" y="3402044"/>
            <a:ext cx="10886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소스프리징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(11/7)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2" name="직선 화살표 연결선 71"/>
          <p:cNvCxnSpPr>
            <a:stCxn id="47" idx="6"/>
            <a:endCxn id="60" idx="2"/>
          </p:cNvCxnSpPr>
          <p:nvPr/>
        </p:nvCxnSpPr>
        <p:spPr>
          <a:xfrm flipV="1">
            <a:off x="2698279" y="3311157"/>
            <a:ext cx="2618868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/>
          <p:cNvSpPr/>
          <p:nvPr/>
        </p:nvSpPr>
        <p:spPr>
          <a:xfrm>
            <a:off x="2880523" y="1061493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8" name="직선 화살표 연결선 77"/>
          <p:cNvCxnSpPr>
            <a:stCxn id="75" idx="6"/>
            <a:endCxn id="127" idx="2"/>
          </p:cNvCxnSpPr>
          <p:nvPr/>
        </p:nvCxnSpPr>
        <p:spPr>
          <a:xfrm>
            <a:off x="3113278" y="1177871"/>
            <a:ext cx="3605353" cy="1444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378705" y="5612386"/>
            <a:ext cx="1876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Main_21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0" name="직선 화살표 연결선 79"/>
          <p:cNvCxnSpPr>
            <a:endCxn id="75" idx="4"/>
          </p:cNvCxnSpPr>
          <p:nvPr/>
        </p:nvCxnSpPr>
        <p:spPr>
          <a:xfrm flipV="1">
            <a:off x="2607157" y="1294248"/>
            <a:ext cx="389744" cy="189655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22011" y="938037"/>
            <a:ext cx="1876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Master_21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5378119" y="5210137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" name="직선 화살표 연결선 95"/>
          <p:cNvCxnSpPr>
            <a:stCxn id="95" idx="6"/>
            <a:endCxn id="131" idx="2"/>
          </p:cNvCxnSpPr>
          <p:nvPr/>
        </p:nvCxnSpPr>
        <p:spPr>
          <a:xfrm flipV="1">
            <a:off x="5610874" y="5326514"/>
            <a:ext cx="1686269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>
            <a:stCxn id="60" idx="4"/>
            <a:endCxn id="95" idx="0"/>
          </p:cNvCxnSpPr>
          <p:nvPr/>
        </p:nvCxnSpPr>
        <p:spPr>
          <a:xfrm>
            <a:off x="5433525" y="3427534"/>
            <a:ext cx="60972" cy="178260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433524" y="4447851"/>
            <a:ext cx="822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생성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2793500" y="2047817"/>
            <a:ext cx="822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생성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3270267" y="1246121"/>
            <a:ext cx="28410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국민연금 사이트 접근성 신규 작업 위치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7" name="타원 126"/>
          <p:cNvSpPr/>
          <p:nvPr/>
        </p:nvSpPr>
        <p:spPr>
          <a:xfrm>
            <a:off x="6718631" y="107593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타원 130"/>
          <p:cNvSpPr/>
          <p:nvPr/>
        </p:nvSpPr>
        <p:spPr>
          <a:xfrm>
            <a:off x="7297143" y="5210136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TextBox 131"/>
          <p:cNvSpPr txBox="1"/>
          <p:nvPr/>
        </p:nvSpPr>
        <p:spPr>
          <a:xfrm>
            <a:off x="6255589" y="5459981"/>
            <a:ext cx="2209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11/30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국민연금 접근성 신규 건 배포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21.0.0.1610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33" name="직선 화살표 연결선 132"/>
          <p:cNvCxnSpPr>
            <a:stCxn id="127" idx="4"/>
            <a:endCxn id="131" idx="0"/>
          </p:cNvCxnSpPr>
          <p:nvPr/>
        </p:nvCxnSpPr>
        <p:spPr>
          <a:xfrm>
            <a:off x="6835009" y="1308694"/>
            <a:ext cx="578512" cy="390144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/>
          <p:cNvCxnSpPr>
            <a:stCxn id="131" idx="6"/>
            <a:endCxn id="136" idx="2"/>
          </p:cNvCxnSpPr>
          <p:nvPr/>
        </p:nvCxnSpPr>
        <p:spPr>
          <a:xfrm>
            <a:off x="7529898" y="5326514"/>
            <a:ext cx="875002" cy="147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타원 135"/>
          <p:cNvSpPr/>
          <p:nvPr/>
        </p:nvSpPr>
        <p:spPr>
          <a:xfrm>
            <a:off x="8404900" y="521161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TextBox 136"/>
          <p:cNvSpPr txBox="1"/>
          <p:nvPr/>
        </p:nvSpPr>
        <p:spPr>
          <a:xfrm>
            <a:off x="7265423" y="4397578"/>
            <a:ext cx="2209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국민연금 접근성 신규 건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merge</a:t>
            </a:r>
          </a:p>
        </p:txBody>
      </p:sp>
      <p:sp>
        <p:nvSpPr>
          <p:cNvPr id="138" name="직사각형 137"/>
          <p:cNvSpPr/>
          <p:nvPr/>
        </p:nvSpPr>
        <p:spPr>
          <a:xfrm>
            <a:off x="263756" y="4544620"/>
            <a:ext cx="411494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버전 통합테스트 시 발생한 모든 건이 유입되어야 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버전이 배포가 되면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Main_21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브랜치가 신규 생성됩니다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11/30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에는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국민연금 접근성 신규작업이 완료된 소스를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Main_21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Merge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한 버전에 대해서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pre-patch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 진행됩니다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51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 smtClean="0"/>
              <a:t>5. </a:t>
            </a:r>
            <a:r>
              <a:rPr lang="en-US" altLang="ko-KR" smtClean="0"/>
              <a:t>Nexacro Platform </a:t>
            </a:r>
            <a:r>
              <a:rPr lang="en-US" altLang="ko-KR" smtClean="0"/>
              <a:t>v21</a:t>
            </a:r>
            <a:r>
              <a:rPr lang="ko-KR" altLang="en-US" smtClean="0"/>
              <a:t> </a:t>
            </a:r>
            <a:r>
              <a:rPr lang="ko-KR" altLang="en-US"/>
              <a:t>브랜치 </a:t>
            </a:r>
            <a:r>
              <a:rPr lang="ko-KR" altLang="en-US" smtClean="0"/>
              <a:t>전략 </a:t>
            </a:r>
            <a:r>
              <a:rPr lang="en-US" altLang="ko-KR" smtClean="0"/>
              <a:t>(</a:t>
            </a:r>
            <a:r>
              <a:rPr lang="en-US" altLang="ko-KR" smtClean="0"/>
              <a:t>11/01 </a:t>
            </a:r>
            <a:r>
              <a:rPr lang="ko-KR" altLang="en-US" smtClean="0"/>
              <a:t>변경안</a:t>
            </a:r>
            <a:r>
              <a:rPr lang="en-US" altLang="ko-KR" smtClean="0"/>
              <a:t>)</a:t>
            </a:r>
            <a:endParaRPr lang="ko-KR" altLang="en-US" dirty="0"/>
          </a:p>
        </p:txBody>
      </p:sp>
      <p:sp>
        <p:nvSpPr>
          <p:cNvPr id="47" name="타원 46"/>
          <p:cNvSpPr/>
          <p:nvPr/>
        </p:nvSpPr>
        <p:spPr>
          <a:xfrm>
            <a:off x="2465524" y="319478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227364" y="2542790"/>
            <a:ext cx="1743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5317147" y="31947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5549902" y="3185509"/>
            <a:ext cx="1594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배포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12/5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55575" y="2953231"/>
            <a:ext cx="1741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1144076" y="31947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화살표 연결선 68"/>
          <p:cNvCxnSpPr>
            <a:stCxn id="68" idx="6"/>
            <a:endCxn id="47" idx="2"/>
          </p:cNvCxnSpPr>
          <p:nvPr/>
        </p:nvCxnSpPr>
        <p:spPr>
          <a:xfrm>
            <a:off x="1376831" y="3311157"/>
            <a:ext cx="1088693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/>
          <p:cNvSpPr/>
          <p:nvPr/>
        </p:nvSpPr>
        <p:spPr>
          <a:xfrm>
            <a:off x="169821" y="2504266"/>
            <a:ext cx="8929969" cy="1574675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510576" y="3402044"/>
            <a:ext cx="1088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소스프리징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(11/14)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2" name="직선 화살표 연결선 71"/>
          <p:cNvCxnSpPr>
            <a:stCxn id="47" idx="6"/>
            <a:endCxn id="60" idx="2"/>
          </p:cNvCxnSpPr>
          <p:nvPr/>
        </p:nvCxnSpPr>
        <p:spPr>
          <a:xfrm flipV="1">
            <a:off x="2698279" y="3311157"/>
            <a:ext cx="2618868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/>
          <p:cNvSpPr/>
          <p:nvPr/>
        </p:nvSpPr>
        <p:spPr>
          <a:xfrm>
            <a:off x="2880523" y="1061493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8" name="직선 화살표 연결선 77"/>
          <p:cNvCxnSpPr>
            <a:stCxn id="75" idx="6"/>
            <a:endCxn id="127" idx="2"/>
          </p:cNvCxnSpPr>
          <p:nvPr/>
        </p:nvCxnSpPr>
        <p:spPr>
          <a:xfrm>
            <a:off x="3113278" y="1177871"/>
            <a:ext cx="3605353" cy="1444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841747" y="5551456"/>
            <a:ext cx="1876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Main_21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0" name="직선 화살표 연결선 79"/>
          <p:cNvCxnSpPr>
            <a:endCxn id="75" idx="4"/>
          </p:cNvCxnSpPr>
          <p:nvPr/>
        </p:nvCxnSpPr>
        <p:spPr>
          <a:xfrm flipV="1">
            <a:off x="2607157" y="1294248"/>
            <a:ext cx="389744" cy="189655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22011" y="938037"/>
            <a:ext cx="1876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Master_</a:t>
            </a:r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5378119" y="5210137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" name="직선 화살표 연결선 95"/>
          <p:cNvCxnSpPr>
            <a:stCxn id="95" idx="6"/>
            <a:endCxn id="136" idx="2"/>
          </p:cNvCxnSpPr>
          <p:nvPr/>
        </p:nvCxnSpPr>
        <p:spPr>
          <a:xfrm>
            <a:off x="5610874" y="5326515"/>
            <a:ext cx="2794026" cy="147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>
            <a:stCxn id="60" idx="4"/>
            <a:endCxn id="95" idx="0"/>
          </p:cNvCxnSpPr>
          <p:nvPr/>
        </p:nvCxnSpPr>
        <p:spPr>
          <a:xfrm>
            <a:off x="5433525" y="3427534"/>
            <a:ext cx="60972" cy="178260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433524" y="4447851"/>
            <a:ext cx="822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생성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2793500" y="2047817"/>
            <a:ext cx="822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생성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811" y="1629481"/>
            <a:ext cx="2655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국민연금 사이트 접근성 신규 작업 위치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7" name="타원 126"/>
          <p:cNvSpPr/>
          <p:nvPr/>
        </p:nvSpPr>
        <p:spPr>
          <a:xfrm>
            <a:off x="6718631" y="107593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/>
          <p:cNvSpPr/>
          <p:nvPr/>
        </p:nvSpPr>
        <p:spPr>
          <a:xfrm>
            <a:off x="8404900" y="521161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263756" y="4544620"/>
            <a:ext cx="411494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버전 통합테스트 시 발생한 모든 건이 유입되어야 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버전이 배포가 되면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Main_21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브랜치가 신규 생성됩니다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국민연금 사이트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접근성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작업건은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12/5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정기배포로 배포한다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9" name="왼쪽 중괄호 138"/>
          <p:cNvSpPr/>
          <p:nvPr/>
        </p:nvSpPr>
        <p:spPr>
          <a:xfrm rot="16200000">
            <a:off x="1232488" y="870923"/>
            <a:ext cx="267755" cy="23652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화살표 연결선 139"/>
          <p:cNvCxnSpPr>
            <a:stCxn id="139" idx="1"/>
          </p:cNvCxnSpPr>
          <p:nvPr/>
        </p:nvCxnSpPr>
        <p:spPr>
          <a:xfrm>
            <a:off x="1366366" y="2187404"/>
            <a:ext cx="790383" cy="111506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87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 smtClean="0"/>
              <a:t>6. </a:t>
            </a:r>
            <a:r>
              <a:rPr lang="en-US" altLang="ko-KR" smtClean="0"/>
              <a:t>Nexacro Platform </a:t>
            </a:r>
            <a:r>
              <a:rPr lang="en-US" altLang="ko-KR" smtClean="0"/>
              <a:t>v24</a:t>
            </a:r>
            <a:r>
              <a:rPr lang="ko-KR" altLang="en-US" smtClean="0"/>
              <a:t> </a:t>
            </a:r>
            <a:r>
              <a:rPr lang="ko-KR" altLang="en-US"/>
              <a:t>브랜치 </a:t>
            </a:r>
            <a:r>
              <a:rPr lang="ko-KR" altLang="en-US" smtClean="0"/>
              <a:t>전략 </a:t>
            </a:r>
            <a:r>
              <a:rPr lang="en-US" altLang="ko-KR" smtClean="0"/>
              <a:t>(</a:t>
            </a:r>
            <a:r>
              <a:rPr lang="en-US" altLang="ko-KR" smtClean="0"/>
              <a:t>10/31 </a:t>
            </a:r>
            <a:r>
              <a:rPr lang="ko-KR" altLang="en-US" smtClean="0"/>
              <a:t>변경안</a:t>
            </a:r>
            <a:r>
              <a:rPr lang="en-US" altLang="ko-KR" smtClean="0"/>
              <a:t>)</a:t>
            </a:r>
            <a:endParaRPr lang="ko-KR" altLang="en-US" dirty="0"/>
          </a:p>
        </p:txBody>
      </p:sp>
      <p:sp>
        <p:nvSpPr>
          <p:cNvPr id="47" name="타원 46"/>
          <p:cNvSpPr/>
          <p:nvPr/>
        </p:nvSpPr>
        <p:spPr>
          <a:xfrm>
            <a:off x="2465524" y="3194780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227364" y="2542790"/>
            <a:ext cx="1743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RELEASE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55575" y="2953231"/>
            <a:ext cx="1741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24.0.0.100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1144076" y="31947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화살표 연결선 68"/>
          <p:cNvCxnSpPr>
            <a:stCxn id="68" idx="6"/>
            <a:endCxn id="47" idx="2"/>
          </p:cNvCxnSpPr>
          <p:nvPr/>
        </p:nvCxnSpPr>
        <p:spPr>
          <a:xfrm>
            <a:off x="1376831" y="3311157"/>
            <a:ext cx="1088693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69"/>
          <p:cNvSpPr/>
          <p:nvPr/>
        </p:nvSpPr>
        <p:spPr>
          <a:xfrm>
            <a:off x="169821" y="2504266"/>
            <a:ext cx="8929969" cy="1574675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/>
          <p:cNvSpPr/>
          <p:nvPr/>
        </p:nvSpPr>
        <p:spPr>
          <a:xfrm>
            <a:off x="661267" y="107593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8" name="직선 화살표 연결선 77"/>
          <p:cNvCxnSpPr>
            <a:stCxn id="75" idx="6"/>
            <a:endCxn id="127" idx="2"/>
          </p:cNvCxnSpPr>
          <p:nvPr/>
        </p:nvCxnSpPr>
        <p:spPr>
          <a:xfrm>
            <a:off x="894022" y="1192316"/>
            <a:ext cx="3508028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3522" y="5586304"/>
            <a:ext cx="1876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22011" y="749316"/>
            <a:ext cx="1876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</a:t>
            </a:r>
            <a:r>
              <a:rPr lang="en-US" altLang="ko-KR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</a:t>
            </a:r>
            <a:endParaRPr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2465523" y="521013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" name="직선 화살표 연결선 95"/>
          <p:cNvCxnSpPr>
            <a:stCxn id="81" idx="6"/>
            <a:endCxn id="103" idx="2"/>
          </p:cNvCxnSpPr>
          <p:nvPr/>
        </p:nvCxnSpPr>
        <p:spPr>
          <a:xfrm flipV="1">
            <a:off x="3351834" y="5326512"/>
            <a:ext cx="3977452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타원 126"/>
          <p:cNvSpPr/>
          <p:nvPr/>
        </p:nvSpPr>
        <p:spPr>
          <a:xfrm>
            <a:off x="4402050" y="107593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타원 130"/>
          <p:cNvSpPr/>
          <p:nvPr/>
        </p:nvSpPr>
        <p:spPr>
          <a:xfrm>
            <a:off x="7812056" y="5210134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5" name="직선 화살표 연결선 134"/>
          <p:cNvCxnSpPr>
            <a:stCxn id="131" idx="6"/>
            <a:endCxn id="136" idx="2"/>
          </p:cNvCxnSpPr>
          <p:nvPr/>
        </p:nvCxnSpPr>
        <p:spPr>
          <a:xfrm>
            <a:off x="8044811" y="5326512"/>
            <a:ext cx="360089" cy="148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타원 135"/>
          <p:cNvSpPr/>
          <p:nvPr/>
        </p:nvSpPr>
        <p:spPr>
          <a:xfrm>
            <a:off x="8404900" y="521161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1923626" y="3449437"/>
            <a:ext cx="7873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11/6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배포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93763" y="4388707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4469870" y="31947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화살표 연결선 41"/>
          <p:cNvCxnSpPr>
            <a:stCxn id="127" idx="4"/>
            <a:endCxn id="41" idx="0"/>
          </p:cNvCxnSpPr>
          <p:nvPr/>
        </p:nvCxnSpPr>
        <p:spPr>
          <a:xfrm>
            <a:off x="4518428" y="1308693"/>
            <a:ext cx="67820" cy="188608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984961" y="3450680"/>
            <a:ext cx="15104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24.0.0.200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 생성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18427" y="1654875"/>
            <a:ext cx="1140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1/9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소스 프리징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8124956" y="1075938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화살표 연결선 49"/>
          <p:cNvCxnSpPr>
            <a:stCxn id="127" idx="6"/>
            <a:endCxn id="49" idx="2"/>
          </p:cNvCxnSpPr>
          <p:nvPr/>
        </p:nvCxnSpPr>
        <p:spPr>
          <a:xfrm>
            <a:off x="4634805" y="1192316"/>
            <a:ext cx="3490151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타원 50"/>
          <p:cNvSpPr/>
          <p:nvPr/>
        </p:nvSpPr>
        <p:spPr>
          <a:xfrm>
            <a:off x="7134269" y="3194779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/>
          <p:cNvCxnSpPr>
            <a:stCxn id="41" idx="6"/>
            <a:endCxn id="51" idx="2"/>
          </p:cNvCxnSpPr>
          <p:nvPr/>
        </p:nvCxnSpPr>
        <p:spPr>
          <a:xfrm>
            <a:off x="4702625" y="3311157"/>
            <a:ext cx="2431644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80068" y="2995141"/>
            <a:ext cx="15104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24.0.0.200 </a:t>
            </a:r>
            <a:r>
              <a:rPr lang="ko-KR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배포 </a:t>
            </a:r>
            <a:r>
              <a:rPr lang="en-US" altLang="ko-KR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(1/30)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56" name="직선 화살표 연결선 55"/>
          <p:cNvCxnSpPr>
            <a:stCxn id="88" idx="4"/>
            <a:endCxn id="131" idx="0"/>
          </p:cNvCxnSpPr>
          <p:nvPr/>
        </p:nvCxnSpPr>
        <p:spPr>
          <a:xfrm>
            <a:off x="7695679" y="3434429"/>
            <a:ext cx="232755" cy="177570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774474" y="4468053"/>
            <a:ext cx="10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OverWrite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3300633" y="1572147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3488302" y="1569690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3677817" y="1569690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2771554" y="1731061"/>
            <a:ext cx="1613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V24 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정기 필수건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391964" y="521013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3" name="직선 화살표 연결선 72"/>
          <p:cNvCxnSpPr>
            <a:stCxn id="66" idx="6"/>
            <a:endCxn id="95" idx="2"/>
          </p:cNvCxnSpPr>
          <p:nvPr/>
        </p:nvCxnSpPr>
        <p:spPr>
          <a:xfrm>
            <a:off x="624719" y="5326513"/>
            <a:ext cx="1840804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타원 73"/>
          <p:cNvSpPr/>
          <p:nvPr/>
        </p:nvSpPr>
        <p:spPr>
          <a:xfrm>
            <a:off x="2834979" y="3191417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직선 화살표 연결선 75"/>
          <p:cNvCxnSpPr>
            <a:stCxn id="95" idx="0"/>
            <a:endCxn id="74" idx="3"/>
          </p:cNvCxnSpPr>
          <p:nvPr/>
        </p:nvCxnSpPr>
        <p:spPr>
          <a:xfrm flipV="1">
            <a:off x="2581901" y="3390086"/>
            <a:ext cx="287164" cy="182004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47" idx="6"/>
            <a:endCxn id="74" idx="2"/>
          </p:cNvCxnSpPr>
          <p:nvPr/>
        </p:nvCxnSpPr>
        <p:spPr>
          <a:xfrm flipV="1">
            <a:off x="2698279" y="3307795"/>
            <a:ext cx="136700" cy="336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3119079" y="5210135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화살표 연결선 81"/>
          <p:cNvCxnSpPr>
            <a:stCxn id="95" idx="6"/>
            <a:endCxn id="81" idx="2"/>
          </p:cNvCxnSpPr>
          <p:nvPr/>
        </p:nvCxnSpPr>
        <p:spPr>
          <a:xfrm>
            <a:off x="2698278" y="5326513"/>
            <a:ext cx="420801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288641" y="4274247"/>
            <a:ext cx="1465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작업건 중 정기에 작업이 들어가지 않은 건 역 머지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5" name="직선 화살표 연결선 84"/>
          <p:cNvCxnSpPr>
            <a:stCxn id="74" idx="4"/>
            <a:endCxn id="81" idx="0"/>
          </p:cNvCxnSpPr>
          <p:nvPr/>
        </p:nvCxnSpPr>
        <p:spPr>
          <a:xfrm>
            <a:off x="2951357" y="3424172"/>
            <a:ext cx="284100" cy="178596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/>
        </p:nvSpPr>
        <p:spPr>
          <a:xfrm>
            <a:off x="7579301" y="3201674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화살표 연결선 88"/>
          <p:cNvCxnSpPr>
            <a:stCxn id="51" idx="6"/>
            <a:endCxn id="88" idx="2"/>
          </p:cNvCxnSpPr>
          <p:nvPr/>
        </p:nvCxnSpPr>
        <p:spPr>
          <a:xfrm>
            <a:off x="7367024" y="3311157"/>
            <a:ext cx="212277" cy="689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/>
        </p:nvSpPr>
        <p:spPr>
          <a:xfrm>
            <a:off x="7329286" y="5210134"/>
            <a:ext cx="232755" cy="23275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화살표 연결선 104"/>
          <p:cNvCxnSpPr>
            <a:stCxn id="103" idx="6"/>
            <a:endCxn id="131" idx="2"/>
          </p:cNvCxnSpPr>
          <p:nvPr/>
        </p:nvCxnSpPr>
        <p:spPr>
          <a:xfrm>
            <a:off x="7562041" y="5326512"/>
            <a:ext cx="25001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>
            <a:stCxn id="103" idx="0"/>
            <a:endCxn id="88" idx="3"/>
          </p:cNvCxnSpPr>
          <p:nvPr/>
        </p:nvCxnSpPr>
        <p:spPr>
          <a:xfrm flipV="1">
            <a:off x="7445664" y="3400343"/>
            <a:ext cx="167723" cy="18097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175625" y="4358834"/>
            <a:ext cx="1465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Main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작업건 중 정기에 작업이 들어가지 않은 건 역 머지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2" name="왼쪽 중괄호 111"/>
          <p:cNvSpPr/>
          <p:nvPr/>
        </p:nvSpPr>
        <p:spPr>
          <a:xfrm rot="5400000">
            <a:off x="3424631" y="942505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타원 112"/>
          <p:cNvSpPr/>
          <p:nvPr/>
        </p:nvSpPr>
        <p:spPr>
          <a:xfrm>
            <a:off x="6510462" y="1515011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>
            <a:off x="6698131" y="1512554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타원 114"/>
          <p:cNvSpPr/>
          <p:nvPr/>
        </p:nvSpPr>
        <p:spPr>
          <a:xfrm>
            <a:off x="6887646" y="1512554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/>
          <p:cNvSpPr txBox="1"/>
          <p:nvPr/>
        </p:nvSpPr>
        <p:spPr>
          <a:xfrm>
            <a:off x="5981383" y="1673925"/>
            <a:ext cx="1613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V24 5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정기 필수건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7" name="왼쪽 중괄호 116"/>
          <p:cNvSpPr/>
          <p:nvPr/>
        </p:nvSpPr>
        <p:spPr>
          <a:xfrm rot="5400000">
            <a:off x="6634460" y="885369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/>
          <p:cNvSpPr/>
          <p:nvPr/>
        </p:nvSpPr>
        <p:spPr>
          <a:xfrm>
            <a:off x="4724579" y="5783394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/>
          <p:cNvSpPr/>
          <p:nvPr/>
        </p:nvSpPr>
        <p:spPr>
          <a:xfrm>
            <a:off x="4912248" y="5780937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/>
          <p:cNvSpPr/>
          <p:nvPr/>
        </p:nvSpPr>
        <p:spPr>
          <a:xfrm>
            <a:off x="5101763" y="5780937"/>
            <a:ext cx="127263" cy="1188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TextBox 121"/>
          <p:cNvSpPr txBox="1"/>
          <p:nvPr/>
        </p:nvSpPr>
        <p:spPr>
          <a:xfrm>
            <a:off x="4287269" y="5940398"/>
            <a:ext cx="1504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V24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긴급요구사항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왼쪽 중괄호 123"/>
          <p:cNvSpPr/>
          <p:nvPr/>
        </p:nvSpPr>
        <p:spPr>
          <a:xfrm rot="5400000">
            <a:off x="4842001" y="5174796"/>
            <a:ext cx="267755" cy="1092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8" name="직선 화살표 연결선 127"/>
          <p:cNvCxnSpPr>
            <a:stCxn id="124" idx="1"/>
          </p:cNvCxnSpPr>
          <p:nvPr/>
        </p:nvCxnSpPr>
        <p:spPr>
          <a:xfrm flipH="1" flipV="1">
            <a:off x="4975412" y="5326512"/>
            <a:ext cx="466" cy="26087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stCxn id="124" idx="1"/>
          </p:cNvCxnSpPr>
          <p:nvPr/>
        </p:nvCxnSpPr>
        <p:spPr>
          <a:xfrm rot="5400000" flipH="1" flipV="1">
            <a:off x="3249628" y="2918565"/>
            <a:ext cx="4395068" cy="942569"/>
          </a:xfrm>
          <a:prstGeom prst="bentConnector3">
            <a:avLst>
              <a:gd name="adj1" fmla="val 1659"/>
            </a:avLst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79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124384" y="122125"/>
            <a:ext cx="8171892" cy="536224"/>
          </a:xfrm>
        </p:spPr>
        <p:txBody>
          <a:bodyPr anchor="ctr"/>
          <a:lstStyle/>
          <a:p>
            <a:r>
              <a:rPr lang="en-US" altLang="ko-KR" smtClean="0"/>
              <a:t>6. Nexacro</a:t>
            </a:r>
            <a:r>
              <a:rPr lang="ko-KR" altLang="en-US"/>
              <a:t> </a:t>
            </a:r>
            <a:r>
              <a:rPr lang="en-US" altLang="ko-KR" smtClean="0"/>
              <a:t>N </a:t>
            </a:r>
            <a:r>
              <a:rPr lang="ko-KR" altLang="en-US" smtClean="0"/>
              <a:t>버전별</a:t>
            </a:r>
            <a:r>
              <a:rPr lang="en-US" altLang="ko-KR" smtClean="0"/>
              <a:t>/</a:t>
            </a:r>
            <a:r>
              <a:rPr lang="ko-KR" altLang="en-US" smtClean="0"/>
              <a:t>날짜별 소스 유입 정책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698859"/>
              </p:ext>
            </p:extLst>
          </p:nvPr>
        </p:nvGraphicFramePr>
        <p:xfrm>
          <a:off x="259977" y="779925"/>
          <a:ext cx="8588187" cy="3899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7597">
                  <a:extLst>
                    <a:ext uri="{9D8B030D-6E8A-4147-A177-3AD203B41FA5}">
                      <a16:colId xmlns:a16="http://schemas.microsoft.com/office/drawing/2014/main" val="1341517777"/>
                    </a:ext>
                  </a:extLst>
                </a:gridCol>
                <a:gridCol w="1746537">
                  <a:extLst>
                    <a:ext uri="{9D8B030D-6E8A-4147-A177-3AD203B41FA5}">
                      <a16:colId xmlns:a16="http://schemas.microsoft.com/office/drawing/2014/main" val="3149220299"/>
                    </a:ext>
                  </a:extLst>
                </a:gridCol>
                <a:gridCol w="678511">
                  <a:extLst>
                    <a:ext uri="{9D8B030D-6E8A-4147-A177-3AD203B41FA5}">
                      <a16:colId xmlns:a16="http://schemas.microsoft.com/office/drawing/2014/main" val="4215344924"/>
                    </a:ext>
                  </a:extLst>
                </a:gridCol>
                <a:gridCol w="678511">
                  <a:extLst>
                    <a:ext uri="{9D8B030D-6E8A-4147-A177-3AD203B41FA5}">
                      <a16:colId xmlns:a16="http://schemas.microsoft.com/office/drawing/2014/main" val="4004536417"/>
                    </a:ext>
                  </a:extLst>
                </a:gridCol>
                <a:gridCol w="2610381">
                  <a:extLst>
                    <a:ext uri="{9D8B030D-6E8A-4147-A177-3AD203B41FA5}">
                      <a16:colId xmlns:a16="http://schemas.microsoft.com/office/drawing/2014/main" val="453543235"/>
                    </a:ext>
                  </a:extLst>
                </a:gridCol>
                <a:gridCol w="725630">
                  <a:extLst>
                    <a:ext uri="{9D8B030D-6E8A-4147-A177-3AD203B41FA5}">
                      <a16:colId xmlns:a16="http://schemas.microsoft.com/office/drawing/2014/main" val="2792771488"/>
                    </a:ext>
                  </a:extLst>
                </a:gridCol>
                <a:gridCol w="801020">
                  <a:extLst>
                    <a:ext uri="{9D8B030D-6E8A-4147-A177-3AD203B41FA5}">
                      <a16:colId xmlns:a16="http://schemas.microsoft.com/office/drawing/2014/main" val="3081865685"/>
                    </a:ext>
                  </a:extLst>
                </a:gridCol>
              </a:tblGrid>
              <a:tr h="389965">
                <a:tc rowSpan="3"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smtClean="0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r>
                        <a:rPr lang="en-US" altLang="ko-KR" sz="10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</a:t>
                      </a:r>
                      <a:r>
                        <a:rPr lang="ko-KR" altLang="en-US" sz="10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 유입</a:t>
                      </a:r>
                      <a:endParaRPr lang="en-US" altLang="ko-KR" sz="1000" b="0" i="0" u="none" strike="noStrike" baseline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X : </a:t>
                      </a:r>
                      <a:r>
                        <a:rPr lang="ko-KR" altLang="en-US" sz="10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 미유입</a:t>
                      </a:r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mtClean="0">
                          <a:effectLst/>
                        </a:rPr>
                        <a:t>V24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mtClean="0">
                          <a:effectLst/>
                        </a:rPr>
                        <a:t>V21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218245"/>
                  </a:ext>
                </a:extLst>
              </a:tr>
              <a:tr h="389965">
                <a:tc gridSpan="2"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12/5 </a:t>
                      </a:r>
                      <a:r>
                        <a:rPr lang="ko-KR" altLang="en-US" sz="1000" u="none" strike="noStrike">
                          <a:effectLst/>
                        </a:rPr>
                        <a:t>생성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11/14 </a:t>
                      </a:r>
                      <a:r>
                        <a:rPr lang="ko-KR" altLang="en-US" sz="1000" u="none" strike="noStrike">
                          <a:effectLst/>
                        </a:rPr>
                        <a:t>생성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651192"/>
                  </a:ext>
                </a:extLst>
              </a:tr>
              <a:tr h="389965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main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master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RELEASE/REL_23.11.28.00_21.0.0.1600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main_21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master_21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233579"/>
                  </a:ext>
                </a:extLst>
              </a:tr>
              <a:tr h="38996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N21 </a:t>
                      </a:r>
                      <a:r>
                        <a:rPr lang="ko-KR" altLang="en-US" sz="1000" u="none" strike="noStrike">
                          <a:effectLst/>
                        </a:rPr>
                        <a:t>긴급건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11/14 </a:t>
                      </a:r>
                      <a:r>
                        <a:rPr lang="ko-KR" altLang="en-US" sz="1000" u="none" strike="noStrike">
                          <a:effectLst/>
                        </a:rPr>
                        <a:t>이전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061418"/>
                  </a:ext>
                </a:extLst>
              </a:tr>
              <a:tr h="3899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11/14 </a:t>
                      </a:r>
                      <a:r>
                        <a:rPr lang="ko-KR" altLang="en-US" sz="1000" u="none" strike="noStrike">
                          <a:effectLst/>
                        </a:rPr>
                        <a:t>이후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smtClean="0">
                          <a:effectLst/>
                        </a:rPr>
                        <a:t>X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840270"/>
                  </a:ext>
                </a:extLst>
              </a:tr>
              <a:tr h="3899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12/5 </a:t>
                      </a:r>
                      <a:r>
                        <a:rPr lang="ko-KR" altLang="en-US" sz="1000" u="none" strike="noStrike">
                          <a:effectLst/>
                        </a:rPr>
                        <a:t>이후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825530"/>
                  </a:ext>
                </a:extLst>
              </a:tr>
              <a:tr h="38996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N21 </a:t>
                      </a:r>
                      <a:r>
                        <a:rPr lang="ko-KR" altLang="en-US" sz="1000" u="none" strike="noStrike">
                          <a:effectLst/>
                        </a:rPr>
                        <a:t>정기건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11/14 </a:t>
                      </a:r>
                      <a:r>
                        <a:rPr lang="ko-KR" altLang="en-US" sz="1000" u="none" strike="noStrike">
                          <a:effectLst/>
                        </a:rPr>
                        <a:t>이전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851391"/>
                  </a:ext>
                </a:extLst>
              </a:tr>
              <a:tr h="3899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11/14 </a:t>
                      </a:r>
                      <a:r>
                        <a:rPr lang="ko-KR" altLang="en-US" sz="1000" u="none" strike="noStrike">
                          <a:effectLst/>
                        </a:rPr>
                        <a:t>이후 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정기피드백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15065"/>
                  </a:ext>
                </a:extLst>
              </a:tr>
              <a:tr h="3899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</a:rPr>
                        <a:t>N24 </a:t>
                      </a:r>
                      <a:r>
                        <a:rPr lang="ko-KR" altLang="en-US" sz="1000" u="none" strike="noStrike">
                          <a:effectLst/>
                        </a:rPr>
                        <a:t>작업 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다음정기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11/2 </a:t>
                      </a:r>
                      <a:r>
                        <a:rPr lang="ko-KR" altLang="en-US" sz="1000" u="none" strike="noStrike">
                          <a:effectLst/>
                        </a:rPr>
                        <a:t>이후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863852"/>
                  </a:ext>
                </a:extLst>
              </a:tr>
              <a:tr h="3899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국민연금 접근성건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48" marR="8648" marT="864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634132"/>
                  </a:ext>
                </a:extLst>
              </a:tr>
            </a:tbl>
          </a:graphicData>
        </a:graphic>
      </p:graphicFrame>
      <p:sp>
        <p:nvSpPr>
          <p:cNvPr id="72" name="직사각형 71"/>
          <p:cNvSpPr/>
          <p:nvPr/>
        </p:nvSpPr>
        <p:spPr>
          <a:xfrm>
            <a:off x="259976" y="4867350"/>
            <a:ext cx="85881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작업하는 대상과 날짜를 체크하면 소스 반영해야 할 브랜치를 확인하기 쉽습니다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1)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내가 작업해야하는 건이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긴급건이고 현재 날짜가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 이전이면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master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21.0.0.1600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브랜치에 작업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2)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내가 작업해야하는 건이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긴급건이고 현재 날짜가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12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 이라면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master, master_21, main_21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작업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3)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내가 작업해야하는 건이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v24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작업건이면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master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에만 작업</a:t>
            </a:r>
            <a:endParaRPr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4)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내가 작업해야하는 건이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v21 11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월정기 피드백 건이면 </a:t>
            </a:r>
            <a:r>
              <a:rPr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master, master_21, 21.0.0.1600 </a:t>
            </a:r>
            <a:r>
              <a:rPr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작업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861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24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be_PPT_Wide_template" id="{5877BC93-9CD7-4B51-A4E6-5CB33820AD80}" vid="{D4373F18-C870-4944-8475-C912C5B6DAA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Tobe_PPT_Wide_template</Template>
  <TotalTime>39432</TotalTime>
  <Words>1339</Words>
  <Application>Microsoft Office PowerPoint</Application>
  <PresentationFormat>화면 슬라이드 쇼(4:3)</PresentationFormat>
  <Paragraphs>282</Paragraphs>
  <Slides>14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나눔스퀘어 Bold</vt:lpstr>
      <vt:lpstr>나눔스퀘어 ExtraBold</vt:lpstr>
      <vt:lpstr>Calibri</vt:lpstr>
      <vt:lpstr>맑은 고딕</vt:lpstr>
      <vt:lpstr>나눔스퀘어</vt:lpstr>
      <vt:lpstr>Wingdings</vt:lpstr>
      <vt:lpstr>Arial</vt:lpstr>
      <vt:lpstr>Office 테마</vt:lpstr>
      <vt:lpstr>제품기술연구소    N23 개발브랜치 전략</vt:lpstr>
      <vt:lpstr>1. N23 개발브랜치 전략</vt:lpstr>
      <vt:lpstr>1. 연구소 브랜치 전략</vt:lpstr>
      <vt:lpstr>1. Nexacro Platform v23 브랜치 전략</vt:lpstr>
      <vt:lpstr>2. F&amp;Q</vt:lpstr>
      <vt:lpstr>2. F&amp;Q</vt:lpstr>
      <vt:lpstr>1. Nexacro Platform v23 브랜치 전략</vt:lpstr>
      <vt:lpstr>2. Nexacro Platform v23 브랜치 전략 (7/7 변경안)</vt:lpstr>
      <vt:lpstr>3. Nexacro Platform v24 브랜치 전략 (10/11 변경안)</vt:lpstr>
      <vt:lpstr>4. Nexacro Platform v21 브랜치 전략 (10/31 변경안)</vt:lpstr>
      <vt:lpstr>5. Nexacro Platform v21 브랜치 전략 (11/01 변경안)</vt:lpstr>
      <vt:lpstr>6. Nexacro Platform v24 브랜치 전략 (10/31 변경안)</vt:lpstr>
      <vt:lpstr>6. Nexacro N 버전별/날짜별 소스 유입 정책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TOBESOFT</dc:creator>
  <cp:lastModifiedBy>문덕준</cp:lastModifiedBy>
  <cp:revision>777</cp:revision>
  <cp:lastPrinted>2023-02-08T06:33:05Z</cp:lastPrinted>
  <dcterms:created xsi:type="dcterms:W3CDTF">2020-06-30T03:40:21Z</dcterms:created>
  <dcterms:modified xsi:type="dcterms:W3CDTF">2023-11-01T10:29:05Z</dcterms:modified>
</cp:coreProperties>
</file>