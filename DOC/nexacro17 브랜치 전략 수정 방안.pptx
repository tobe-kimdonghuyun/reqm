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5" r:id="rId2"/>
    <p:sldId id="277" r:id="rId3"/>
    <p:sldId id="272" r:id="rId4"/>
    <p:sldId id="268" r:id="rId5"/>
    <p:sldId id="273" r:id="rId6"/>
    <p:sldId id="270" r:id="rId7"/>
    <p:sldId id="274" r:id="rId8"/>
    <p:sldId id="266" r:id="rId9"/>
    <p:sldId id="278" r:id="rId10"/>
    <p:sldId id="279" r:id="rId11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85467" autoAdjust="0"/>
  </p:normalViewPr>
  <p:slideViewPr>
    <p:cSldViewPr snapToGrid="0">
      <p:cViewPr>
        <p:scale>
          <a:sx n="140" d="100"/>
          <a:sy n="140" d="100"/>
        </p:scale>
        <p:origin x="-7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6DE204-B24F-42FD-8BE8-CB611DA434A4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EC939C-95FC-49BF-BA43-9A594F81F36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40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C939C-95FC-49BF-BA43-9A594F81F362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err="1" smtClean="0"/>
              <a:t>머지타이밍은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1</a:t>
            </a:r>
            <a:r>
              <a:rPr lang="ko-KR" altLang="en-US" baseline="0" dirty="0" smtClean="0"/>
              <a:t>주에 </a:t>
            </a:r>
            <a:r>
              <a:rPr lang="en-US" altLang="ko-KR" baseline="0" dirty="0" smtClean="0"/>
              <a:t>1</a:t>
            </a:r>
            <a:r>
              <a:rPr lang="ko-KR" altLang="en-US" baseline="0" dirty="0" smtClean="0"/>
              <a:t>번이 기본이나 상황에 따라 반영시기는 조금 달라질 수 있다</a:t>
            </a:r>
            <a:r>
              <a:rPr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C939C-95FC-49BF-BA43-9A594F81F362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 latinLnBrk="1"/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</a:t>
            </a:r>
            <a:r>
              <a:rPr lang="en-US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피처브랜치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관리 안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정기배포 후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메인에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버전을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오버라이트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피처브랜치는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반영한 사항을 정기적으로 머지 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피처를 개발 하는 개발자는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수시로 받아서 체크한다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핫픽스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반영 안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작업기간에는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릴리즈에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핫픽스발생시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머지한다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정기배포 후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릴리즈에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프리징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기간에 발생한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핫픽스를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머지 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정기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버전이 안정화된 가장 최신 버전이다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)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브랜치에서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a/s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브랜치를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만든다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 latinLnBrk="1"/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A/S 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버전은 만들지 않는 것이 원칙이다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 문제 발생시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나온 결함은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백업브랜치를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생성하여 진행한다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(A/S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브랜치에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문제가 발생시 그곳에다 작업 하도록 요청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백업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릴리즈브랜치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관리는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QA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관리한다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브랜치와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메타인포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운영방안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메타인포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운영은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스펙관리파트에서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방안이 나오면 이후 논의하기로 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(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아직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미반영상태임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1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브랜치는</a:t>
            </a:r>
            <a:r>
              <a:rPr lang="ko-KR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TOPS</a:t>
            </a:r>
            <a:r>
              <a:rPr lang="ko-KR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신규 항목을 등록해서 진행한다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1" latinLnBrk="1"/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등록한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RP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번호로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브랜치를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만든다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b="1" dirty="0" smtClean="0">
                <a:latin typeface="+mn-ea"/>
              </a:rPr>
              <a:t>FEATURE/FEATURE_RP####_</a:t>
            </a:r>
            <a:r>
              <a:rPr lang="en-US" altLang="ko-KR" sz="1200" b="1" dirty="0" err="1" smtClean="0">
                <a:latin typeface="+mn-ea"/>
              </a:rPr>
              <a:t>feature_name</a:t>
            </a:r>
            <a:endParaRPr lang="en-US" altLang="ko-KR" sz="1200" b="1" dirty="0" smtClean="0">
              <a:latin typeface="+mn-ea"/>
            </a:endParaRPr>
          </a:p>
          <a:p>
            <a:pPr lvl="1" latinLnBrk="1"/>
            <a:endParaRPr lang="en-US" altLang="ko-KR" sz="1200" b="1" dirty="0" smtClean="0">
              <a:latin typeface="+mn-ea"/>
            </a:endParaRPr>
          </a:p>
          <a:p>
            <a:pPr lvl="1" latinLnBrk="1"/>
            <a:r>
              <a:rPr lang="ko-KR" altLang="en-US" sz="1200" b="1" dirty="0" smtClean="0">
                <a:latin typeface="+mn-ea"/>
              </a:rPr>
              <a:t>형상관리 담당자 매뉴얼</a:t>
            </a:r>
            <a:r>
              <a:rPr lang="ko-KR" altLang="en-US" sz="1200" b="1" baseline="0" dirty="0" smtClean="0">
                <a:latin typeface="+mn-ea"/>
              </a:rPr>
              <a:t> 및 체크리스트가 필요함 </a:t>
            </a:r>
            <a:endParaRPr lang="en-US" altLang="ko-KR" sz="1200" b="1" dirty="0" smtClean="0">
              <a:latin typeface="+mn-ea"/>
            </a:endParaRPr>
          </a:p>
          <a:p>
            <a:pPr lvl="1" latinLnBrk="1"/>
            <a:endParaRPr lang="en-US" altLang="ko-KR" sz="1200" b="1" dirty="0" smtClean="0">
              <a:latin typeface="+mn-ea"/>
            </a:endParaRPr>
          </a:p>
          <a:p>
            <a:pPr lvl="1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C939C-95FC-49BF-BA43-9A594F81F362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 latinLnBrk="1"/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</a:t>
            </a:r>
            <a:r>
              <a:rPr lang="en-US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피처브랜치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관리 안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정기배포 후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메인에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버전을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오버라이트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피처브랜치는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반영한 사항을 정기적으로 머지 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피처를 개발 하는 개발자는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수시로 받아서 체크한다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핫픽스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반영 안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작업기간에는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릴리즈에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핫픽스발생시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머지한다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정기배포 후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릴리즈에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프리징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기간에 발생한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핫픽스를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머지 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정기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버전이 안정화된 가장 최신 버전이다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)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브랜치에서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a/s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브랜치를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만든다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 latinLnBrk="1"/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A/S 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버전은 만들지 않는 것이 원칙이다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 문제 발생시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나온 결함은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백업브랜치를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생성하여 진행한다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(A/S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브랜치에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문제가 발생시 그곳에다 작업 하도록 요청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 latinLnBrk="1"/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백업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릴리즈브랜치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관리는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QA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관리한다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브랜치와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메타인포</a:t>
            </a:r>
            <a:r>
              <a:rPr lang="ko-KR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운영방안 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메타인포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운영은 </a:t>
            </a:r>
            <a:r>
              <a:rPr lang="ko-KR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스펙관리파트에서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방안이 나오면 이후 논의하기로 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(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아직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미반영상태임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1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브랜치는</a:t>
            </a:r>
            <a:r>
              <a:rPr lang="ko-KR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TOPS</a:t>
            </a:r>
            <a:r>
              <a:rPr lang="ko-KR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신규 항목을 등록해서 진행한다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1" latinLnBrk="1"/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등록한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RP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번호로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브랜치를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만든다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b="1" dirty="0" smtClean="0">
                <a:latin typeface="+mn-ea"/>
              </a:rPr>
              <a:t>FEATURE/FEATURE_RP####_</a:t>
            </a:r>
            <a:r>
              <a:rPr lang="en-US" altLang="ko-KR" sz="1200" b="1" dirty="0" err="1" smtClean="0">
                <a:latin typeface="+mn-ea"/>
              </a:rPr>
              <a:t>feature_name</a:t>
            </a:r>
            <a:endParaRPr lang="en-US" altLang="ko-KR" sz="1200" b="1" dirty="0" smtClean="0">
              <a:latin typeface="+mn-ea"/>
            </a:endParaRPr>
          </a:p>
          <a:p>
            <a:pPr lvl="1" latinLnBrk="1"/>
            <a:endParaRPr lang="en-US" altLang="ko-KR" sz="1200" b="1" dirty="0" smtClean="0">
              <a:latin typeface="+mn-ea"/>
            </a:endParaRPr>
          </a:p>
          <a:p>
            <a:pPr lvl="1" latinLnBrk="1"/>
            <a:r>
              <a:rPr lang="ko-KR" altLang="en-US" sz="1200" b="1" dirty="0" smtClean="0">
                <a:latin typeface="+mn-ea"/>
              </a:rPr>
              <a:t>형상관리 담당자 매뉴얼</a:t>
            </a:r>
            <a:r>
              <a:rPr lang="ko-KR" altLang="en-US" sz="1200" b="1" baseline="0" dirty="0" smtClean="0">
                <a:latin typeface="+mn-ea"/>
              </a:rPr>
              <a:t> 및 체크리스트가 필요함 </a:t>
            </a:r>
            <a:endParaRPr lang="en-US" altLang="ko-KR" sz="1200" b="1" dirty="0" smtClean="0">
              <a:latin typeface="+mn-ea"/>
            </a:endParaRPr>
          </a:p>
          <a:p>
            <a:pPr lvl="1" latinLnBrk="1"/>
            <a:endParaRPr lang="en-US" altLang="ko-KR" sz="1200" b="1" dirty="0" smtClean="0">
              <a:latin typeface="+mn-ea"/>
            </a:endParaRPr>
          </a:p>
          <a:p>
            <a:pPr lvl="1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C939C-95FC-49BF-BA43-9A594F81F362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정기버전에 들어갈 항목을 미리 정하고 </a:t>
            </a:r>
            <a:endParaRPr lang="en-US" altLang="ko-KR" dirty="0" smtClean="0"/>
          </a:p>
          <a:p>
            <a:r>
              <a:rPr lang="ko-KR" altLang="en-US" dirty="0" smtClean="0"/>
              <a:t>신규 기능이나 연관성 있는 작업은 </a:t>
            </a:r>
            <a:r>
              <a:rPr lang="en-US" altLang="ko-KR" dirty="0" smtClean="0"/>
              <a:t>feature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로 작업</a:t>
            </a:r>
            <a:endParaRPr lang="en-US" altLang="ko-KR" baseline="0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Release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에 들어갈 항목에 대해 필히 </a:t>
            </a:r>
            <a:r>
              <a:rPr lang="en-US" altLang="ko-KR" baseline="0" dirty="0" smtClean="0"/>
              <a:t>tops</a:t>
            </a:r>
            <a:r>
              <a:rPr lang="ko-KR" altLang="en-US" baseline="0" dirty="0" smtClean="0"/>
              <a:t>에 등록</a:t>
            </a:r>
            <a:endParaRPr lang="en-US" altLang="ko-KR" baseline="0" dirty="0" smtClean="0"/>
          </a:p>
          <a:p>
            <a:r>
              <a:rPr lang="en-US" altLang="ko-KR" dirty="0" smtClean="0"/>
              <a:t>Release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에 들어갈 내용이 </a:t>
            </a:r>
            <a:r>
              <a:rPr lang="en-US" altLang="ko-KR" baseline="0" dirty="0" smtClean="0"/>
              <a:t>TOPS</a:t>
            </a:r>
            <a:r>
              <a:rPr lang="ko-KR" altLang="en-US" baseline="0" dirty="0" smtClean="0"/>
              <a:t>에 등록되어 있는지를 </a:t>
            </a:r>
            <a:r>
              <a:rPr lang="ko-KR" altLang="en-US" baseline="0" dirty="0" err="1" smtClean="0"/>
              <a:t>브랜치</a:t>
            </a:r>
            <a:r>
              <a:rPr lang="ko-KR" altLang="en-US" baseline="0" dirty="0" smtClean="0"/>
              <a:t> 관리자가 확인하고 체크 필요</a:t>
            </a:r>
            <a:endParaRPr lang="en-US" altLang="ko-KR" baseline="0" dirty="0" smtClean="0"/>
          </a:p>
          <a:p>
            <a:r>
              <a:rPr lang="en-US" altLang="ko-KR" baseline="0" dirty="0" smtClean="0"/>
              <a:t>4</a:t>
            </a:r>
            <a:r>
              <a:rPr lang="ko-KR" altLang="en-US" baseline="0" dirty="0" smtClean="0"/>
              <a:t>월 </a:t>
            </a:r>
            <a:r>
              <a:rPr lang="en-US" altLang="ko-KR" baseline="0" dirty="0" err="1" smtClean="0"/>
              <a:t>realease</a:t>
            </a:r>
            <a:r>
              <a:rPr lang="en-US" altLang="ko-KR" baseline="0" dirty="0" smtClean="0"/>
              <a:t>(0418) </a:t>
            </a:r>
            <a:r>
              <a:rPr lang="ko-KR" altLang="en-US" baseline="0" dirty="0" smtClean="0"/>
              <a:t>를 </a:t>
            </a:r>
            <a:r>
              <a:rPr lang="en-US" altLang="ko-KR" baseline="0" dirty="0" smtClean="0"/>
              <a:t>main</a:t>
            </a:r>
            <a:r>
              <a:rPr lang="ko-KR" altLang="en-US" baseline="0" dirty="0" smtClean="0"/>
              <a:t>에 병합</a:t>
            </a:r>
            <a:endParaRPr lang="en-US" altLang="ko-KR" baseline="0" dirty="0" smtClean="0"/>
          </a:p>
          <a:p>
            <a:r>
              <a:rPr lang="en-US" altLang="ko-KR" baseline="0" dirty="0" smtClean="0"/>
              <a:t>Main</a:t>
            </a:r>
            <a:r>
              <a:rPr lang="ko-KR" altLang="en-US" baseline="0" dirty="0" smtClean="0"/>
              <a:t>에서 </a:t>
            </a:r>
            <a:r>
              <a:rPr lang="en-US" altLang="ko-KR" baseline="0" dirty="0" smtClean="0"/>
              <a:t>master </a:t>
            </a:r>
            <a:r>
              <a:rPr lang="ko-KR" altLang="en-US" baseline="0" dirty="0" err="1" smtClean="0"/>
              <a:t>브랜치</a:t>
            </a:r>
            <a:r>
              <a:rPr lang="ko-KR" altLang="en-US" baseline="0" dirty="0" smtClean="0"/>
              <a:t> 생성</a:t>
            </a:r>
            <a:endParaRPr lang="en-US" altLang="ko-KR" baseline="0" dirty="0" smtClean="0"/>
          </a:p>
          <a:p>
            <a:r>
              <a:rPr lang="en-US" altLang="ko-KR" baseline="0" dirty="0" smtClean="0"/>
              <a:t>Master</a:t>
            </a:r>
            <a:r>
              <a:rPr lang="ko-KR" altLang="en-US" baseline="0" dirty="0" err="1" smtClean="0"/>
              <a:t>브랜치에서</a:t>
            </a:r>
            <a:r>
              <a:rPr lang="ko-KR" altLang="en-US" baseline="0" dirty="0" smtClean="0"/>
              <a:t> 새로운 </a:t>
            </a:r>
            <a:r>
              <a:rPr lang="en-US" altLang="ko-KR" baseline="0" dirty="0" smtClean="0"/>
              <a:t>4</a:t>
            </a:r>
            <a:r>
              <a:rPr lang="ko-KR" altLang="en-US" baseline="0" dirty="0" smtClean="0"/>
              <a:t>월 </a:t>
            </a:r>
            <a:r>
              <a:rPr lang="en-US" altLang="ko-KR" baseline="0" dirty="0" smtClean="0"/>
              <a:t>release (0428</a:t>
            </a:r>
            <a:r>
              <a:rPr lang="ko-KR" altLang="en-US" baseline="0" dirty="0" smtClean="0"/>
              <a:t>로 </a:t>
            </a:r>
            <a:r>
              <a:rPr lang="en-US" altLang="ko-KR" baseline="0" dirty="0" smtClean="0"/>
              <a:t>)</a:t>
            </a:r>
            <a:r>
              <a:rPr lang="ko-KR" altLang="en-US" baseline="0" dirty="0" smtClean="0"/>
              <a:t>생성</a:t>
            </a:r>
            <a:r>
              <a:rPr lang="en-US" altLang="ko-KR" baseline="0" dirty="0" smtClean="0"/>
              <a:t>  </a:t>
            </a:r>
          </a:p>
          <a:p>
            <a:r>
              <a:rPr lang="ko-KR" altLang="en-US" baseline="0" dirty="0" smtClean="0"/>
              <a:t>체크인 </a:t>
            </a:r>
            <a:r>
              <a:rPr lang="ko-KR" altLang="en-US" baseline="0" dirty="0" err="1" smtClean="0"/>
              <a:t>할때</a:t>
            </a:r>
            <a:r>
              <a:rPr lang="ko-KR" altLang="en-US" baseline="0" dirty="0" smtClean="0"/>
              <a:t> 항상 </a:t>
            </a:r>
            <a:r>
              <a:rPr lang="en-US" altLang="ko-KR" baseline="0" dirty="0" smtClean="0"/>
              <a:t>RP</a:t>
            </a:r>
            <a:r>
              <a:rPr lang="ko-KR" altLang="en-US" baseline="0" dirty="0" smtClean="0"/>
              <a:t>가 필요 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기존 </a:t>
            </a:r>
            <a:r>
              <a:rPr lang="en-US" altLang="ko-KR" baseline="0" dirty="0" smtClean="0"/>
              <a:t>feature</a:t>
            </a:r>
            <a:r>
              <a:rPr lang="ko-KR" altLang="en-US" baseline="0" dirty="0" smtClean="0"/>
              <a:t>는 새로 생성이 필요합니다</a:t>
            </a:r>
            <a:r>
              <a:rPr lang="en-US" altLang="ko-KR" baseline="0" dirty="0" smtClean="0"/>
              <a:t>. </a:t>
            </a:r>
          </a:p>
          <a:p>
            <a:r>
              <a:rPr lang="en-US" altLang="ko-KR" baseline="0" dirty="0" err="1" smtClean="0"/>
              <a:t>Metainfo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QA release </a:t>
            </a:r>
            <a:r>
              <a:rPr lang="ko-KR" altLang="en-US" baseline="0" dirty="0" smtClean="0"/>
              <a:t>를 따라 적용됩니다</a:t>
            </a:r>
            <a:r>
              <a:rPr lang="en-US" altLang="ko-KR" baseline="0" dirty="0" smtClean="0"/>
              <a:t>. </a:t>
            </a:r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C939C-95FC-49BF-BA43-9A594F81F362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29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64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998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75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00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37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14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59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21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232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18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495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8" y="228601"/>
            <a:ext cx="11151917" cy="6663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48" y="1447800"/>
            <a:ext cx="11151917" cy="19735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2813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3EF11-C14A-460E-BC54-69CB9FFF3BD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917AA-2338-4DB1-A553-6D67AEEF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55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NEXACRO 17 </a:t>
            </a:r>
            <a:r>
              <a:rPr lang="ko-KR" altLang="en-US" dirty="0" err="1" smtClean="0"/>
              <a:t>브랜치전략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2017/1/4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7245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41"/>
          <p:cNvSpPr/>
          <p:nvPr/>
        </p:nvSpPr>
        <p:spPr bwMode="auto">
          <a:xfrm>
            <a:off x="377196" y="617479"/>
            <a:ext cx="11399690" cy="82550"/>
          </a:xfrm>
          <a:prstGeom prst="rect">
            <a:avLst/>
          </a:prstGeom>
          <a:solidFill>
            <a:srgbClr val="9B4F9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CA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2" name="Title 1"/>
          <p:cNvSpPr txBox="1">
            <a:spLocks/>
          </p:cNvSpPr>
          <p:nvPr/>
        </p:nvSpPr>
        <p:spPr>
          <a:xfrm>
            <a:off x="324308" y="238125"/>
            <a:ext cx="1139969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 dirty="0" smtClean="0">
                <a:ln w="3175">
                  <a:noFill/>
                </a:ln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86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  <a:tileRect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pPr>
              <a:tabLst>
                <a:tab pos="111125" algn="l"/>
                <a:tab pos="11314113" algn="r"/>
              </a:tabLst>
            </a:pPr>
            <a:r>
              <a:rPr lang="ko-KR" altLang="en-US" sz="2800" dirty="0" smtClean="0">
                <a:solidFill>
                  <a:srgbClr val="9B4F96"/>
                </a:solidFill>
              </a:rPr>
              <a:t>버전 </a:t>
            </a:r>
            <a:r>
              <a:rPr lang="en-US" altLang="ko-KR" sz="2800" dirty="0" smtClean="0">
                <a:solidFill>
                  <a:srgbClr val="9B4F96"/>
                </a:solidFill>
              </a:rPr>
              <a:t>HISTORY</a:t>
            </a:r>
            <a:endParaRPr lang="ko-KR" altLang="en-US" sz="2800" dirty="0">
              <a:solidFill>
                <a:srgbClr val="9B4F96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014458"/>
              </p:ext>
            </p:extLst>
          </p:nvPr>
        </p:nvGraphicFramePr>
        <p:xfrm>
          <a:off x="377196" y="785754"/>
          <a:ext cx="11399690" cy="5561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953"/>
                <a:gridCol w="2541630"/>
                <a:gridCol w="1763427"/>
                <a:gridCol w="5755680"/>
              </a:tblGrid>
              <a:tr h="4715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버전</a:t>
                      </a:r>
                      <a:endParaRPr lang="ko-KR" altLang="en-US" dirty="0"/>
                    </a:p>
                  </a:txBody>
                  <a:tcPr marL="91464" marR="9146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작업일</a:t>
                      </a:r>
                      <a:endParaRPr lang="ko-KR" altLang="en-US" dirty="0"/>
                    </a:p>
                  </a:txBody>
                  <a:tcPr marL="91464" marR="9146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작성자</a:t>
                      </a:r>
                      <a:endParaRPr lang="ko-KR" altLang="en-US" dirty="0"/>
                    </a:p>
                  </a:txBody>
                  <a:tcPr marL="91464" marR="9146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작업내용</a:t>
                      </a:r>
                      <a:endParaRPr lang="ko-KR" altLang="en-US" dirty="0"/>
                    </a:p>
                  </a:txBody>
                  <a:tcPr marL="91464" marR="91464"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/>
                        <a:t>0.9</a:t>
                      </a:r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/>
                        <a:t>2017.01.04</a:t>
                      </a:r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 smtClean="0"/>
                        <a:t>조한형</a:t>
                      </a:r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err="1" smtClean="0"/>
                        <a:t>릴리즈</a:t>
                      </a:r>
                      <a:r>
                        <a:rPr lang="en-US" altLang="ko-KR" sz="1800" dirty="0" smtClean="0"/>
                        <a:t>, </a:t>
                      </a:r>
                      <a:r>
                        <a:rPr lang="ko-KR" altLang="en-US" sz="1800" dirty="0" err="1" smtClean="0"/>
                        <a:t>피처브랜치</a:t>
                      </a:r>
                      <a:r>
                        <a:rPr lang="ko-KR" altLang="en-US" sz="1800" dirty="0" smtClean="0"/>
                        <a:t> 화면분리 및 내용정리</a:t>
                      </a:r>
                      <a:endParaRPr lang="en-US" altLang="ko-KR" sz="1800" dirty="0" smtClean="0"/>
                    </a:p>
                    <a:p>
                      <a:pPr latinLnBrk="1"/>
                      <a:r>
                        <a:rPr lang="ko-KR" altLang="en-US" sz="1800" dirty="0" smtClean="0"/>
                        <a:t>일부 일정내용 보완</a:t>
                      </a:r>
                      <a:endParaRPr lang="ko-KR" altLang="en-US" sz="18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/>
                        <a:t>0.91</a:t>
                      </a:r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/>
                        <a:t>2017.01.10</a:t>
                      </a:r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 smtClean="0"/>
                        <a:t>조한형</a:t>
                      </a:r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err="1" smtClean="0"/>
                        <a:t>일부오타</a:t>
                      </a:r>
                      <a:r>
                        <a:rPr lang="ko-KR" altLang="en-US" sz="1800" dirty="0" smtClean="0"/>
                        <a:t> 수정 및 부서별 역할 추가</a:t>
                      </a:r>
                      <a:endParaRPr lang="ko-KR" altLang="en-US" sz="18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2017.04.18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강소영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신규 </a:t>
                      </a:r>
                      <a:r>
                        <a:rPr lang="ko-KR" altLang="en-US" sz="1600" dirty="0" err="1" smtClean="0"/>
                        <a:t>브랜치</a:t>
                      </a:r>
                      <a:r>
                        <a:rPr lang="ko-KR" altLang="en-US" sz="1600" smtClean="0"/>
                        <a:t> 전략 수정</a:t>
                      </a:r>
                      <a:endParaRPr lang="ko-KR" altLang="en-US" sz="16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64" marR="91464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2216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383" y="75954"/>
            <a:ext cx="106159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Release </a:t>
            </a:r>
            <a:r>
              <a:rPr lang="ko-KR" altLang="en-US" b="1" dirty="0" err="1" smtClean="0"/>
              <a:t>브랜치</a:t>
            </a:r>
            <a:r>
              <a:rPr lang="ko-KR" altLang="en-US" b="1" dirty="0" smtClean="0"/>
              <a:t> 운영전략</a:t>
            </a:r>
            <a:endParaRPr lang="en-US" altLang="ko-KR" b="1" dirty="0" smtClean="0"/>
          </a:p>
          <a:p>
            <a:pPr marL="800100" lvl="1" indent="-342900">
              <a:buAutoNum type="arabicPeriod"/>
            </a:pPr>
            <a:r>
              <a:rPr lang="en-US" altLang="ko-KR" dirty="0" err="1" smtClean="0"/>
              <a:t>Relese</a:t>
            </a:r>
            <a:r>
              <a:rPr lang="ko-KR" altLang="en-US" dirty="0" err="1" smtClean="0"/>
              <a:t>브랜치는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1</a:t>
            </a:r>
            <a:r>
              <a:rPr lang="ko-KR" altLang="en-US" dirty="0" err="1" smtClean="0"/>
              <a:t>달간격으로</a:t>
            </a:r>
            <a:r>
              <a:rPr lang="ko-KR" altLang="en-US" dirty="0" smtClean="0"/>
              <a:t> 운영한다</a:t>
            </a:r>
            <a:r>
              <a:rPr lang="en-US" altLang="ko-KR" dirty="0"/>
              <a:t>. (2017.1.10 </a:t>
            </a:r>
            <a:r>
              <a:rPr lang="ko-KR" altLang="en-US" dirty="0"/>
              <a:t>정기배포간격 및 일정미정</a:t>
            </a:r>
            <a:r>
              <a:rPr lang="en-US" altLang="ko-KR" dirty="0"/>
              <a:t>: </a:t>
            </a:r>
            <a:r>
              <a:rPr lang="ko-KR" altLang="en-US" dirty="0"/>
              <a:t>확정필요</a:t>
            </a:r>
            <a:r>
              <a:rPr lang="en-US" altLang="ko-KR" dirty="0"/>
              <a:t>)</a:t>
            </a:r>
            <a:endParaRPr lang="en-US" altLang="ko-KR" dirty="0" smtClean="0"/>
          </a:p>
          <a:p>
            <a:pPr marL="800100" lvl="1" indent="-342900">
              <a:buAutoNum type="arabicPeriod"/>
            </a:pPr>
            <a:r>
              <a:rPr lang="ko-KR" altLang="en-US" dirty="0" smtClean="0"/>
              <a:t>해당월 </a:t>
            </a:r>
            <a:r>
              <a:rPr lang="ko-KR" altLang="en-US" dirty="0" err="1" smtClean="0"/>
              <a:t>릴리즈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브랜치</a:t>
            </a:r>
            <a:r>
              <a:rPr lang="en-US" altLang="ko-KR" dirty="0" smtClean="0"/>
              <a:t>: M</a:t>
            </a:r>
            <a:r>
              <a:rPr lang="ko-KR" altLang="en-US" dirty="0" err="1" smtClean="0"/>
              <a:t>브랜치</a:t>
            </a:r>
            <a:endParaRPr lang="en-US" altLang="ko-KR" dirty="0" smtClean="0"/>
          </a:p>
          <a:p>
            <a:pPr marL="800100" lvl="1" indent="-342900">
              <a:buAutoNum type="arabicPeriod"/>
            </a:pPr>
            <a:r>
              <a:rPr lang="ko-KR" altLang="en-US" dirty="0" smtClean="0"/>
              <a:t>차월 </a:t>
            </a:r>
            <a:r>
              <a:rPr lang="ko-KR" altLang="en-US" dirty="0" err="1" smtClean="0"/>
              <a:t>릴리즈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</a:t>
            </a:r>
            <a:r>
              <a:rPr lang="en-US" altLang="ko-KR" dirty="0" smtClean="0"/>
              <a:t>: M+1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라 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800100" lvl="1" indent="-342900">
              <a:buAutoNum type="arabicPeriod"/>
            </a:pPr>
            <a:r>
              <a:rPr lang="ko-KR" altLang="en-US" dirty="0" err="1" smtClean="0"/>
              <a:t>프리징은</a:t>
            </a:r>
            <a:r>
              <a:rPr lang="ko-KR" altLang="en-US" dirty="0" smtClean="0"/>
              <a:t> </a:t>
            </a:r>
            <a:r>
              <a:rPr lang="en-US" altLang="ko-KR" dirty="0" smtClean="0"/>
              <a:t>1</a:t>
            </a:r>
            <a:r>
              <a:rPr lang="ko-KR" altLang="en-US" dirty="0"/>
              <a:t>개월 </a:t>
            </a:r>
            <a:r>
              <a:rPr lang="en-US" altLang="ko-KR" dirty="0"/>
              <a:t>2</a:t>
            </a:r>
            <a:r>
              <a:rPr lang="ko-KR" altLang="en-US" dirty="0"/>
              <a:t>주기간 </a:t>
            </a:r>
            <a:r>
              <a:rPr lang="ko-KR" altLang="en-US" dirty="0" smtClean="0"/>
              <a:t>으로 한다</a:t>
            </a:r>
            <a:r>
              <a:rPr lang="en-US" altLang="ko-KR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dirty="0" err="1" smtClean="0"/>
              <a:t>프리징</a:t>
            </a:r>
            <a:r>
              <a:rPr lang="ko-KR" altLang="en-US" dirty="0" smtClean="0"/>
              <a:t> </a:t>
            </a:r>
            <a:r>
              <a:rPr lang="ko-KR" altLang="en-US" dirty="0"/>
              <a:t>생성 동시에 </a:t>
            </a:r>
            <a:r>
              <a:rPr lang="en-US" altLang="ko-KR" dirty="0" smtClean="0"/>
              <a:t>M+1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생성한다</a:t>
            </a:r>
            <a:r>
              <a:rPr lang="en-US" altLang="ko-KR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dirty="0" smtClean="0"/>
              <a:t>2</a:t>
            </a:r>
            <a:r>
              <a:rPr lang="ko-KR" altLang="en-US" dirty="0" err="1" smtClean="0"/>
              <a:t>주프리징의</a:t>
            </a:r>
            <a:r>
              <a:rPr lang="ko-KR" altLang="en-US" dirty="0" smtClean="0"/>
              <a:t> 테스트완료 후 배포한다</a:t>
            </a:r>
            <a:r>
              <a:rPr lang="en-US" altLang="ko-KR" dirty="0" smtClean="0"/>
              <a:t>.</a:t>
            </a:r>
          </a:p>
          <a:p>
            <a:pPr marL="800100" lvl="1" indent="-342900">
              <a:buAutoNum type="arabicPeriod"/>
            </a:pPr>
            <a:endParaRPr lang="en-US" altLang="ko-KR" dirty="0"/>
          </a:p>
          <a:p>
            <a:pPr lvl="1"/>
            <a:r>
              <a:rPr lang="ko-KR" altLang="en-US" b="1" dirty="0" smtClean="0"/>
              <a:t>개발자</a:t>
            </a:r>
            <a:endParaRPr lang="en-US" altLang="ko-KR" b="1" dirty="0" smtClean="0"/>
          </a:p>
          <a:p>
            <a:pPr marL="800100" lvl="1" indent="-342900">
              <a:buAutoNum type="arabicPeriod"/>
            </a:pPr>
            <a:r>
              <a:rPr lang="en-US" altLang="ko-KR" dirty="0" smtClean="0"/>
              <a:t>M </a:t>
            </a:r>
            <a:r>
              <a:rPr lang="ko-KR" altLang="en-US" dirty="0" err="1" smtClean="0"/>
              <a:t>브랜치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프리징기간에는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QA</a:t>
            </a:r>
            <a:r>
              <a:rPr lang="ko-KR" altLang="en-US" dirty="0" smtClean="0"/>
              <a:t>발견 </a:t>
            </a:r>
            <a:r>
              <a:rPr lang="ko-KR" altLang="en-US" dirty="0" err="1" smtClean="0"/>
              <a:t>버그픽스</a:t>
            </a:r>
            <a:r>
              <a:rPr lang="ko-KR" altLang="en-US" dirty="0" smtClean="0"/>
              <a:t> 작업한다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작업기간 동안 발생한 </a:t>
            </a:r>
            <a:r>
              <a:rPr lang="en-US" altLang="ko-KR" dirty="0" smtClean="0"/>
              <a:t>Hotfix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Main</a:t>
            </a:r>
            <a:r>
              <a:rPr lang="ko-KR" altLang="en-US" dirty="0" smtClean="0"/>
              <a:t>과 같이 반영해야 한다</a:t>
            </a:r>
            <a:r>
              <a:rPr lang="en-US" altLang="ko-KR" dirty="0" smtClean="0"/>
              <a:t>. </a:t>
            </a:r>
          </a:p>
          <a:p>
            <a:pPr lvl="1"/>
            <a:r>
              <a:rPr lang="en-US" altLang="ko-KR" dirty="0" smtClean="0"/>
              <a:t>2. M+1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</a:t>
            </a:r>
            <a:r>
              <a:rPr lang="en-US" altLang="ko-KR" dirty="0" smtClean="0"/>
              <a:t>:</a:t>
            </a:r>
            <a:r>
              <a:rPr lang="ko-KR" altLang="en-US" dirty="0" err="1" smtClean="0"/>
              <a:t>릴리즈에</a:t>
            </a:r>
            <a:r>
              <a:rPr lang="ko-KR" altLang="en-US" dirty="0" smtClean="0"/>
              <a:t> 차월반영 </a:t>
            </a:r>
            <a:r>
              <a:rPr lang="en-US" altLang="ko-KR" dirty="0" smtClean="0"/>
              <a:t>RP </a:t>
            </a:r>
            <a:r>
              <a:rPr lang="ko-KR" altLang="en-US" dirty="0" smtClean="0"/>
              <a:t>개발작업 한다</a:t>
            </a:r>
            <a:r>
              <a:rPr lang="en-US" altLang="ko-KR" dirty="0" smtClean="0"/>
              <a:t>. (</a:t>
            </a:r>
            <a:r>
              <a:rPr lang="ko-KR" altLang="en-US" dirty="0" err="1" smtClean="0"/>
              <a:t>차월정기프리징전까지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3. M+1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프리징</a:t>
            </a:r>
            <a:r>
              <a:rPr lang="ko-KR" altLang="en-US" dirty="0" smtClean="0"/>
              <a:t> 기간에 </a:t>
            </a:r>
            <a:r>
              <a:rPr lang="ko-KR" altLang="en-US" dirty="0"/>
              <a:t>발생한 </a:t>
            </a:r>
            <a:r>
              <a:rPr lang="en-US" altLang="ko-KR" dirty="0"/>
              <a:t>Hotfix</a:t>
            </a:r>
            <a:r>
              <a:rPr lang="ko-KR" altLang="en-US" dirty="0"/>
              <a:t>는 </a:t>
            </a:r>
            <a:r>
              <a:rPr lang="en-US" altLang="ko-KR" dirty="0"/>
              <a:t>Main</a:t>
            </a:r>
            <a:r>
              <a:rPr lang="ko-KR" altLang="en-US" dirty="0"/>
              <a:t>과 같이 반영해야 한다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 smtClean="0"/>
              <a:t>4. M+1</a:t>
            </a:r>
            <a:r>
              <a:rPr lang="ko-KR" altLang="en-US" dirty="0" err="1" smtClean="0"/>
              <a:t>브랜치</a:t>
            </a:r>
            <a:r>
              <a:rPr lang="en-US" altLang="ko-KR" dirty="0"/>
              <a:t> </a:t>
            </a:r>
            <a:r>
              <a:rPr lang="en-US" altLang="ko-KR" dirty="0" smtClean="0"/>
              <a:t>: M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피드백을 같이</a:t>
            </a:r>
            <a:r>
              <a:rPr lang="en-US" altLang="ko-KR" dirty="0" smtClean="0"/>
              <a:t> </a:t>
            </a:r>
            <a:r>
              <a:rPr lang="ko-KR" altLang="en-US" dirty="0" smtClean="0"/>
              <a:t>반영해야 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  <a:p>
            <a:pPr lvl="1"/>
            <a:r>
              <a:rPr lang="ko-KR" altLang="en-US" b="1" dirty="0" err="1"/>
              <a:t>브랜치</a:t>
            </a:r>
            <a:r>
              <a:rPr lang="ko-KR" altLang="en-US" b="1" dirty="0"/>
              <a:t> 관리자 </a:t>
            </a:r>
            <a:endParaRPr lang="en-US" altLang="ko-KR" b="1" dirty="0"/>
          </a:p>
          <a:p>
            <a:pPr marL="800100" lvl="1" indent="-342900">
              <a:buAutoNum type="arabicPeriod"/>
            </a:pPr>
            <a:r>
              <a:rPr lang="en-US" altLang="ko-KR" dirty="0" smtClean="0"/>
              <a:t>M</a:t>
            </a:r>
            <a:r>
              <a:rPr lang="ko-KR" altLang="en-US" dirty="0" err="1" smtClean="0"/>
              <a:t>브랜치</a:t>
            </a:r>
            <a:r>
              <a:rPr lang="en-US" altLang="ko-KR" dirty="0" smtClean="0"/>
              <a:t>:</a:t>
            </a:r>
            <a:r>
              <a:rPr lang="ko-KR" altLang="en-US" dirty="0" smtClean="0"/>
              <a:t>배포 완료 후 </a:t>
            </a:r>
            <a:r>
              <a:rPr lang="ko-KR" altLang="en-US" dirty="0" err="1" smtClean="0"/>
              <a:t>메인에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오버라이트</a:t>
            </a:r>
            <a:r>
              <a:rPr lang="ko-KR" altLang="en-US" dirty="0" smtClean="0"/>
              <a:t> 한다</a:t>
            </a:r>
            <a:r>
              <a:rPr lang="en-US" altLang="ko-KR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dirty="0" err="1" smtClean="0"/>
              <a:t>메인에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오버라이트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작업시</a:t>
            </a:r>
            <a:r>
              <a:rPr lang="ko-KR" altLang="en-US" dirty="0"/>
              <a:t> </a:t>
            </a:r>
            <a:r>
              <a:rPr lang="ko-KR" altLang="en-US" dirty="0" smtClean="0"/>
              <a:t>다</a:t>
            </a:r>
            <a:r>
              <a:rPr lang="ko-KR" altLang="en-US" dirty="0"/>
              <a:t>른</a:t>
            </a:r>
            <a:r>
              <a:rPr lang="en-US" altLang="ko-KR" dirty="0" smtClean="0"/>
              <a:t> </a:t>
            </a:r>
            <a:r>
              <a:rPr lang="ko-KR" altLang="en-US" dirty="0" smtClean="0"/>
              <a:t>소스 유입이 없어야 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 smtClean="0"/>
              <a:t>QA</a:t>
            </a:r>
          </a:p>
          <a:p>
            <a:pPr marL="800100" lvl="1" indent="-342900">
              <a:buAutoNum type="arabicPeriod"/>
            </a:pPr>
            <a:r>
              <a:rPr lang="en-US" altLang="ko-KR" dirty="0" smtClean="0"/>
              <a:t>M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</a:t>
            </a:r>
            <a:r>
              <a:rPr lang="en-US" altLang="ko-KR" dirty="0" smtClean="0"/>
              <a:t>: 2</a:t>
            </a:r>
            <a:r>
              <a:rPr lang="ko-KR" altLang="en-US" dirty="0" smtClean="0"/>
              <a:t>주기간 테스트한다</a:t>
            </a:r>
            <a:r>
              <a:rPr lang="en-US" altLang="ko-KR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dirty="0" smtClean="0"/>
              <a:t>M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배포일정에 따라 배포한다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9936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직선 연결선 229"/>
          <p:cNvCxnSpPr/>
          <p:nvPr/>
        </p:nvCxnSpPr>
        <p:spPr>
          <a:xfrm flipH="1">
            <a:off x="3877399" y="1302471"/>
            <a:ext cx="23919" cy="4331195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126901" y="3461618"/>
            <a:ext cx="10604341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6786" y="3310204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 dirty="0" smtClean="0"/>
              <a:t>main</a:t>
            </a:r>
            <a:endParaRPr lang="ko-KR" altLang="en-US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-86783" y="5135067"/>
            <a:ext cx="1615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 smtClean="0"/>
              <a:t>Release M+1</a:t>
            </a:r>
            <a:endParaRPr lang="ko-KR" altLang="en-US" sz="1400" dirty="0"/>
          </a:p>
        </p:txBody>
      </p:sp>
      <p:cxnSp>
        <p:nvCxnSpPr>
          <p:cNvPr id="16" name="직선 연결선 15"/>
          <p:cNvCxnSpPr/>
          <p:nvPr/>
        </p:nvCxnSpPr>
        <p:spPr>
          <a:xfrm>
            <a:off x="1139938" y="2434990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139938" y="3455600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234818" y="3445086"/>
            <a:ext cx="10335402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32" idx="4"/>
            <a:endCxn id="133" idx="4"/>
          </p:cNvCxnSpPr>
          <p:nvPr/>
        </p:nvCxnSpPr>
        <p:spPr>
          <a:xfrm flipV="1">
            <a:off x="2233960" y="2543577"/>
            <a:ext cx="210412" cy="104145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타원 60"/>
          <p:cNvSpPr/>
          <p:nvPr/>
        </p:nvSpPr>
        <p:spPr>
          <a:xfrm>
            <a:off x="106948" y="3347715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/>
          <p:cNvSpPr/>
          <p:nvPr/>
        </p:nvSpPr>
        <p:spPr>
          <a:xfrm>
            <a:off x="103835" y="5341251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4139866" y="2585025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8/7 : 8</a:t>
            </a:r>
            <a:r>
              <a:rPr lang="ko-KR" altLang="en-US" sz="800" dirty="0" smtClean="0"/>
              <a:t>월 정기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RELEASE</a:t>
            </a:r>
            <a:r>
              <a:rPr lang="en-US" altLang="ko-KR" sz="800" b="1" dirty="0">
                <a:latin typeface="+mn-ea"/>
              </a:rPr>
              <a:t>/RELEASE_17.08.23.00</a:t>
            </a:r>
            <a:endParaRPr lang="ko-KR" altLang="en-US" sz="800" b="1" dirty="0"/>
          </a:p>
        </p:txBody>
      </p:sp>
      <p:sp>
        <p:nvSpPr>
          <p:cNvPr id="75" name="직사각형 74"/>
          <p:cNvSpPr/>
          <p:nvPr/>
        </p:nvSpPr>
        <p:spPr>
          <a:xfrm>
            <a:off x="6607274" y="224039"/>
            <a:ext cx="5189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7</a:t>
            </a:r>
            <a:r>
              <a:rPr lang="ko-KR" altLang="en-US" dirty="0" err="1" smtClean="0"/>
              <a:t>월정기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(deploy:7/26, codefreezing:7/12~7/25)</a:t>
            </a:r>
            <a:endParaRPr lang="ko-KR" altLang="en-US" dirty="0"/>
          </a:p>
        </p:txBody>
      </p:sp>
      <p:sp>
        <p:nvSpPr>
          <p:cNvPr id="82" name="타원 81"/>
          <p:cNvSpPr/>
          <p:nvPr/>
        </p:nvSpPr>
        <p:spPr>
          <a:xfrm>
            <a:off x="4005706" y="229646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연결선 90"/>
          <p:cNvCxnSpPr>
            <a:endCxn id="82" idx="0"/>
          </p:cNvCxnSpPr>
          <p:nvPr/>
        </p:nvCxnSpPr>
        <p:spPr>
          <a:xfrm>
            <a:off x="4122083" y="2131409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3" name="타원 92"/>
          <p:cNvSpPr/>
          <p:nvPr/>
        </p:nvSpPr>
        <p:spPr>
          <a:xfrm>
            <a:off x="4476367" y="229646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/>
          <p:cNvSpPr/>
          <p:nvPr/>
        </p:nvSpPr>
        <p:spPr>
          <a:xfrm>
            <a:off x="4947029" y="229646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6" name="직선 화살표 연결선 95"/>
          <p:cNvCxnSpPr>
            <a:stCxn id="82" idx="6"/>
            <a:endCxn id="93" idx="2"/>
          </p:cNvCxnSpPr>
          <p:nvPr/>
        </p:nvCxnSpPr>
        <p:spPr>
          <a:xfrm>
            <a:off x="4238461" y="2412841"/>
            <a:ext cx="237906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93" idx="6"/>
            <a:endCxn id="94" idx="2"/>
          </p:cNvCxnSpPr>
          <p:nvPr/>
        </p:nvCxnSpPr>
        <p:spPr>
          <a:xfrm>
            <a:off x="4709122" y="2412841"/>
            <a:ext cx="237907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3" name="타원 102"/>
          <p:cNvSpPr/>
          <p:nvPr/>
        </p:nvSpPr>
        <p:spPr>
          <a:xfrm>
            <a:off x="5419676" y="229646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화살표 연결선 103"/>
          <p:cNvCxnSpPr>
            <a:stCxn id="94" idx="6"/>
            <a:endCxn id="103" idx="2"/>
          </p:cNvCxnSpPr>
          <p:nvPr/>
        </p:nvCxnSpPr>
        <p:spPr>
          <a:xfrm>
            <a:off x="5179784" y="2412841"/>
            <a:ext cx="239892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직선 연결선 104"/>
          <p:cNvCxnSpPr>
            <a:endCxn id="103" idx="0"/>
          </p:cNvCxnSpPr>
          <p:nvPr/>
        </p:nvCxnSpPr>
        <p:spPr>
          <a:xfrm>
            <a:off x="5536053" y="2131409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2" name="타원 131"/>
          <p:cNvSpPr/>
          <p:nvPr/>
        </p:nvSpPr>
        <p:spPr>
          <a:xfrm>
            <a:off x="2117582" y="3352275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2560749" y="3059834"/>
            <a:ext cx="17988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rgbClr val="FF0000"/>
                </a:solidFill>
              </a:rPr>
              <a:t>tag:hotfix-16.07.29.01_14.0.1.410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324941" y="2013753"/>
            <a:ext cx="1028955" cy="2154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 smtClean="0"/>
              <a:t>프리징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8/8~8/22</a:t>
            </a:r>
            <a:endParaRPr lang="ko-KR" altLang="en-US" sz="1100" dirty="0"/>
          </a:p>
        </p:txBody>
      </p:sp>
      <p:cxnSp>
        <p:nvCxnSpPr>
          <p:cNvPr id="155" name="직선 화살표 연결선 154"/>
          <p:cNvCxnSpPr>
            <a:stCxn id="100" idx="3"/>
          </p:cNvCxnSpPr>
          <p:nvPr/>
        </p:nvCxnSpPr>
        <p:spPr>
          <a:xfrm>
            <a:off x="5353896" y="2121475"/>
            <a:ext cx="162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/>
          <p:cNvCxnSpPr>
            <a:stCxn id="100" idx="1"/>
          </p:cNvCxnSpPr>
          <p:nvPr/>
        </p:nvCxnSpPr>
        <p:spPr>
          <a:xfrm flipH="1">
            <a:off x="4139866" y="2121475"/>
            <a:ext cx="185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타원 174"/>
          <p:cNvSpPr/>
          <p:nvPr/>
        </p:nvSpPr>
        <p:spPr>
          <a:xfrm>
            <a:off x="6501923" y="3343025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7" name="TextBox 176"/>
          <p:cNvSpPr txBox="1"/>
          <p:nvPr/>
        </p:nvSpPr>
        <p:spPr>
          <a:xfrm>
            <a:off x="6399900" y="2704429"/>
            <a:ext cx="18517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tag:release-17.08.23.00_14.0.1.500</a:t>
            </a:r>
            <a:endParaRPr lang="ko-KR" altLang="en-US" sz="800" b="1" dirty="0"/>
          </a:p>
        </p:txBody>
      </p:sp>
      <p:cxnSp>
        <p:nvCxnSpPr>
          <p:cNvPr id="184" name="직선 화살표 연결선 183"/>
          <p:cNvCxnSpPr>
            <a:stCxn id="192" idx="4"/>
            <a:endCxn id="175" idx="0"/>
          </p:cNvCxnSpPr>
          <p:nvPr/>
        </p:nvCxnSpPr>
        <p:spPr>
          <a:xfrm>
            <a:off x="6069729" y="2531073"/>
            <a:ext cx="548572" cy="8119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5" name="타원 244"/>
          <p:cNvSpPr/>
          <p:nvPr/>
        </p:nvSpPr>
        <p:spPr>
          <a:xfrm>
            <a:off x="1295886" y="3352275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9" name="직선 화살표 연결선 328"/>
          <p:cNvCxnSpPr>
            <a:stCxn id="245" idx="6"/>
            <a:endCxn id="132" idx="2"/>
          </p:cNvCxnSpPr>
          <p:nvPr/>
        </p:nvCxnSpPr>
        <p:spPr>
          <a:xfrm>
            <a:off x="1528641" y="3468653"/>
            <a:ext cx="588941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2" name="직선 화살표 연결선 331"/>
          <p:cNvCxnSpPr>
            <a:stCxn id="132" idx="6"/>
            <a:endCxn id="175" idx="2"/>
          </p:cNvCxnSpPr>
          <p:nvPr/>
        </p:nvCxnSpPr>
        <p:spPr>
          <a:xfrm flipV="1">
            <a:off x="2350337" y="3459403"/>
            <a:ext cx="4151586" cy="925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6" name="타원 215"/>
          <p:cNvSpPr/>
          <p:nvPr/>
        </p:nvSpPr>
        <p:spPr>
          <a:xfrm>
            <a:off x="11509169" y="3343962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8" name="직선 화살표 연결선 217"/>
          <p:cNvCxnSpPr>
            <a:stCxn id="175" idx="6"/>
            <a:endCxn id="196" idx="2"/>
          </p:cNvCxnSpPr>
          <p:nvPr/>
        </p:nvCxnSpPr>
        <p:spPr>
          <a:xfrm>
            <a:off x="6734678" y="3459403"/>
            <a:ext cx="3525283" cy="54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8336280" y="5421384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9/7 : 9</a:t>
            </a:r>
            <a:r>
              <a:rPr lang="ko-KR" altLang="en-US" sz="800" dirty="0" smtClean="0"/>
              <a:t>월 정기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RELEASE/</a:t>
            </a:r>
            <a:r>
              <a:rPr lang="en-US" altLang="ko-KR" sz="800" b="1" dirty="0">
                <a:latin typeface="+mn-ea"/>
              </a:rPr>
              <a:t>RELEASE</a:t>
            </a:r>
            <a:r>
              <a:rPr lang="en-US" altLang="ko-KR" sz="800" b="1" dirty="0" smtClean="0">
                <a:latin typeface="+mn-ea"/>
              </a:rPr>
              <a:t>_17.09.27.00</a:t>
            </a:r>
            <a:endParaRPr lang="ko-KR" altLang="en-US" sz="800" b="1" dirty="0"/>
          </a:p>
        </p:txBody>
      </p:sp>
      <p:sp>
        <p:nvSpPr>
          <p:cNvPr id="143" name="타원 142"/>
          <p:cNvSpPr/>
          <p:nvPr/>
        </p:nvSpPr>
        <p:spPr>
          <a:xfrm>
            <a:off x="8202120" y="5132822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4" name="직선 연결선 143"/>
          <p:cNvCxnSpPr>
            <a:endCxn id="143" idx="0"/>
          </p:cNvCxnSpPr>
          <p:nvPr/>
        </p:nvCxnSpPr>
        <p:spPr>
          <a:xfrm>
            <a:off x="8318497" y="4967768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5" name="타원 144"/>
          <p:cNvSpPr/>
          <p:nvPr/>
        </p:nvSpPr>
        <p:spPr>
          <a:xfrm>
            <a:off x="8672781" y="5132822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타원 145"/>
          <p:cNvSpPr/>
          <p:nvPr/>
        </p:nvSpPr>
        <p:spPr>
          <a:xfrm>
            <a:off x="9105343" y="5142347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0" name="직선 화살표 연결선 149"/>
          <p:cNvCxnSpPr>
            <a:stCxn id="143" idx="6"/>
            <a:endCxn id="145" idx="2"/>
          </p:cNvCxnSpPr>
          <p:nvPr/>
        </p:nvCxnSpPr>
        <p:spPr>
          <a:xfrm>
            <a:off x="8434875" y="5249200"/>
            <a:ext cx="237906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1" name="직선 화살표 연결선 150"/>
          <p:cNvCxnSpPr>
            <a:stCxn id="145" idx="6"/>
            <a:endCxn id="146" idx="2"/>
          </p:cNvCxnSpPr>
          <p:nvPr/>
        </p:nvCxnSpPr>
        <p:spPr>
          <a:xfrm>
            <a:off x="8905536" y="5249200"/>
            <a:ext cx="199807" cy="952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2" name="타원 151"/>
          <p:cNvSpPr/>
          <p:nvPr/>
        </p:nvSpPr>
        <p:spPr>
          <a:xfrm>
            <a:off x="9616090" y="5132822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3" name="직선 화살표 연결선 152"/>
          <p:cNvCxnSpPr>
            <a:stCxn id="146" idx="6"/>
            <a:endCxn id="152" idx="2"/>
          </p:cNvCxnSpPr>
          <p:nvPr/>
        </p:nvCxnSpPr>
        <p:spPr>
          <a:xfrm flipV="1">
            <a:off x="9338098" y="5249200"/>
            <a:ext cx="277992" cy="952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직선 연결선 153"/>
          <p:cNvCxnSpPr>
            <a:endCxn id="152" idx="0"/>
          </p:cNvCxnSpPr>
          <p:nvPr/>
        </p:nvCxnSpPr>
        <p:spPr>
          <a:xfrm>
            <a:off x="9732467" y="4967768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8545015" y="4795355"/>
            <a:ext cx="1028955" cy="2154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 smtClean="0"/>
              <a:t>프리징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9/8~9/26</a:t>
            </a:r>
            <a:endParaRPr lang="ko-KR" altLang="en-US" sz="1100" dirty="0"/>
          </a:p>
        </p:txBody>
      </p:sp>
      <p:cxnSp>
        <p:nvCxnSpPr>
          <p:cNvPr id="158" name="직선 화살표 연결선 157"/>
          <p:cNvCxnSpPr/>
          <p:nvPr/>
        </p:nvCxnSpPr>
        <p:spPr>
          <a:xfrm>
            <a:off x="9550310" y="4934974"/>
            <a:ext cx="162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화살표 연결선 158"/>
          <p:cNvCxnSpPr/>
          <p:nvPr/>
        </p:nvCxnSpPr>
        <p:spPr>
          <a:xfrm flipH="1">
            <a:off x="8336280" y="4934974"/>
            <a:ext cx="185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화살표 연결선 160"/>
          <p:cNvCxnSpPr>
            <a:stCxn id="240" idx="0"/>
            <a:endCxn id="196" idx="4"/>
          </p:cNvCxnSpPr>
          <p:nvPr/>
        </p:nvCxnSpPr>
        <p:spPr>
          <a:xfrm flipV="1">
            <a:off x="10140483" y="3576321"/>
            <a:ext cx="235856" cy="15620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6" name="타원 195"/>
          <p:cNvSpPr/>
          <p:nvPr/>
        </p:nvSpPr>
        <p:spPr>
          <a:xfrm>
            <a:off x="10259961" y="334356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TextBox 212"/>
          <p:cNvSpPr txBox="1"/>
          <p:nvPr/>
        </p:nvSpPr>
        <p:spPr>
          <a:xfrm>
            <a:off x="10247820" y="4869571"/>
            <a:ext cx="19255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tag:R</a:t>
            </a:r>
            <a:r>
              <a:rPr lang="en-US" altLang="ko-KR" sz="800" b="1" dirty="0" smtClean="0">
                <a:latin typeface="+mn-ea"/>
              </a:rPr>
              <a:t>ELEASE</a:t>
            </a:r>
            <a:r>
              <a:rPr lang="en-US" altLang="ko-KR" sz="800" b="1" dirty="0" smtClean="0"/>
              <a:t>_16.09.27.00_14.0.1.600</a:t>
            </a:r>
            <a:endParaRPr lang="ko-KR" altLang="en-US" sz="800" b="1" dirty="0"/>
          </a:p>
        </p:txBody>
      </p:sp>
      <p:cxnSp>
        <p:nvCxnSpPr>
          <p:cNvPr id="178" name="직선 화살표 연결선 177"/>
          <p:cNvCxnSpPr>
            <a:stCxn id="196" idx="6"/>
            <a:endCxn id="216" idx="2"/>
          </p:cNvCxnSpPr>
          <p:nvPr/>
        </p:nvCxnSpPr>
        <p:spPr>
          <a:xfrm>
            <a:off x="10492716" y="3459944"/>
            <a:ext cx="1016453" cy="39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166851" y="137008"/>
            <a:ext cx="3811591" cy="369332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/>
              <a:t>신규 </a:t>
            </a:r>
            <a:r>
              <a:rPr lang="en-US" altLang="ko-KR" dirty="0" smtClean="0"/>
              <a:t>Branch </a:t>
            </a:r>
            <a:r>
              <a:rPr lang="ko-KR" altLang="en-US" dirty="0" smtClean="0"/>
              <a:t>전략 흐름도</a:t>
            </a:r>
            <a:r>
              <a:rPr lang="en-US" altLang="ko-KR" dirty="0" smtClean="0"/>
              <a:t>(Release)</a:t>
            </a:r>
            <a:endParaRPr lang="ko-KR" altLang="en-US" dirty="0"/>
          </a:p>
        </p:txBody>
      </p:sp>
      <p:sp>
        <p:nvSpPr>
          <p:cNvPr id="185" name="설명선 1 184"/>
          <p:cNvSpPr/>
          <p:nvPr/>
        </p:nvSpPr>
        <p:spPr>
          <a:xfrm>
            <a:off x="837627" y="3030704"/>
            <a:ext cx="623454" cy="224445"/>
          </a:xfrm>
          <a:prstGeom prst="borderCallout1">
            <a:avLst>
              <a:gd name="adj1" fmla="val 95602"/>
              <a:gd name="adj2" fmla="val 78530"/>
              <a:gd name="adj3" fmla="val 143055"/>
              <a:gd name="adj4" fmla="val 836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최초생성</a:t>
            </a:r>
            <a:endParaRPr lang="ko-KR" altLang="en-US" sz="800" dirty="0"/>
          </a:p>
        </p:txBody>
      </p:sp>
      <p:sp>
        <p:nvSpPr>
          <p:cNvPr id="240" name="타원 239"/>
          <p:cNvSpPr/>
          <p:nvPr/>
        </p:nvSpPr>
        <p:spPr>
          <a:xfrm>
            <a:off x="10024105" y="5138364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1" name="직선 화살표 연결선 240"/>
          <p:cNvCxnSpPr>
            <a:stCxn id="152" idx="6"/>
            <a:endCxn id="240" idx="2"/>
          </p:cNvCxnSpPr>
          <p:nvPr/>
        </p:nvCxnSpPr>
        <p:spPr>
          <a:xfrm>
            <a:off x="9848845" y="5249200"/>
            <a:ext cx="175260" cy="554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2" name="직선 화살표 연결선 241"/>
          <p:cNvCxnSpPr/>
          <p:nvPr/>
        </p:nvCxnSpPr>
        <p:spPr>
          <a:xfrm>
            <a:off x="4172780" y="222523"/>
            <a:ext cx="367296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3" name="직선 화살표 연결선 242"/>
          <p:cNvCxnSpPr/>
          <p:nvPr/>
        </p:nvCxnSpPr>
        <p:spPr>
          <a:xfrm>
            <a:off x="4172780" y="353509"/>
            <a:ext cx="36729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4" name="직선 화살표 연결선 243"/>
          <p:cNvCxnSpPr/>
          <p:nvPr/>
        </p:nvCxnSpPr>
        <p:spPr>
          <a:xfrm>
            <a:off x="4175581" y="471360"/>
            <a:ext cx="371393" cy="1012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7" name="직사각형 246"/>
          <p:cNvSpPr/>
          <p:nvPr/>
        </p:nvSpPr>
        <p:spPr>
          <a:xfrm>
            <a:off x="4608683" y="45283"/>
            <a:ext cx="8899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브랜치생성</a:t>
            </a:r>
            <a:endParaRPr lang="ko-KR" altLang="en-US" sz="1100" dirty="0"/>
          </a:p>
        </p:txBody>
      </p:sp>
      <p:sp>
        <p:nvSpPr>
          <p:cNvPr id="248" name="직사각형 247"/>
          <p:cNvSpPr/>
          <p:nvPr/>
        </p:nvSpPr>
        <p:spPr>
          <a:xfrm>
            <a:off x="4608683" y="200644"/>
            <a:ext cx="16818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브랜치병합</a:t>
            </a:r>
            <a:r>
              <a:rPr lang="en-US" altLang="ko-KR" sz="1100" dirty="0" smtClean="0"/>
              <a:t>(</a:t>
            </a:r>
            <a:r>
              <a:rPr lang="ko-KR" altLang="en-US" sz="1100" dirty="0" err="1" smtClean="0"/>
              <a:t>오버라이트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  <p:sp>
        <p:nvSpPr>
          <p:cNvPr id="249" name="직사각형 248"/>
          <p:cNvSpPr/>
          <p:nvPr/>
        </p:nvSpPr>
        <p:spPr>
          <a:xfrm>
            <a:off x="4608683" y="350684"/>
            <a:ext cx="8899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브랜치병합</a:t>
            </a:r>
            <a:endParaRPr lang="ko-KR" altLang="en-US" sz="1100" dirty="0"/>
          </a:p>
        </p:txBody>
      </p:sp>
      <p:sp>
        <p:nvSpPr>
          <p:cNvPr id="251" name="타원 250"/>
          <p:cNvSpPr/>
          <p:nvPr/>
        </p:nvSpPr>
        <p:spPr>
          <a:xfrm>
            <a:off x="7075979" y="3319298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3" name="TextBox 252"/>
          <p:cNvSpPr txBox="1"/>
          <p:nvPr/>
        </p:nvSpPr>
        <p:spPr>
          <a:xfrm>
            <a:off x="10247820" y="5313662"/>
            <a:ext cx="697627" cy="2154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800" dirty="0" err="1" smtClean="0"/>
              <a:t>핫픽스머지</a:t>
            </a:r>
            <a:endParaRPr lang="en-US" altLang="ko-KR" sz="800" dirty="0" smtClean="0"/>
          </a:p>
        </p:txBody>
      </p:sp>
      <p:sp>
        <p:nvSpPr>
          <p:cNvPr id="66" name="직사각형 65"/>
          <p:cNvSpPr/>
          <p:nvPr/>
        </p:nvSpPr>
        <p:spPr>
          <a:xfrm>
            <a:off x="7137992" y="3009266"/>
            <a:ext cx="233910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smtClean="0">
                <a:solidFill>
                  <a:srgbClr val="FF0000"/>
                </a:solidFill>
              </a:rPr>
              <a:t>tag</a:t>
            </a:r>
            <a:r>
              <a:rPr lang="en-US" altLang="ko-KR" sz="800" b="1" dirty="0">
                <a:solidFill>
                  <a:srgbClr val="FF0000"/>
                </a:solidFill>
              </a:rPr>
              <a:t>/HOTFIX-17.08.11</a:t>
            </a:r>
            <a:r>
              <a:rPr lang="en-US" altLang="ko-KR" sz="800" b="1" dirty="0" smtClean="0">
                <a:solidFill>
                  <a:srgbClr val="FF0000"/>
                </a:solidFill>
              </a:rPr>
              <a:t>.01_14.0.1.510 </a:t>
            </a:r>
            <a:r>
              <a:rPr lang="en-US" altLang="ko-KR" sz="800" b="1" dirty="0">
                <a:solidFill>
                  <a:srgbClr val="FF0000"/>
                </a:solidFill>
              </a:rPr>
              <a:t>tag </a:t>
            </a:r>
            <a:r>
              <a:rPr lang="ko-KR" altLang="en-US" sz="800" b="1" dirty="0">
                <a:solidFill>
                  <a:srgbClr val="FF0000"/>
                </a:solidFill>
              </a:rPr>
              <a:t>생성</a:t>
            </a:r>
            <a:endParaRPr lang="en-US" altLang="ko-KR" sz="800" b="1" dirty="0">
              <a:solidFill>
                <a:srgbClr val="FF0000"/>
              </a:solidFill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2950021" y="2293924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/>
          <p:cNvCxnSpPr>
            <a:stCxn id="107" idx="6"/>
            <a:endCxn id="82" idx="2"/>
          </p:cNvCxnSpPr>
          <p:nvPr/>
        </p:nvCxnSpPr>
        <p:spPr>
          <a:xfrm>
            <a:off x="3182776" y="2410302"/>
            <a:ext cx="822930" cy="253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481116" y="1997196"/>
            <a:ext cx="1471568" cy="2154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800" dirty="0" smtClean="0"/>
              <a:t>작업기</a:t>
            </a:r>
            <a:r>
              <a:rPr lang="ko-KR" altLang="en-US" sz="800" dirty="0"/>
              <a:t>간</a:t>
            </a:r>
            <a:r>
              <a:rPr lang="en-US" altLang="ko-KR" sz="800" dirty="0" smtClean="0"/>
              <a:t>: 7/17~8/7</a:t>
            </a:r>
            <a:endParaRPr lang="ko-KR" altLang="en-US" sz="1100" dirty="0"/>
          </a:p>
        </p:txBody>
      </p:sp>
      <p:sp>
        <p:nvSpPr>
          <p:cNvPr id="120" name="타원 119"/>
          <p:cNvSpPr/>
          <p:nvPr/>
        </p:nvSpPr>
        <p:spPr>
          <a:xfrm>
            <a:off x="2862688" y="3353077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화살표 연결선 120"/>
          <p:cNvCxnSpPr>
            <a:stCxn id="120" idx="0"/>
            <a:endCxn id="107" idx="4"/>
          </p:cNvCxnSpPr>
          <p:nvPr/>
        </p:nvCxnSpPr>
        <p:spPr>
          <a:xfrm flipV="1">
            <a:off x="2979066" y="2526679"/>
            <a:ext cx="87333" cy="826398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9" name="타원 128"/>
          <p:cNvSpPr/>
          <p:nvPr/>
        </p:nvSpPr>
        <p:spPr>
          <a:xfrm>
            <a:off x="1662424" y="3353077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/>
          <p:cNvSpPr/>
          <p:nvPr/>
        </p:nvSpPr>
        <p:spPr>
          <a:xfrm>
            <a:off x="2327994" y="2310822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화살표 연결선 135"/>
          <p:cNvCxnSpPr>
            <a:stCxn id="133" idx="6"/>
            <a:endCxn id="107" idx="2"/>
          </p:cNvCxnSpPr>
          <p:nvPr/>
        </p:nvCxnSpPr>
        <p:spPr>
          <a:xfrm flipV="1">
            <a:off x="2560749" y="2410302"/>
            <a:ext cx="389272" cy="1689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7" name="타원 136"/>
          <p:cNvSpPr/>
          <p:nvPr/>
        </p:nvSpPr>
        <p:spPr>
          <a:xfrm>
            <a:off x="5975344" y="333095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9" name="TextBox 148"/>
          <p:cNvSpPr txBox="1"/>
          <p:nvPr/>
        </p:nvSpPr>
        <p:spPr>
          <a:xfrm>
            <a:off x="-2691" y="2258953"/>
            <a:ext cx="1427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     Release</a:t>
            </a:r>
            <a:endParaRPr lang="ko-KR" altLang="en-US" sz="1400" dirty="0"/>
          </a:p>
        </p:txBody>
      </p:sp>
      <p:sp>
        <p:nvSpPr>
          <p:cNvPr id="160" name="타원 159"/>
          <p:cNvSpPr/>
          <p:nvPr/>
        </p:nvSpPr>
        <p:spPr>
          <a:xfrm>
            <a:off x="103835" y="229646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2" name="직선 화살표 연결선 161"/>
          <p:cNvCxnSpPr>
            <a:stCxn id="137" idx="0"/>
            <a:endCxn id="192" idx="4"/>
          </p:cNvCxnSpPr>
          <p:nvPr/>
        </p:nvCxnSpPr>
        <p:spPr>
          <a:xfrm flipH="1" flipV="1">
            <a:off x="6069729" y="2531073"/>
            <a:ext cx="21993" cy="799883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9" name="직선 연결선 168"/>
          <p:cNvCxnSpPr>
            <a:endCxn id="133" idx="0"/>
          </p:cNvCxnSpPr>
          <p:nvPr/>
        </p:nvCxnSpPr>
        <p:spPr>
          <a:xfrm>
            <a:off x="2444372" y="2114458"/>
            <a:ext cx="0" cy="1963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직선 연결선 169"/>
          <p:cNvCxnSpPr/>
          <p:nvPr/>
        </p:nvCxnSpPr>
        <p:spPr>
          <a:xfrm>
            <a:off x="4122082" y="2529218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2" name="타원 191"/>
          <p:cNvSpPr/>
          <p:nvPr/>
        </p:nvSpPr>
        <p:spPr>
          <a:xfrm>
            <a:off x="5953351" y="2298318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7" name="직선 화살표 연결선 196"/>
          <p:cNvCxnSpPr>
            <a:stCxn id="103" idx="6"/>
            <a:endCxn id="192" idx="2"/>
          </p:cNvCxnSpPr>
          <p:nvPr/>
        </p:nvCxnSpPr>
        <p:spPr>
          <a:xfrm>
            <a:off x="5652431" y="2412841"/>
            <a:ext cx="300920" cy="185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6147595" y="2541567"/>
            <a:ext cx="697627" cy="2154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800" dirty="0" err="1" smtClean="0"/>
              <a:t>핫픽스머지</a:t>
            </a:r>
            <a:endParaRPr lang="en-US" altLang="ko-KR" sz="800" dirty="0" smtClean="0"/>
          </a:p>
        </p:txBody>
      </p:sp>
      <p:sp>
        <p:nvSpPr>
          <p:cNvPr id="166" name="타원 165"/>
          <p:cNvSpPr/>
          <p:nvPr/>
        </p:nvSpPr>
        <p:spPr>
          <a:xfrm>
            <a:off x="8202120" y="5142347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직선 연결선 166"/>
          <p:cNvCxnSpPr>
            <a:endCxn id="166" idx="0"/>
          </p:cNvCxnSpPr>
          <p:nvPr/>
        </p:nvCxnSpPr>
        <p:spPr>
          <a:xfrm>
            <a:off x="8318497" y="4977293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직선 화살표 연결선 180"/>
          <p:cNvCxnSpPr>
            <a:stCxn id="188" idx="6"/>
            <a:endCxn id="166" idx="2"/>
          </p:cNvCxnSpPr>
          <p:nvPr/>
        </p:nvCxnSpPr>
        <p:spPr>
          <a:xfrm>
            <a:off x="7569103" y="5254182"/>
            <a:ext cx="633017" cy="454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6045925" y="5448712"/>
            <a:ext cx="1028955" cy="2154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800" dirty="0" smtClean="0"/>
              <a:t>작업기</a:t>
            </a:r>
            <a:r>
              <a:rPr lang="ko-KR" altLang="en-US" sz="800" dirty="0"/>
              <a:t>간</a:t>
            </a:r>
            <a:r>
              <a:rPr lang="en-US" altLang="ko-KR" sz="800" dirty="0" smtClean="0"/>
              <a:t>: 8/8~9/8</a:t>
            </a:r>
            <a:endParaRPr lang="ko-KR" altLang="en-US" sz="1100" dirty="0"/>
          </a:p>
        </p:txBody>
      </p:sp>
      <p:sp>
        <p:nvSpPr>
          <p:cNvPr id="188" name="타원 187"/>
          <p:cNvSpPr/>
          <p:nvPr/>
        </p:nvSpPr>
        <p:spPr>
          <a:xfrm>
            <a:off x="7336348" y="5137804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0" name="직선 연결선 189"/>
          <p:cNvCxnSpPr>
            <a:endCxn id="171" idx="4"/>
          </p:cNvCxnSpPr>
          <p:nvPr/>
        </p:nvCxnSpPr>
        <p:spPr>
          <a:xfrm flipH="1" flipV="1">
            <a:off x="4209773" y="5397865"/>
            <a:ext cx="28688" cy="1761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>
            <a:off x="8318496" y="5375102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0" name="타원 199"/>
          <p:cNvSpPr/>
          <p:nvPr/>
        </p:nvSpPr>
        <p:spPr>
          <a:xfrm>
            <a:off x="9400986" y="3376465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2" name="타원 251"/>
          <p:cNvSpPr/>
          <p:nvPr/>
        </p:nvSpPr>
        <p:spPr>
          <a:xfrm>
            <a:off x="4860382" y="3352274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TextBox 234"/>
          <p:cNvSpPr txBox="1"/>
          <p:nvPr/>
        </p:nvSpPr>
        <p:spPr>
          <a:xfrm>
            <a:off x="2144478" y="1044059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7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sp>
        <p:nvSpPr>
          <p:cNvPr id="255" name="TextBox 254"/>
          <p:cNvSpPr txBox="1"/>
          <p:nvPr/>
        </p:nvSpPr>
        <p:spPr>
          <a:xfrm>
            <a:off x="5496688" y="933139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sp>
        <p:nvSpPr>
          <p:cNvPr id="256" name="TextBox 255"/>
          <p:cNvSpPr txBox="1"/>
          <p:nvPr/>
        </p:nvSpPr>
        <p:spPr>
          <a:xfrm>
            <a:off x="9577777" y="922425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cxnSp>
        <p:nvCxnSpPr>
          <p:cNvPr id="258" name="직선 화살표 연결선 257"/>
          <p:cNvCxnSpPr>
            <a:stCxn id="200" idx="4"/>
            <a:endCxn id="240" idx="1"/>
          </p:cNvCxnSpPr>
          <p:nvPr/>
        </p:nvCxnSpPr>
        <p:spPr>
          <a:xfrm>
            <a:off x="9517364" y="3609220"/>
            <a:ext cx="540827" cy="1563230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4" name="직선 화살표 연결선 273"/>
          <p:cNvCxnSpPr>
            <a:stCxn id="147" idx="4"/>
            <a:endCxn id="171" idx="0"/>
          </p:cNvCxnSpPr>
          <p:nvPr/>
        </p:nvCxnSpPr>
        <p:spPr>
          <a:xfrm>
            <a:off x="4028187" y="3571751"/>
            <a:ext cx="181586" cy="159335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7" name="타원 146"/>
          <p:cNvSpPr/>
          <p:nvPr/>
        </p:nvSpPr>
        <p:spPr>
          <a:xfrm>
            <a:off x="3911809" y="333899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3" name="직선 화살표 연결선 172"/>
          <p:cNvCxnSpPr>
            <a:stCxn id="147" idx="0"/>
            <a:endCxn id="69" idx="1"/>
          </p:cNvCxnSpPr>
          <p:nvPr/>
        </p:nvCxnSpPr>
        <p:spPr>
          <a:xfrm flipV="1">
            <a:off x="4028187" y="2754302"/>
            <a:ext cx="111679" cy="584694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1" name="타원 170"/>
          <p:cNvSpPr/>
          <p:nvPr/>
        </p:nvSpPr>
        <p:spPr>
          <a:xfrm>
            <a:off x="4093395" y="5165110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6" name="직선 화살표 연결선 175"/>
          <p:cNvCxnSpPr>
            <a:endCxn id="188" idx="2"/>
          </p:cNvCxnSpPr>
          <p:nvPr/>
        </p:nvCxnSpPr>
        <p:spPr>
          <a:xfrm>
            <a:off x="6972188" y="5249199"/>
            <a:ext cx="364160" cy="498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8" name="타원 207"/>
          <p:cNvSpPr/>
          <p:nvPr/>
        </p:nvSpPr>
        <p:spPr>
          <a:xfrm>
            <a:off x="6739433" y="515454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3" name="직선 화살표 연결선 222"/>
          <p:cNvCxnSpPr>
            <a:stCxn id="251" idx="4"/>
            <a:endCxn id="208" idx="0"/>
          </p:cNvCxnSpPr>
          <p:nvPr/>
        </p:nvCxnSpPr>
        <p:spPr>
          <a:xfrm flipH="1">
            <a:off x="6855811" y="3552053"/>
            <a:ext cx="336546" cy="1602490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4" name="직선 화살표 연결선 223"/>
          <p:cNvCxnSpPr>
            <a:stCxn id="175" idx="4"/>
            <a:endCxn id="227" idx="0"/>
          </p:cNvCxnSpPr>
          <p:nvPr/>
        </p:nvCxnSpPr>
        <p:spPr>
          <a:xfrm flipH="1">
            <a:off x="6444026" y="3575780"/>
            <a:ext cx="174275" cy="1585644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7" name="타원 226"/>
          <p:cNvSpPr/>
          <p:nvPr/>
        </p:nvSpPr>
        <p:spPr>
          <a:xfrm>
            <a:off x="6327648" y="5161424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2" name="직선 화살표 연결선 231"/>
          <p:cNvCxnSpPr>
            <a:stCxn id="171" idx="6"/>
            <a:endCxn id="227" idx="2"/>
          </p:cNvCxnSpPr>
          <p:nvPr/>
        </p:nvCxnSpPr>
        <p:spPr>
          <a:xfrm flipV="1">
            <a:off x="4326150" y="5277802"/>
            <a:ext cx="2001498" cy="368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4" name="직선 화살표 연결선 233"/>
          <p:cNvCxnSpPr>
            <a:stCxn id="227" idx="6"/>
            <a:endCxn id="208" idx="2"/>
          </p:cNvCxnSpPr>
          <p:nvPr/>
        </p:nvCxnSpPr>
        <p:spPr>
          <a:xfrm flipV="1">
            <a:off x="6560403" y="5270921"/>
            <a:ext cx="179030" cy="688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7" name="직선 연결선 236"/>
          <p:cNvCxnSpPr/>
          <p:nvPr/>
        </p:nvCxnSpPr>
        <p:spPr>
          <a:xfrm>
            <a:off x="7417965" y="1291757"/>
            <a:ext cx="4166" cy="4106108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직선 화살표 연결선 237"/>
          <p:cNvCxnSpPr>
            <a:stCxn id="183" idx="1"/>
          </p:cNvCxnSpPr>
          <p:nvPr/>
        </p:nvCxnSpPr>
        <p:spPr>
          <a:xfrm flipH="1" flipV="1">
            <a:off x="4311267" y="5537384"/>
            <a:ext cx="1734658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직선 화살표 연결선 245"/>
          <p:cNvCxnSpPr>
            <a:stCxn id="183" idx="3"/>
          </p:cNvCxnSpPr>
          <p:nvPr/>
        </p:nvCxnSpPr>
        <p:spPr>
          <a:xfrm>
            <a:off x="7074880" y="5556434"/>
            <a:ext cx="1205516" cy="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직선 연결선 185"/>
          <p:cNvCxnSpPr/>
          <p:nvPr/>
        </p:nvCxnSpPr>
        <p:spPr>
          <a:xfrm>
            <a:off x="1192110" y="5254742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>
            <a:stCxn id="252" idx="4"/>
          </p:cNvCxnSpPr>
          <p:nvPr/>
        </p:nvCxnSpPr>
        <p:spPr>
          <a:xfrm>
            <a:off x="4976760" y="3585029"/>
            <a:ext cx="288409" cy="1673696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63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444" y="861262"/>
            <a:ext cx="114188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Feature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운영전략</a:t>
            </a:r>
            <a:endParaRPr lang="en-US" altLang="ko-KR" dirty="0" smtClean="0"/>
          </a:p>
          <a:p>
            <a:endParaRPr lang="en-US" altLang="ko-KR" dirty="0" smtClean="0"/>
          </a:p>
          <a:p>
            <a:pPr marL="800100" lvl="1" indent="-342900">
              <a:buAutoNum type="arabicPeriod"/>
            </a:pPr>
            <a:r>
              <a:rPr lang="en-US" altLang="ko-KR" dirty="0" smtClean="0"/>
              <a:t>Feature </a:t>
            </a:r>
            <a:r>
              <a:rPr lang="ko-KR" altLang="en-US" dirty="0" err="1"/>
              <a:t>브랜치는</a:t>
            </a:r>
            <a:r>
              <a:rPr lang="ko-KR" altLang="en-US" dirty="0"/>
              <a:t> 스마트시트의 개발 </a:t>
            </a:r>
            <a:r>
              <a:rPr lang="ko-KR" altLang="en-US" dirty="0" err="1"/>
              <a:t>단위별로</a:t>
            </a:r>
            <a:r>
              <a:rPr lang="ko-KR" altLang="en-US" dirty="0"/>
              <a:t> 생성한다</a:t>
            </a:r>
            <a:r>
              <a:rPr lang="en-US" altLang="ko-KR" dirty="0"/>
              <a:t>.	</a:t>
            </a:r>
          </a:p>
          <a:p>
            <a:pPr marL="800100" lvl="1" indent="-342900">
              <a:buAutoNum type="arabicPeriod"/>
            </a:pPr>
            <a:r>
              <a:rPr lang="ko-KR" altLang="en-US" dirty="0" err="1" smtClean="0"/>
              <a:t>릴리즈브랜치에</a:t>
            </a:r>
            <a:r>
              <a:rPr lang="ko-KR" altLang="en-US" dirty="0" smtClean="0"/>
              <a:t> </a:t>
            </a:r>
            <a:r>
              <a:rPr lang="ko-KR" altLang="en-US" dirty="0" err="1"/>
              <a:t>반영전에는</a:t>
            </a:r>
            <a:r>
              <a:rPr lang="ko-KR" altLang="en-US" dirty="0"/>
              <a:t> </a:t>
            </a:r>
            <a:r>
              <a:rPr lang="ko-KR" altLang="en-US" dirty="0" err="1"/>
              <a:t>메인에</a:t>
            </a:r>
            <a:r>
              <a:rPr lang="ko-KR" altLang="en-US" dirty="0"/>
              <a:t> 반영한다</a:t>
            </a:r>
            <a:r>
              <a:rPr lang="en-US" altLang="ko-KR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dirty="0" smtClean="0"/>
              <a:t>정기적으로 </a:t>
            </a:r>
            <a:r>
              <a:rPr lang="ko-KR" altLang="en-US" dirty="0" err="1" smtClean="0"/>
              <a:t>메인브랜치에서</a:t>
            </a:r>
            <a:r>
              <a:rPr lang="ko-KR" altLang="en-US" dirty="0" smtClean="0"/>
              <a:t> </a:t>
            </a:r>
            <a:r>
              <a:rPr lang="en-US" altLang="ko-KR" dirty="0"/>
              <a:t>Feature </a:t>
            </a:r>
            <a:r>
              <a:rPr lang="ko-KR" altLang="en-US" dirty="0"/>
              <a:t>소스에 </a:t>
            </a:r>
            <a:r>
              <a:rPr lang="ko-KR" altLang="en-US" dirty="0" smtClean="0"/>
              <a:t>반영한다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b="1" dirty="0" smtClean="0"/>
              <a:t>개발자</a:t>
            </a:r>
            <a:endParaRPr lang="en-US" altLang="ko-KR" b="1" dirty="0" smtClean="0"/>
          </a:p>
          <a:p>
            <a:pPr marL="800100" lvl="1" indent="-342900">
              <a:buAutoNum type="arabicPeriod"/>
            </a:pPr>
            <a:r>
              <a:rPr lang="en-US" altLang="ko-KR" dirty="0"/>
              <a:t>Feature </a:t>
            </a:r>
            <a:r>
              <a:rPr lang="ko-KR" altLang="en-US" dirty="0" err="1"/>
              <a:t>브랜치</a:t>
            </a:r>
            <a:r>
              <a:rPr lang="ko-KR" altLang="en-US" dirty="0"/>
              <a:t> 작업자는 </a:t>
            </a:r>
            <a:r>
              <a:rPr lang="en-US" altLang="ko-KR" dirty="0"/>
              <a:t>Main </a:t>
            </a:r>
            <a:r>
              <a:rPr lang="ko-KR" altLang="en-US" dirty="0"/>
              <a:t>소스를 </a:t>
            </a:r>
            <a:r>
              <a:rPr lang="en-US" altLang="ko-KR" dirty="0"/>
              <a:t>Feature </a:t>
            </a:r>
            <a:r>
              <a:rPr lang="ko-KR" altLang="en-US" dirty="0"/>
              <a:t>소스에 </a:t>
            </a:r>
            <a:r>
              <a:rPr lang="ko-KR" altLang="en-US" dirty="0" smtClean="0"/>
              <a:t>반영 </a:t>
            </a:r>
            <a:r>
              <a:rPr lang="ko-KR" altLang="en-US" dirty="0"/>
              <a:t>작업을 수시로 진행한다</a:t>
            </a:r>
            <a:r>
              <a:rPr lang="en-US" altLang="ko-KR" dirty="0"/>
              <a:t>.	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Feature </a:t>
            </a:r>
            <a:r>
              <a:rPr lang="ko-KR" altLang="en-US" dirty="0" err="1"/>
              <a:t>브랜치</a:t>
            </a:r>
            <a:r>
              <a:rPr lang="ko-KR" altLang="en-US" dirty="0"/>
              <a:t> </a:t>
            </a:r>
            <a:r>
              <a:rPr lang="ko-KR" altLang="en-US" dirty="0" err="1" smtClean="0"/>
              <a:t>작업완료시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Feautre</a:t>
            </a:r>
            <a:r>
              <a:rPr lang="en-US" altLang="ko-KR" dirty="0" smtClean="0"/>
              <a:t> </a:t>
            </a:r>
            <a:r>
              <a:rPr lang="ko-KR" altLang="en-US" dirty="0" smtClean="0"/>
              <a:t>소스를 </a:t>
            </a:r>
            <a:r>
              <a:rPr lang="en-US" altLang="ko-KR" dirty="0"/>
              <a:t>Main </a:t>
            </a:r>
            <a:r>
              <a:rPr lang="ko-KR" altLang="en-US" dirty="0" smtClean="0"/>
              <a:t>소스에 반영한다</a:t>
            </a:r>
            <a:r>
              <a:rPr lang="en-US" altLang="ko-KR" dirty="0"/>
              <a:t>.	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Feature </a:t>
            </a:r>
            <a:r>
              <a:rPr lang="ko-KR" altLang="en-US" dirty="0" err="1"/>
              <a:t>브랜치에</a:t>
            </a:r>
            <a:r>
              <a:rPr lang="ko-KR" altLang="en-US" dirty="0"/>
              <a:t> </a:t>
            </a:r>
            <a:r>
              <a:rPr lang="en-US" altLang="ko-KR" dirty="0"/>
              <a:t>Main </a:t>
            </a:r>
            <a:r>
              <a:rPr lang="ko-KR" altLang="en-US" dirty="0"/>
              <a:t>소스 반영은 각 </a:t>
            </a:r>
            <a:r>
              <a:rPr lang="ko-KR" altLang="en-US" dirty="0" err="1"/>
              <a:t>파트별로</a:t>
            </a:r>
            <a:r>
              <a:rPr lang="ko-KR" altLang="en-US" dirty="0"/>
              <a:t> 담당 소스를 책임진다</a:t>
            </a:r>
            <a:r>
              <a:rPr lang="en-US" altLang="ko-KR" dirty="0"/>
              <a:t>. 	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 smtClean="0"/>
              <a:t>QC</a:t>
            </a:r>
          </a:p>
          <a:p>
            <a:pPr marL="800100" lvl="1" indent="-342900">
              <a:buAutoNum type="arabicPeriod"/>
            </a:pPr>
            <a:r>
              <a:rPr lang="ko-KR" altLang="en-US" dirty="0" err="1" smtClean="0"/>
              <a:t>피처브랜치를</a:t>
            </a:r>
            <a:r>
              <a:rPr lang="ko-KR" altLang="en-US" dirty="0" smtClean="0"/>
              <a:t> 대상으로 테스트한다</a:t>
            </a:r>
            <a:r>
              <a:rPr lang="en-US" altLang="ko-KR" dirty="0" smtClean="0"/>
              <a:t>. </a:t>
            </a:r>
          </a:p>
          <a:p>
            <a:pPr marL="800100" lvl="1" indent="-342900">
              <a:buAutoNum type="arabicPeriod"/>
            </a:pPr>
            <a:r>
              <a:rPr lang="ko-KR" altLang="en-US" dirty="0" smtClean="0"/>
              <a:t>테스트완료 후 테스트통과 기준에 따라 </a:t>
            </a:r>
            <a:r>
              <a:rPr lang="ko-KR" altLang="en-US" dirty="0" err="1" smtClean="0"/>
              <a:t>메인에</a:t>
            </a:r>
            <a:r>
              <a:rPr lang="ko-KR" altLang="en-US" dirty="0" smtClean="0"/>
              <a:t> 반영할지 결정한다</a:t>
            </a:r>
            <a:r>
              <a:rPr lang="en-US" altLang="ko-KR" dirty="0" smtClean="0"/>
              <a:t>. </a:t>
            </a:r>
          </a:p>
          <a:p>
            <a:pPr marL="800100" lvl="1" indent="-342900">
              <a:buAutoNum type="arabicPeriod"/>
            </a:pPr>
            <a:endParaRPr lang="en-US" altLang="ko-KR" dirty="0" smtClean="0"/>
          </a:p>
          <a:p>
            <a:pPr marL="800100" lvl="1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862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직선 연결선 229"/>
          <p:cNvCxnSpPr/>
          <p:nvPr/>
        </p:nvCxnSpPr>
        <p:spPr>
          <a:xfrm flipH="1">
            <a:off x="3877399" y="1302471"/>
            <a:ext cx="23919" cy="4331195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420629" y="3437559"/>
            <a:ext cx="10604341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1995" y="3337205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 dirty="0" smtClean="0"/>
              <a:t>main</a:t>
            </a:r>
            <a:endParaRPr lang="ko-KR" altLang="en-US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01706" y="5355538"/>
            <a:ext cx="754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 smtClean="0"/>
              <a:t>feature</a:t>
            </a:r>
            <a:endParaRPr lang="ko-KR" altLang="en-US" sz="1400" dirty="0"/>
          </a:p>
        </p:txBody>
      </p:sp>
      <p:cxnSp>
        <p:nvCxnSpPr>
          <p:cNvPr id="16" name="직선 연결선 15"/>
          <p:cNvCxnSpPr/>
          <p:nvPr/>
        </p:nvCxnSpPr>
        <p:spPr>
          <a:xfrm>
            <a:off x="1139938" y="2434990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139938" y="3455600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348844" y="3444501"/>
            <a:ext cx="10335402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139938" y="5526435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타원 60"/>
          <p:cNvSpPr/>
          <p:nvPr/>
        </p:nvSpPr>
        <p:spPr>
          <a:xfrm>
            <a:off x="172157" y="337471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/>
          <p:cNvSpPr/>
          <p:nvPr/>
        </p:nvSpPr>
        <p:spPr>
          <a:xfrm>
            <a:off x="119985" y="5393048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6607274" y="224039"/>
            <a:ext cx="5189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7</a:t>
            </a:r>
            <a:r>
              <a:rPr lang="ko-KR" altLang="en-US" dirty="0" err="1" smtClean="0"/>
              <a:t>월정기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(deploy:7/26, codefreezing:7/12~7/25)</a:t>
            </a:r>
            <a:endParaRPr lang="ko-KR" altLang="en-US" dirty="0"/>
          </a:p>
        </p:txBody>
      </p:sp>
      <p:sp>
        <p:nvSpPr>
          <p:cNvPr id="140" name="TextBox 139"/>
          <p:cNvSpPr txBox="1"/>
          <p:nvPr/>
        </p:nvSpPr>
        <p:spPr>
          <a:xfrm>
            <a:off x="2674775" y="3059249"/>
            <a:ext cx="17988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rgbClr val="FF0000"/>
                </a:solidFill>
              </a:rPr>
              <a:t>tag:hotfix-16.07.29.01_14.0.1.410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75" name="타원 174"/>
          <p:cNvSpPr/>
          <p:nvPr/>
        </p:nvSpPr>
        <p:spPr>
          <a:xfrm>
            <a:off x="6615949" y="3342440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5" name="타원 244"/>
          <p:cNvSpPr/>
          <p:nvPr/>
        </p:nvSpPr>
        <p:spPr>
          <a:xfrm>
            <a:off x="1409912" y="3351690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9" name="직선 화살표 연결선 328"/>
          <p:cNvCxnSpPr>
            <a:stCxn id="245" idx="6"/>
          </p:cNvCxnSpPr>
          <p:nvPr/>
        </p:nvCxnSpPr>
        <p:spPr>
          <a:xfrm>
            <a:off x="1642667" y="3468068"/>
            <a:ext cx="58894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2" name="직선 화살표 연결선 331"/>
          <p:cNvCxnSpPr>
            <a:endCxn id="175" idx="2"/>
          </p:cNvCxnSpPr>
          <p:nvPr/>
        </p:nvCxnSpPr>
        <p:spPr>
          <a:xfrm flipV="1">
            <a:off x="1776450" y="3458818"/>
            <a:ext cx="4839499" cy="1005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6" name="타원 215"/>
          <p:cNvSpPr/>
          <p:nvPr/>
        </p:nvSpPr>
        <p:spPr>
          <a:xfrm>
            <a:off x="11623195" y="3343377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8" name="직선 화살표 연결선 217"/>
          <p:cNvCxnSpPr>
            <a:stCxn id="175" idx="6"/>
            <a:endCxn id="196" idx="2"/>
          </p:cNvCxnSpPr>
          <p:nvPr/>
        </p:nvCxnSpPr>
        <p:spPr>
          <a:xfrm>
            <a:off x="6848704" y="3458818"/>
            <a:ext cx="3525283" cy="54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직선 화살표 연결선 164"/>
          <p:cNvCxnSpPr>
            <a:stCxn id="245" idx="4"/>
            <a:endCxn id="125" idx="0"/>
          </p:cNvCxnSpPr>
          <p:nvPr/>
        </p:nvCxnSpPr>
        <p:spPr>
          <a:xfrm>
            <a:off x="1526290" y="3584445"/>
            <a:ext cx="36604" cy="183502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4" name="직선 화살표 연결선 203"/>
          <p:cNvCxnSpPr>
            <a:stCxn id="125" idx="6"/>
            <a:endCxn id="206" idx="2"/>
          </p:cNvCxnSpPr>
          <p:nvPr/>
        </p:nvCxnSpPr>
        <p:spPr>
          <a:xfrm flipV="1">
            <a:off x="1679271" y="5517739"/>
            <a:ext cx="673418" cy="1810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6" name="타원 205"/>
          <p:cNvSpPr/>
          <p:nvPr/>
        </p:nvSpPr>
        <p:spPr>
          <a:xfrm>
            <a:off x="2352689" y="5401361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TextBox 138"/>
          <p:cNvSpPr txBox="1"/>
          <p:nvPr/>
        </p:nvSpPr>
        <p:spPr>
          <a:xfrm>
            <a:off x="8460578" y="2574416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9/7 : 9</a:t>
            </a:r>
            <a:r>
              <a:rPr lang="ko-KR" altLang="en-US" sz="800" dirty="0" smtClean="0"/>
              <a:t>월 정기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RELEASE/</a:t>
            </a:r>
            <a:r>
              <a:rPr lang="en-US" altLang="ko-KR" sz="800" b="1" dirty="0">
                <a:latin typeface="+mn-ea"/>
              </a:rPr>
              <a:t>RELEASE</a:t>
            </a:r>
            <a:r>
              <a:rPr lang="en-US" altLang="ko-KR" sz="800" b="1" dirty="0" smtClean="0">
                <a:latin typeface="+mn-ea"/>
              </a:rPr>
              <a:t>_17.09.27.00</a:t>
            </a:r>
            <a:endParaRPr lang="ko-KR" altLang="en-US" sz="800" b="1" dirty="0"/>
          </a:p>
        </p:txBody>
      </p:sp>
      <p:sp>
        <p:nvSpPr>
          <p:cNvPr id="143" name="타원 142"/>
          <p:cNvSpPr/>
          <p:nvPr/>
        </p:nvSpPr>
        <p:spPr>
          <a:xfrm>
            <a:off x="8326418" y="2285854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4" name="직선 연결선 143"/>
          <p:cNvCxnSpPr>
            <a:endCxn id="143" idx="0"/>
          </p:cNvCxnSpPr>
          <p:nvPr/>
        </p:nvCxnSpPr>
        <p:spPr>
          <a:xfrm>
            <a:off x="8442795" y="2120800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5" name="타원 144"/>
          <p:cNvSpPr/>
          <p:nvPr/>
        </p:nvSpPr>
        <p:spPr>
          <a:xfrm>
            <a:off x="8797079" y="2285854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타원 145"/>
          <p:cNvSpPr/>
          <p:nvPr/>
        </p:nvSpPr>
        <p:spPr>
          <a:xfrm>
            <a:off x="9229641" y="2295379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0" name="직선 화살표 연결선 149"/>
          <p:cNvCxnSpPr>
            <a:stCxn id="143" idx="6"/>
            <a:endCxn id="145" idx="2"/>
          </p:cNvCxnSpPr>
          <p:nvPr/>
        </p:nvCxnSpPr>
        <p:spPr>
          <a:xfrm>
            <a:off x="8559173" y="2402232"/>
            <a:ext cx="237906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1" name="직선 화살표 연결선 150"/>
          <p:cNvCxnSpPr>
            <a:stCxn id="145" idx="6"/>
            <a:endCxn id="146" idx="2"/>
          </p:cNvCxnSpPr>
          <p:nvPr/>
        </p:nvCxnSpPr>
        <p:spPr>
          <a:xfrm>
            <a:off x="9029834" y="2402232"/>
            <a:ext cx="199807" cy="952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2" name="타원 151"/>
          <p:cNvSpPr/>
          <p:nvPr/>
        </p:nvSpPr>
        <p:spPr>
          <a:xfrm>
            <a:off x="9740388" y="2285854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3" name="직선 화살표 연결선 152"/>
          <p:cNvCxnSpPr>
            <a:stCxn id="146" idx="6"/>
            <a:endCxn id="152" idx="2"/>
          </p:cNvCxnSpPr>
          <p:nvPr/>
        </p:nvCxnSpPr>
        <p:spPr>
          <a:xfrm flipV="1">
            <a:off x="9462396" y="2402232"/>
            <a:ext cx="277992" cy="952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직선 연결선 153"/>
          <p:cNvCxnSpPr>
            <a:endCxn id="152" idx="0"/>
          </p:cNvCxnSpPr>
          <p:nvPr/>
        </p:nvCxnSpPr>
        <p:spPr>
          <a:xfrm>
            <a:off x="9856765" y="2120800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8645653" y="1980284"/>
            <a:ext cx="1028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 smtClean="0"/>
              <a:t>프리징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9/8~9/26</a:t>
            </a:r>
            <a:endParaRPr lang="ko-KR" altLang="en-US" sz="1100" dirty="0"/>
          </a:p>
        </p:txBody>
      </p:sp>
      <p:cxnSp>
        <p:nvCxnSpPr>
          <p:cNvPr id="158" name="직선 화살표 연결선 157"/>
          <p:cNvCxnSpPr>
            <a:stCxn id="157" idx="3"/>
          </p:cNvCxnSpPr>
          <p:nvPr/>
        </p:nvCxnSpPr>
        <p:spPr>
          <a:xfrm>
            <a:off x="9674608" y="2088006"/>
            <a:ext cx="162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화살표 연결선 158"/>
          <p:cNvCxnSpPr>
            <a:stCxn id="157" idx="1"/>
          </p:cNvCxnSpPr>
          <p:nvPr/>
        </p:nvCxnSpPr>
        <p:spPr>
          <a:xfrm flipH="1">
            <a:off x="8460578" y="2088006"/>
            <a:ext cx="185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화살표 연결선 160"/>
          <p:cNvCxnSpPr>
            <a:stCxn id="240" idx="0"/>
          </p:cNvCxnSpPr>
          <p:nvPr/>
        </p:nvCxnSpPr>
        <p:spPr>
          <a:xfrm>
            <a:off x="10264781" y="2291396"/>
            <a:ext cx="225584" cy="105158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6" name="타원 195"/>
          <p:cNvSpPr/>
          <p:nvPr/>
        </p:nvSpPr>
        <p:spPr>
          <a:xfrm>
            <a:off x="10373987" y="3342981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9" name="직선 화살표 연결선 208"/>
          <p:cNvCxnSpPr>
            <a:stCxn id="206" idx="0"/>
            <a:endCxn id="147" idx="3"/>
          </p:cNvCxnSpPr>
          <p:nvPr/>
        </p:nvCxnSpPr>
        <p:spPr>
          <a:xfrm flipV="1">
            <a:off x="2469067" y="3537080"/>
            <a:ext cx="1590854" cy="186428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1668014" y="5660534"/>
            <a:ext cx="2233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8</a:t>
            </a:r>
            <a:r>
              <a:rPr lang="ko-KR" altLang="en-US" sz="800" dirty="0" smtClean="0"/>
              <a:t>월 정기 포함될 기능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FEATURE/FEATURE_RP####_</a:t>
            </a:r>
            <a:r>
              <a:rPr lang="en-US" altLang="ko-KR" sz="800" b="1" dirty="0" err="1" smtClean="0">
                <a:latin typeface="+mn-ea"/>
              </a:rPr>
              <a:t>feature_name</a:t>
            </a:r>
            <a:endParaRPr lang="en-US" altLang="ko-KR" sz="800" b="1" dirty="0" smtClean="0">
              <a:latin typeface="+mn-ea"/>
            </a:endParaRPr>
          </a:p>
          <a:p>
            <a:r>
              <a:rPr lang="ko-KR" altLang="en-US" sz="800" b="1" dirty="0" smtClean="0">
                <a:latin typeface="+mn-ea"/>
              </a:rPr>
              <a:t>메인 병합</a:t>
            </a:r>
            <a:endParaRPr lang="ko-KR" altLang="en-US" sz="800" b="1" dirty="0"/>
          </a:p>
        </p:txBody>
      </p:sp>
      <p:sp>
        <p:nvSpPr>
          <p:cNvPr id="213" name="TextBox 212"/>
          <p:cNvSpPr txBox="1"/>
          <p:nvPr/>
        </p:nvSpPr>
        <p:spPr>
          <a:xfrm>
            <a:off x="10315290" y="2922397"/>
            <a:ext cx="19255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tag:R</a:t>
            </a:r>
            <a:r>
              <a:rPr lang="en-US" altLang="ko-KR" sz="800" b="1" dirty="0" smtClean="0">
                <a:latin typeface="+mn-ea"/>
              </a:rPr>
              <a:t>ELEASE</a:t>
            </a:r>
            <a:r>
              <a:rPr lang="en-US" altLang="ko-KR" sz="800" b="1" dirty="0" smtClean="0"/>
              <a:t>_16.09.27.00_14.0.1.600</a:t>
            </a:r>
            <a:endParaRPr lang="ko-KR" altLang="en-US" sz="800" b="1" dirty="0"/>
          </a:p>
        </p:txBody>
      </p:sp>
      <p:sp>
        <p:nvSpPr>
          <p:cNvPr id="214" name="타원 213"/>
          <p:cNvSpPr/>
          <p:nvPr/>
        </p:nvSpPr>
        <p:spPr>
          <a:xfrm>
            <a:off x="6428793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5" name="직선 화살표 연결선 214"/>
          <p:cNvCxnSpPr>
            <a:stCxn id="214" idx="6"/>
            <a:endCxn id="217" idx="2"/>
          </p:cNvCxnSpPr>
          <p:nvPr/>
        </p:nvCxnSpPr>
        <p:spPr>
          <a:xfrm>
            <a:off x="6661548" y="5509425"/>
            <a:ext cx="16507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7" name="타원 216"/>
          <p:cNvSpPr/>
          <p:nvPr/>
        </p:nvSpPr>
        <p:spPr>
          <a:xfrm>
            <a:off x="6826619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9" name="직선 화살표 연결선 218"/>
          <p:cNvCxnSpPr>
            <a:stCxn id="217" idx="6"/>
            <a:endCxn id="220" idx="2"/>
          </p:cNvCxnSpPr>
          <p:nvPr/>
        </p:nvCxnSpPr>
        <p:spPr>
          <a:xfrm flipV="1">
            <a:off x="7059374" y="5507268"/>
            <a:ext cx="4264792" cy="215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0" name="타원 219"/>
          <p:cNvSpPr/>
          <p:nvPr/>
        </p:nvSpPr>
        <p:spPr>
          <a:xfrm>
            <a:off x="11324166" y="5390890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TextBox 220"/>
          <p:cNvSpPr txBox="1"/>
          <p:nvPr/>
        </p:nvSpPr>
        <p:spPr>
          <a:xfrm>
            <a:off x="5896530" y="5652220"/>
            <a:ext cx="2233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9</a:t>
            </a:r>
            <a:r>
              <a:rPr lang="ko-KR" altLang="en-US" sz="800" dirty="0" smtClean="0"/>
              <a:t>월 정기 포함될 기능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>
                <a:latin typeface="+mn-ea"/>
              </a:rPr>
              <a:t>FEATURE/FEATURE_RP####_</a:t>
            </a:r>
            <a:r>
              <a:rPr lang="en-US" altLang="ko-KR" sz="800" b="1" dirty="0" err="1">
                <a:latin typeface="+mn-ea"/>
              </a:rPr>
              <a:t>feature_name</a:t>
            </a:r>
            <a:endParaRPr lang="en-US" altLang="ko-KR" sz="800" b="1" dirty="0">
              <a:latin typeface="+mn-ea"/>
            </a:endParaRPr>
          </a:p>
          <a:p>
            <a:r>
              <a:rPr lang="en-US" altLang="ko-KR" sz="800" b="1" dirty="0" smtClean="0">
                <a:latin typeface="+mn-ea"/>
              </a:rPr>
              <a:t>develop </a:t>
            </a:r>
            <a:r>
              <a:rPr lang="ko-KR" altLang="en-US" sz="800" b="1" dirty="0">
                <a:latin typeface="+mn-ea"/>
              </a:rPr>
              <a:t>병합 후 </a:t>
            </a:r>
            <a:r>
              <a:rPr lang="ko-KR" altLang="en-US" sz="800" b="1" dirty="0" err="1">
                <a:latin typeface="+mn-ea"/>
              </a:rPr>
              <a:t>브랜치</a:t>
            </a:r>
            <a:r>
              <a:rPr lang="ko-KR" altLang="en-US" sz="800" b="1" dirty="0">
                <a:latin typeface="+mn-ea"/>
              </a:rPr>
              <a:t> </a:t>
            </a:r>
            <a:r>
              <a:rPr lang="ko-KR" altLang="en-US" sz="800" b="1" dirty="0" smtClean="0">
                <a:latin typeface="+mn-ea"/>
              </a:rPr>
              <a:t>삭제</a:t>
            </a:r>
            <a:endParaRPr lang="ko-KR" altLang="en-US" sz="800" b="1" dirty="0"/>
          </a:p>
        </p:txBody>
      </p:sp>
      <p:sp>
        <p:nvSpPr>
          <p:cNvPr id="134" name="TextBox 133"/>
          <p:cNvSpPr txBox="1"/>
          <p:nvPr/>
        </p:nvSpPr>
        <p:spPr>
          <a:xfrm>
            <a:off x="5882885" y="3679103"/>
            <a:ext cx="1572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7</a:t>
            </a:r>
            <a:r>
              <a:rPr lang="ko-KR" altLang="en-US" sz="800" dirty="0" err="1" smtClean="0"/>
              <a:t>월정기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배포후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hotfix </a:t>
            </a:r>
            <a:r>
              <a:rPr lang="ko-KR" altLang="en-US" sz="800" dirty="0" smtClean="0"/>
              <a:t>발생</a:t>
            </a:r>
            <a:endParaRPr lang="en-US" altLang="ko-KR" sz="800" dirty="0" smtClean="0"/>
          </a:p>
          <a:p>
            <a:r>
              <a:rPr lang="en-US" altLang="ko-KR" sz="800" b="1" dirty="0" smtClean="0"/>
              <a:t>HOTFIX</a:t>
            </a:r>
            <a:r>
              <a:rPr lang="en-US" altLang="ko-KR" sz="800" b="1" dirty="0" smtClean="0">
                <a:latin typeface="+mn-ea"/>
              </a:rPr>
              <a:t>/</a:t>
            </a:r>
            <a:r>
              <a:rPr lang="en-US" altLang="ko-KR" sz="800" b="1" dirty="0"/>
              <a:t>HOTFIX</a:t>
            </a:r>
            <a:r>
              <a:rPr lang="en-US" altLang="ko-KR" sz="800" b="1" dirty="0" smtClean="0">
                <a:latin typeface="+mn-ea"/>
              </a:rPr>
              <a:t>_17.07.29.01</a:t>
            </a:r>
            <a:endParaRPr lang="ko-KR" altLang="en-US" sz="800" b="1" dirty="0"/>
          </a:p>
        </p:txBody>
      </p:sp>
      <p:sp>
        <p:nvSpPr>
          <p:cNvPr id="174" name="TextBox 173"/>
          <p:cNvSpPr txBox="1"/>
          <p:nvPr/>
        </p:nvSpPr>
        <p:spPr>
          <a:xfrm>
            <a:off x="1516261" y="3769912"/>
            <a:ext cx="23407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7</a:t>
            </a:r>
            <a:r>
              <a:rPr lang="ko-KR" altLang="en-US" sz="800" dirty="0" smtClean="0"/>
              <a:t>월 </a:t>
            </a:r>
            <a:r>
              <a:rPr lang="ko-KR" altLang="en-US" sz="800" dirty="0" err="1" smtClean="0"/>
              <a:t>비정기</a:t>
            </a:r>
            <a:r>
              <a:rPr lang="ko-KR" altLang="en-US" sz="800" dirty="0" smtClean="0"/>
              <a:t> 배포 시</a:t>
            </a:r>
            <a:endParaRPr lang="en-US" altLang="ko-KR" sz="800" dirty="0" smtClean="0"/>
          </a:p>
          <a:p>
            <a:r>
              <a:rPr lang="en-US" altLang="ko-KR" sz="800" dirty="0" smtClean="0"/>
              <a:t>master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병합 후</a:t>
            </a:r>
            <a:endParaRPr lang="en-US" altLang="ko-KR" sz="800" dirty="0" smtClean="0"/>
          </a:p>
          <a:p>
            <a:r>
              <a:rPr lang="en-US" altLang="ko-KR" sz="800" b="1" dirty="0" smtClean="0"/>
              <a:t>tag/HOTFIX_17.07.29.01_14.0.1.410 tag </a:t>
            </a:r>
            <a:r>
              <a:rPr lang="ko-KR" altLang="en-US" sz="800" b="1" dirty="0" smtClean="0"/>
              <a:t>생성</a:t>
            </a:r>
            <a:endParaRPr lang="en-US" altLang="ko-KR" sz="800" b="1" dirty="0" smtClean="0"/>
          </a:p>
          <a:p>
            <a:r>
              <a:rPr lang="en-US" altLang="ko-KR" sz="800" b="1" dirty="0" smtClean="0"/>
              <a:t>HOTFIX/</a:t>
            </a:r>
            <a:r>
              <a:rPr lang="en-US" altLang="ko-KR" sz="800" b="1" dirty="0"/>
              <a:t>HOTFIX</a:t>
            </a:r>
            <a:r>
              <a:rPr lang="en-US" altLang="ko-KR" sz="800" b="1" dirty="0" smtClean="0"/>
              <a:t>_17.07.29.01 </a:t>
            </a:r>
            <a:r>
              <a:rPr lang="ko-KR" altLang="en-US" sz="800" b="1" dirty="0" smtClean="0"/>
              <a:t>삭제</a:t>
            </a:r>
            <a:endParaRPr lang="en-US" altLang="ko-KR" sz="800" b="1" dirty="0" smtClean="0"/>
          </a:p>
        </p:txBody>
      </p:sp>
      <p:cxnSp>
        <p:nvCxnSpPr>
          <p:cNvPr id="141" name="직선 화살표 연결선 140"/>
          <p:cNvCxnSpPr>
            <a:stCxn id="120" idx="3"/>
            <a:endCxn id="164" idx="7"/>
          </p:cNvCxnSpPr>
          <p:nvPr/>
        </p:nvCxnSpPr>
        <p:spPr>
          <a:xfrm flipH="1">
            <a:off x="2067807" y="3551161"/>
            <a:ext cx="942993" cy="1884286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직선 화살표 연결선 177"/>
          <p:cNvCxnSpPr>
            <a:stCxn id="196" idx="6"/>
            <a:endCxn id="216" idx="2"/>
          </p:cNvCxnSpPr>
          <p:nvPr/>
        </p:nvCxnSpPr>
        <p:spPr>
          <a:xfrm>
            <a:off x="10606742" y="3459359"/>
            <a:ext cx="1016453" cy="39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166851" y="137008"/>
            <a:ext cx="3811591" cy="369332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/>
              <a:t>신규 </a:t>
            </a:r>
            <a:r>
              <a:rPr lang="en-US" altLang="ko-KR" dirty="0" smtClean="0"/>
              <a:t>Branch </a:t>
            </a:r>
            <a:r>
              <a:rPr lang="ko-KR" altLang="en-US" dirty="0" smtClean="0"/>
              <a:t>전략 흐름도</a:t>
            </a:r>
            <a:r>
              <a:rPr lang="en-US" altLang="ko-KR" dirty="0" smtClean="0"/>
              <a:t>(Feature)</a:t>
            </a:r>
            <a:endParaRPr lang="ko-KR" altLang="en-US" dirty="0"/>
          </a:p>
        </p:txBody>
      </p:sp>
      <p:sp>
        <p:nvSpPr>
          <p:cNvPr id="201" name="설명선 1 200"/>
          <p:cNvSpPr/>
          <p:nvPr/>
        </p:nvSpPr>
        <p:spPr>
          <a:xfrm>
            <a:off x="8227822" y="5796401"/>
            <a:ext cx="1676399" cy="326966"/>
          </a:xfrm>
          <a:prstGeom prst="borderCallout1">
            <a:avLst>
              <a:gd name="adj1" fmla="val -6305"/>
              <a:gd name="adj2" fmla="val 35771"/>
              <a:gd name="adj3" fmla="val -102557"/>
              <a:gd name="adj4" fmla="val -11398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다음 정기에 반영하기로 결정한 경우</a:t>
            </a:r>
            <a:endParaRPr lang="ko-KR" altLang="en-US" sz="800" dirty="0"/>
          </a:p>
        </p:txBody>
      </p:sp>
      <p:cxnSp>
        <p:nvCxnSpPr>
          <p:cNvPr id="194" name="직선 화살표 연결선 193"/>
          <p:cNvCxnSpPr>
            <a:stCxn id="251" idx="4"/>
            <a:endCxn id="217" idx="0"/>
          </p:cNvCxnSpPr>
          <p:nvPr/>
        </p:nvCxnSpPr>
        <p:spPr>
          <a:xfrm flipH="1">
            <a:off x="6942997" y="3551468"/>
            <a:ext cx="363386" cy="184157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2" name="설명선 1 201"/>
          <p:cNvSpPr/>
          <p:nvPr/>
        </p:nvSpPr>
        <p:spPr>
          <a:xfrm>
            <a:off x="3943051" y="6108065"/>
            <a:ext cx="1478377" cy="374652"/>
          </a:xfrm>
          <a:prstGeom prst="borderCallout1">
            <a:avLst>
              <a:gd name="adj1" fmla="val 50648"/>
              <a:gd name="adj2" fmla="val -1306"/>
              <a:gd name="adj3" fmla="val -158884"/>
              <a:gd name="adj4" fmla="val -1182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merge</a:t>
            </a:r>
            <a:r>
              <a:rPr lang="ko-KR" altLang="en-US" sz="800" dirty="0" smtClean="0"/>
              <a:t> 타이밍은 </a:t>
            </a:r>
            <a:r>
              <a:rPr lang="en-US" altLang="ko-KR" sz="800" dirty="0" smtClean="0"/>
              <a:t>1</a:t>
            </a:r>
            <a:r>
              <a:rPr lang="ko-KR" altLang="en-US" sz="800" dirty="0" smtClean="0"/>
              <a:t>주에 </a:t>
            </a:r>
            <a:r>
              <a:rPr lang="en-US" altLang="ko-KR" sz="800" dirty="0" smtClean="0"/>
              <a:t>1</a:t>
            </a:r>
            <a:r>
              <a:rPr lang="ko-KR" altLang="en-US" sz="800" dirty="0" smtClean="0"/>
              <a:t>번</a:t>
            </a:r>
            <a:endParaRPr lang="ko-KR" altLang="en-US" sz="800" dirty="0"/>
          </a:p>
        </p:txBody>
      </p:sp>
      <p:sp>
        <p:nvSpPr>
          <p:cNvPr id="240" name="타원 239"/>
          <p:cNvSpPr/>
          <p:nvPr/>
        </p:nvSpPr>
        <p:spPr>
          <a:xfrm>
            <a:off x="10148403" y="2291396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1" name="직선 화살표 연결선 240"/>
          <p:cNvCxnSpPr>
            <a:stCxn id="152" idx="6"/>
            <a:endCxn id="240" idx="2"/>
          </p:cNvCxnSpPr>
          <p:nvPr/>
        </p:nvCxnSpPr>
        <p:spPr>
          <a:xfrm>
            <a:off x="9973143" y="2402232"/>
            <a:ext cx="175260" cy="554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2" name="직선 화살표 연결선 241"/>
          <p:cNvCxnSpPr/>
          <p:nvPr/>
        </p:nvCxnSpPr>
        <p:spPr>
          <a:xfrm>
            <a:off x="4172780" y="222523"/>
            <a:ext cx="367296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3" name="직선 화살표 연결선 242"/>
          <p:cNvCxnSpPr/>
          <p:nvPr/>
        </p:nvCxnSpPr>
        <p:spPr>
          <a:xfrm>
            <a:off x="4172780" y="353509"/>
            <a:ext cx="36729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4" name="직선 화살표 연결선 243"/>
          <p:cNvCxnSpPr/>
          <p:nvPr/>
        </p:nvCxnSpPr>
        <p:spPr>
          <a:xfrm>
            <a:off x="4175581" y="471360"/>
            <a:ext cx="371393" cy="1012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7" name="직사각형 246"/>
          <p:cNvSpPr/>
          <p:nvPr/>
        </p:nvSpPr>
        <p:spPr>
          <a:xfrm>
            <a:off x="4608683" y="45283"/>
            <a:ext cx="8899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브랜치생성</a:t>
            </a:r>
            <a:endParaRPr lang="ko-KR" altLang="en-US" sz="1100" dirty="0"/>
          </a:p>
        </p:txBody>
      </p:sp>
      <p:sp>
        <p:nvSpPr>
          <p:cNvPr id="248" name="직사각형 247"/>
          <p:cNvSpPr/>
          <p:nvPr/>
        </p:nvSpPr>
        <p:spPr>
          <a:xfrm>
            <a:off x="4608683" y="200644"/>
            <a:ext cx="16818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브랜치병합</a:t>
            </a:r>
            <a:r>
              <a:rPr lang="en-US" altLang="ko-KR" sz="1100" dirty="0" smtClean="0"/>
              <a:t>(</a:t>
            </a:r>
            <a:r>
              <a:rPr lang="ko-KR" altLang="en-US" sz="1100" dirty="0" err="1" smtClean="0"/>
              <a:t>오버라이트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  <p:sp>
        <p:nvSpPr>
          <p:cNvPr id="249" name="직사각형 248"/>
          <p:cNvSpPr/>
          <p:nvPr/>
        </p:nvSpPr>
        <p:spPr>
          <a:xfrm>
            <a:off x="4608683" y="350684"/>
            <a:ext cx="8899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브랜치병합</a:t>
            </a:r>
            <a:endParaRPr lang="ko-KR" altLang="en-US" sz="1100" dirty="0"/>
          </a:p>
        </p:txBody>
      </p:sp>
      <p:sp>
        <p:nvSpPr>
          <p:cNvPr id="251" name="타원 250"/>
          <p:cNvSpPr/>
          <p:nvPr/>
        </p:nvSpPr>
        <p:spPr>
          <a:xfrm>
            <a:off x="7190005" y="3318713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3" name="TextBox 252"/>
          <p:cNvSpPr txBox="1"/>
          <p:nvPr/>
        </p:nvSpPr>
        <p:spPr>
          <a:xfrm>
            <a:off x="10372118" y="2466694"/>
            <a:ext cx="697627" cy="2154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800" dirty="0" err="1" smtClean="0"/>
              <a:t>핫픽스머지</a:t>
            </a:r>
            <a:endParaRPr lang="en-US" altLang="ko-KR" sz="800" dirty="0" smtClean="0"/>
          </a:p>
        </p:txBody>
      </p:sp>
      <p:sp>
        <p:nvSpPr>
          <p:cNvPr id="66" name="직사각형 65"/>
          <p:cNvSpPr/>
          <p:nvPr/>
        </p:nvSpPr>
        <p:spPr>
          <a:xfrm>
            <a:off x="7405388" y="3059249"/>
            <a:ext cx="233910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smtClean="0">
                <a:solidFill>
                  <a:srgbClr val="FF0000"/>
                </a:solidFill>
              </a:rPr>
              <a:t>tag</a:t>
            </a:r>
            <a:r>
              <a:rPr lang="en-US" altLang="ko-KR" sz="800" b="1" dirty="0">
                <a:solidFill>
                  <a:srgbClr val="FF0000"/>
                </a:solidFill>
              </a:rPr>
              <a:t>/HOTFIX-17.08.11</a:t>
            </a:r>
            <a:r>
              <a:rPr lang="en-US" altLang="ko-KR" sz="800" b="1" dirty="0" smtClean="0">
                <a:solidFill>
                  <a:srgbClr val="FF0000"/>
                </a:solidFill>
              </a:rPr>
              <a:t>.01_14.0.1.510 </a:t>
            </a:r>
            <a:r>
              <a:rPr lang="en-US" altLang="ko-KR" sz="800" b="1" dirty="0">
                <a:solidFill>
                  <a:srgbClr val="FF0000"/>
                </a:solidFill>
              </a:rPr>
              <a:t>tag </a:t>
            </a:r>
            <a:r>
              <a:rPr lang="ko-KR" altLang="en-US" sz="800" b="1" dirty="0">
                <a:solidFill>
                  <a:srgbClr val="FF0000"/>
                </a:solidFill>
              </a:rPr>
              <a:t>생성</a:t>
            </a:r>
            <a:endParaRPr lang="en-US" altLang="ko-KR" sz="800" b="1" dirty="0">
              <a:solidFill>
                <a:srgbClr val="FF0000"/>
              </a:solidFill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2976714" y="3352492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타원 124"/>
          <p:cNvSpPr/>
          <p:nvPr/>
        </p:nvSpPr>
        <p:spPr>
          <a:xfrm>
            <a:off x="1446516" y="5419465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/>
          <p:cNvSpPr/>
          <p:nvPr/>
        </p:nvSpPr>
        <p:spPr>
          <a:xfrm>
            <a:off x="6089370" y="3330371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9" name="TextBox 148"/>
          <p:cNvSpPr txBox="1"/>
          <p:nvPr/>
        </p:nvSpPr>
        <p:spPr>
          <a:xfrm>
            <a:off x="-2691" y="2258953"/>
            <a:ext cx="1427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     Release</a:t>
            </a:r>
            <a:endParaRPr lang="ko-KR" altLang="en-US" sz="1400" dirty="0"/>
          </a:p>
        </p:txBody>
      </p:sp>
      <p:sp>
        <p:nvSpPr>
          <p:cNvPr id="160" name="타원 159"/>
          <p:cNvSpPr/>
          <p:nvPr/>
        </p:nvSpPr>
        <p:spPr>
          <a:xfrm>
            <a:off x="103835" y="229646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타원 163"/>
          <p:cNvSpPr/>
          <p:nvPr/>
        </p:nvSpPr>
        <p:spPr>
          <a:xfrm>
            <a:off x="1869138" y="5401361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8" name="직선 화살표 연결선 227"/>
          <p:cNvCxnSpPr>
            <a:stCxn id="220" idx="0"/>
            <a:endCxn id="216" idx="3"/>
          </p:cNvCxnSpPr>
          <p:nvPr/>
        </p:nvCxnSpPr>
        <p:spPr>
          <a:xfrm flipV="1">
            <a:off x="11440544" y="3542046"/>
            <a:ext cx="216737" cy="184884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6" name="타원 165"/>
          <p:cNvSpPr/>
          <p:nvPr/>
        </p:nvSpPr>
        <p:spPr>
          <a:xfrm>
            <a:off x="8326418" y="2295379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직선 연결선 166"/>
          <p:cNvCxnSpPr>
            <a:endCxn id="166" idx="0"/>
          </p:cNvCxnSpPr>
          <p:nvPr/>
        </p:nvCxnSpPr>
        <p:spPr>
          <a:xfrm>
            <a:off x="8442795" y="2130325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직선 화살표 연결선 180"/>
          <p:cNvCxnSpPr>
            <a:stCxn id="188" idx="6"/>
            <a:endCxn id="166" idx="2"/>
          </p:cNvCxnSpPr>
          <p:nvPr/>
        </p:nvCxnSpPr>
        <p:spPr>
          <a:xfrm>
            <a:off x="7693401" y="2407214"/>
            <a:ext cx="633017" cy="454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6208323" y="2041653"/>
            <a:ext cx="1028955" cy="2154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800" dirty="0" smtClean="0"/>
              <a:t>작업기</a:t>
            </a:r>
            <a:r>
              <a:rPr lang="ko-KR" altLang="en-US" sz="800" dirty="0"/>
              <a:t>간</a:t>
            </a:r>
            <a:r>
              <a:rPr lang="en-US" altLang="ko-KR" sz="800" dirty="0" smtClean="0"/>
              <a:t>: 8/8~9/8</a:t>
            </a:r>
            <a:endParaRPr lang="ko-KR" altLang="en-US" sz="1100" dirty="0"/>
          </a:p>
        </p:txBody>
      </p:sp>
      <p:sp>
        <p:nvSpPr>
          <p:cNvPr id="188" name="타원 187"/>
          <p:cNvSpPr/>
          <p:nvPr/>
        </p:nvSpPr>
        <p:spPr>
          <a:xfrm>
            <a:off x="7460646" y="2290836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0" name="직선 연결선 189"/>
          <p:cNvCxnSpPr>
            <a:endCxn id="171" idx="0"/>
          </p:cNvCxnSpPr>
          <p:nvPr/>
        </p:nvCxnSpPr>
        <p:spPr>
          <a:xfrm>
            <a:off x="4330213" y="2150317"/>
            <a:ext cx="3858" cy="1678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>
            <a:off x="8442794" y="2528134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0" name="타원 199"/>
          <p:cNvSpPr/>
          <p:nvPr/>
        </p:nvSpPr>
        <p:spPr>
          <a:xfrm>
            <a:off x="9515012" y="3375880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직사각형 202"/>
          <p:cNvSpPr/>
          <p:nvPr/>
        </p:nvSpPr>
        <p:spPr>
          <a:xfrm>
            <a:off x="9032278" y="3662190"/>
            <a:ext cx="234070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tag/HOTFIX_17.08.11.01_14.0.1.520</a:t>
            </a:r>
            <a:r>
              <a:rPr lang="en-US" altLang="ko-KR" sz="8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800" b="1" dirty="0">
                <a:solidFill>
                  <a:srgbClr val="FF0000"/>
                </a:solidFill>
              </a:rPr>
              <a:t>tag </a:t>
            </a:r>
            <a:r>
              <a:rPr lang="ko-KR" altLang="en-US" sz="800" b="1" dirty="0">
                <a:solidFill>
                  <a:srgbClr val="FF0000"/>
                </a:solidFill>
              </a:rPr>
              <a:t>생성</a:t>
            </a:r>
            <a:endParaRPr lang="en-US" altLang="ko-KR" sz="800" b="1" dirty="0">
              <a:solidFill>
                <a:srgbClr val="FF0000"/>
              </a:solidFill>
            </a:endParaRPr>
          </a:p>
        </p:txBody>
      </p:sp>
      <p:sp>
        <p:nvSpPr>
          <p:cNvPr id="205" name="타원 204"/>
          <p:cNvSpPr/>
          <p:nvPr/>
        </p:nvSpPr>
        <p:spPr>
          <a:xfrm>
            <a:off x="5221553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1" name="직선 화살표 연결선 210"/>
          <p:cNvCxnSpPr>
            <a:stCxn id="205" idx="6"/>
            <a:endCxn id="212" idx="2"/>
          </p:cNvCxnSpPr>
          <p:nvPr/>
        </p:nvCxnSpPr>
        <p:spPr>
          <a:xfrm>
            <a:off x="5454308" y="5509425"/>
            <a:ext cx="16507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2" name="타원 211"/>
          <p:cNvSpPr/>
          <p:nvPr/>
        </p:nvSpPr>
        <p:spPr>
          <a:xfrm>
            <a:off x="5619379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2" name="직선 화살표 연결선 221"/>
          <p:cNvCxnSpPr>
            <a:stCxn id="212" idx="6"/>
            <a:endCxn id="214" idx="2"/>
          </p:cNvCxnSpPr>
          <p:nvPr/>
        </p:nvCxnSpPr>
        <p:spPr>
          <a:xfrm>
            <a:off x="5852134" y="5509425"/>
            <a:ext cx="57665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5" name="직선 화살표 연결선 224"/>
          <p:cNvCxnSpPr>
            <a:stCxn id="137" idx="4"/>
            <a:endCxn id="212" idx="6"/>
          </p:cNvCxnSpPr>
          <p:nvPr/>
        </p:nvCxnSpPr>
        <p:spPr>
          <a:xfrm flipH="1">
            <a:off x="5852134" y="3563126"/>
            <a:ext cx="353614" cy="194629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6" name="직선 화살표 연결선 225"/>
          <p:cNvCxnSpPr>
            <a:stCxn id="175" idx="5"/>
            <a:endCxn id="214" idx="0"/>
          </p:cNvCxnSpPr>
          <p:nvPr/>
        </p:nvCxnSpPr>
        <p:spPr>
          <a:xfrm flipH="1">
            <a:off x="6545171" y="3541109"/>
            <a:ext cx="269447" cy="1851938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2" name="타원 251"/>
          <p:cNvSpPr/>
          <p:nvPr/>
        </p:nvSpPr>
        <p:spPr>
          <a:xfrm>
            <a:off x="4974408" y="3351689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4" name="직선 화살표 연결선 253"/>
          <p:cNvCxnSpPr>
            <a:stCxn id="252" idx="4"/>
            <a:endCxn id="205" idx="0"/>
          </p:cNvCxnSpPr>
          <p:nvPr/>
        </p:nvCxnSpPr>
        <p:spPr>
          <a:xfrm>
            <a:off x="5090786" y="3584444"/>
            <a:ext cx="247145" cy="18086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2144478" y="1044059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7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sp>
        <p:nvSpPr>
          <p:cNvPr id="255" name="TextBox 254"/>
          <p:cNvSpPr txBox="1"/>
          <p:nvPr/>
        </p:nvSpPr>
        <p:spPr>
          <a:xfrm>
            <a:off x="4897103" y="904875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sp>
        <p:nvSpPr>
          <p:cNvPr id="256" name="TextBox 255"/>
          <p:cNvSpPr txBox="1"/>
          <p:nvPr/>
        </p:nvSpPr>
        <p:spPr>
          <a:xfrm>
            <a:off x="8427508" y="904875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cxnSp>
        <p:nvCxnSpPr>
          <p:cNvPr id="258" name="직선 화살표 연결선 257"/>
          <p:cNvCxnSpPr>
            <a:stCxn id="200" idx="7"/>
            <a:endCxn id="240" idx="3"/>
          </p:cNvCxnSpPr>
          <p:nvPr/>
        </p:nvCxnSpPr>
        <p:spPr>
          <a:xfrm flipV="1">
            <a:off x="9713681" y="2490065"/>
            <a:ext cx="468808" cy="919901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4" name="직선 화살표 연결선 273"/>
          <p:cNvCxnSpPr>
            <a:stCxn id="147" idx="7"/>
            <a:endCxn id="171" idx="3"/>
          </p:cNvCxnSpPr>
          <p:nvPr/>
        </p:nvCxnSpPr>
        <p:spPr>
          <a:xfrm flipV="1">
            <a:off x="4224504" y="2516811"/>
            <a:ext cx="27275" cy="85568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7" name="타원 146"/>
          <p:cNvSpPr/>
          <p:nvPr/>
        </p:nvSpPr>
        <p:spPr>
          <a:xfrm>
            <a:off x="4025835" y="3338411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타원 170"/>
          <p:cNvSpPr/>
          <p:nvPr/>
        </p:nvSpPr>
        <p:spPr>
          <a:xfrm>
            <a:off x="4217693" y="2318142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6" name="직선 화살표 연결선 175"/>
          <p:cNvCxnSpPr>
            <a:endCxn id="188" idx="2"/>
          </p:cNvCxnSpPr>
          <p:nvPr/>
        </p:nvCxnSpPr>
        <p:spPr>
          <a:xfrm>
            <a:off x="7096486" y="2402231"/>
            <a:ext cx="364160" cy="498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8" name="타원 207"/>
          <p:cNvSpPr/>
          <p:nvPr/>
        </p:nvSpPr>
        <p:spPr>
          <a:xfrm>
            <a:off x="6863731" y="2307575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3" name="직선 화살표 연결선 222"/>
          <p:cNvCxnSpPr>
            <a:stCxn id="251" idx="0"/>
            <a:endCxn id="208" idx="4"/>
          </p:cNvCxnSpPr>
          <p:nvPr/>
        </p:nvCxnSpPr>
        <p:spPr>
          <a:xfrm flipH="1" flipV="1">
            <a:off x="6980109" y="2540330"/>
            <a:ext cx="326274" cy="778383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4" name="직선 화살표 연결선 223"/>
          <p:cNvCxnSpPr>
            <a:stCxn id="175" idx="0"/>
            <a:endCxn id="227" idx="4"/>
          </p:cNvCxnSpPr>
          <p:nvPr/>
        </p:nvCxnSpPr>
        <p:spPr>
          <a:xfrm flipH="1" flipV="1">
            <a:off x="6568324" y="2547211"/>
            <a:ext cx="164003" cy="79522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7" name="타원 226"/>
          <p:cNvSpPr/>
          <p:nvPr/>
        </p:nvSpPr>
        <p:spPr>
          <a:xfrm>
            <a:off x="6451946" y="2314456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2" name="직선 화살표 연결선 231"/>
          <p:cNvCxnSpPr>
            <a:stCxn id="171" idx="6"/>
            <a:endCxn id="227" idx="2"/>
          </p:cNvCxnSpPr>
          <p:nvPr/>
        </p:nvCxnSpPr>
        <p:spPr>
          <a:xfrm flipV="1">
            <a:off x="4450448" y="2430834"/>
            <a:ext cx="2001498" cy="368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4" name="직선 화살표 연결선 233"/>
          <p:cNvCxnSpPr>
            <a:stCxn id="227" idx="6"/>
            <a:endCxn id="208" idx="2"/>
          </p:cNvCxnSpPr>
          <p:nvPr/>
        </p:nvCxnSpPr>
        <p:spPr>
          <a:xfrm flipV="1">
            <a:off x="6684701" y="2423953"/>
            <a:ext cx="179030" cy="688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7" name="직선 연결선 236"/>
          <p:cNvCxnSpPr/>
          <p:nvPr/>
        </p:nvCxnSpPr>
        <p:spPr>
          <a:xfrm>
            <a:off x="7417965" y="1291757"/>
            <a:ext cx="4166" cy="4106108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직선 화살표 연결선 237"/>
          <p:cNvCxnSpPr>
            <a:stCxn id="183" idx="1"/>
          </p:cNvCxnSpPr>
          <p:nvPr/>
        </p:nvCxnSpPr>
        <p:spPr>
          <a:xfrm flipH="1" flipV="1">
            <a:off x="4473665" y="2130325"/>
            <a:ext cx="1734658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직선 화살표 연결선 245"/>
          <p:cNvCxnSpPr>
            <a:stCxn id="183" idx="3"/>
          </p:cNvCxnSpPr>
          <p:nvPr/>
        </p:nvCxnSpPr>
        <p:spPr>
          <a:xfrm>
            <a:off x="7237278" y="2149375"/>
            <a:ext cx="1205516" cy="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타원 108"/>
          <p:cNvSpPr/>
          <p:nvPr/>
        </p:nvSpPr>
        <p:spPr>
          <a:xfrm>
            <a:off x="9523019" y="5377439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직선 화살표 연결선 110"/>
          <p:cNvCxnSpPr>
            <a:stCxn id="200" idx="4"/>
            <a:endCxn id="109" idx="1"/>
          </p:cNvCxnSpPr>
          <p:nvPr/>
        </p:nvCxnSpPr>
        <p:spPr>
          <a:xfrm flipH="1">
            <a:off x="9557105" y="3608635"/>
            <a:ext cx="74285" cy="1802890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48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444" y="861262"/>
            <a:ext cx="114188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Main </a:t>
            </a:r>
            <a:r>
              <a:rPr lang="ko-KR" altLang="en-US" dirty="0" err="1"/>
              <a:t>브랜치</a:t>
            </a:r>
            <a:r>
              <a:rPr lang="ko-KR" altLang="en-US" dirty="0"/>
              <a:t> 운영전략</a:t>
            </a:r>
            <a:endParaRPr lang="en-US" altLang="ko-KR" dirty="0"/>
          </a:p>
          <a:p>
            <a:endParaRPr lang="en-US" altLang="ko-KR" dirty="0"/>
          </a:p>
          <a:p>
            <a:pPr marL="800100" lvl="1" indent="-342900">
              <a:buAutoNum type="arabicPeriod"/>
            </a:pPr>
            <a:r>
              <a:rPr lang="ko-KR" altLang="en-US" dirty="0" err="1"/>
              <a:t>릴리즈브랜치</a:t>
            </a:r>
            <a:r>
              <a:rPr lang="en-US" altLang="ko-KR" dirty="0"/>
              <a:t>, </a:t>
            </a:r>
            <a:r>
              <a:rPr lang="ko-KR" altLang="en-US" dirty="0" err="1"/>
              <a:t>피처브랜치는</a:t>
            </a:r>
            <a:r>
              <a:rPr lang="ko-KR" altLang="en-US" dirty="0"/>
              <a:t> </a:t>
            </a:r>
            <a:r>
              <a:rPr lang="ko-KR" altLang="en-US" dirty="0" err="1"/>
              <a:t>메인브랜치에서</a:t>
            </a:r>
            <a:r>
              <a:rPr lang="ko-KR" altLang="en-US" dirty="0"/>
              <a:t> 생성한다</a:t>
            </a:r>
            <a:r>
              <a:rPr lang="en-US" altLang="ko-KR" dirty="0"/>
              <a:t>.</a:t>
            </a:r>
          </a:p>
          <a:p>
            <a:pPr marL="800100" lvl="1" indent="-342900">
              <a:buFontTx/>
              <a:buAutoNum type="arabicPeriod"/>
            </a:pPr>
            <a:r>
              <a:rPr lang="ko-KR" altLang="en-US" dirty="0" err="1"/>
              <a:t>핫픽스</a:t>
            </a:r>
            <a:r>
              <a:rPr lang="ko-KR" altLang="en-US" dirty="0"/>
              <a:t> 발생시 라벨로 생성하고 배포한다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부서별 역할</a:t>
            </a:r>
            <a:endParaRPr lang="en-US" altLang="ko-KR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조정그룹 </a:t>
            </a:r>
            <a:r>
              <a:rPr lang="en-US" altLang="ko-KR" dirty="0"/>
              <a:t>: </a:t>
            </a:r>
            <a:r>
              <a:rPr lang="ko-KR" altLang="en-US" dirty="0" err="1"/>
              <a:t>메인브랜치</a:t>
            </a:r>
            <a:r>
              <a:rPr lang="ko-KR" altLang="en-US" dirty="0"/>
              <a:t> </a:t>
            </a:r>
            <a:r>
              <a:rPr lang="ko-KR" altLang="en-US" dirty="0" err="1"/>
              <a:t>핫픽스</a:t>
            </a:r>
            <a:r>
              <a:rPr lang="ko-KR" altLang="en-US" dirty="0"/>
              <a:t> 라벨을 생성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개발그룹</a:t>
            </a:r>
            <a:r>
              <a:rPr lang="en-US" altLang="ko-KR" dirty="0"/>
              <a:t>-</a:t>
            </a:r>
            <a:r>
              <a:rPr lang="ko-KR" altLang="en-US" dirty="0"/>
              <a:t>개발자 </a:t>
            </a:r>
            <a:r>
              <a:rPr lang="en-US" altLang="ko-KR" dirty="0"/>
              <a:t>: </a:t>
            </a:r>
            <a:r>
              <a:rPr lang="ko-KR" altLang="en-US" dirty="0" err="1"/>
              <a:t>피처브랜치</a:t>
            </a:r>
            <a:r>
              <a:rPr lang="ko-KR" altLang="en-US" dirty="0"/>
              <a:t> 수시 </a:t>
            </a:r>
            <a:r>
              <a:rPr lang="ko-KR" altLang="en-US" dirty="0" err="1"/>
              <a:t>머지작업</a:t>
            </a:r>
            <a:r>
              <a:rPr lang="en-US" altLang="ko-KR" dirty="0"/>
              <a:t>, </a:t>
            </a:r>
            <a:r>
              <a:rPr lang="ko-KR" altLang="en-US" dirty="0"/>
              <a:t>개발작업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개발그룹</a:t>
            </a:r>
            <a:r>
              <a:rPr lang="en-US" altLang="ko-KR" dirty="0"/>
              <a:t>-QC : </a:t>
            </a:r>
            <a:r>
              <a:rPr lang="ko-KR" altLang="en-US" dirty="0" err="1"/>
              <a:t>피처브랜치</a:t>
            </a:r>
            <a:r>
              <a:rPr lang="ko-KR" altLang="en-US" dirty="0"/>
              <a:t> 테스트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개발그룹</a:t>
            </a:r>
            <a:r>
              <a:rPr lang="en-US" altLang="ko-KR" dirty="0"/>
              <a:t>-</a:t>
            </a:r>
            <a:r>
              <a:rPr lang="ko-KR" altLang="en-US" dirty="0" err="1"/>
              <a:t>브랜치</a:t>
            </a:r>
            <a:r>
              <a:rPr lang="ko-KR" altLang="en-US" dirty="0"/>
              <a:t> 관리자 </a:t>
            </a:r>
            <a:r>
              <a:rPr lang="en-US" altLang="ko-KR" dirty="0"/>
              <a:t>:  </a:t>
            </a:r>
            <a:r>
              <a:rPr lang="ko-KR" altLang="en-US" dirty="0" err="1"/>
              <a:t>릴리즈</a:t>
            </a:r>
            <a:r>
              <a:rPr lang="ko-KR" altLang="en-US" dirty="0"/>
              <a:t> </a:t>
            </a:r>
            <a:r>
              <a:rPr lang="ko-KR" altLang="en-US" dirty="0" err="1"/>
              <a:t>브랜치</a:t>
            </a:r>
            <a:r>
              <a:rPr lang="ko-KR" altLang="en-US" dirty="0"/>
              <a:t> 생성</a:t>
            </a:r>
            <a:r>
              <a:rPr lang="en-US" altLang="ko-KR" dirty="0" smtClean="0"/>
              <a:t>. , </a:t>
            </a:r>
            <a:r>
              <a:rPr lang="ko-KR" altLang="en-US" dirty="0" err="1" smtClean="0"/>
              <a:t>릴리즈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메인브랜치로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오버라이트</a:t>
            </a:r>
            <a:endParaRPr lang="en-US" altLang="ko-KR" dirty="0"/>
          </a:p>
          <a:p>
            <a:pPr lvl="1"/>
            <a:r>
              <a:rPr lang="en-US" altLang="ko-KR" dirty="0"/>
              <a:t>-QA</a:t>
            </a:r>
            <a:r>
              <a:rPr lang="ko-KR" altLang="en-US" dirty="0"/>
              <a:t>그룹 </a:t>
            </a:r>
            <a:r>
              <a:rPr lang="en-US" altLang="ko-KR" dirty="0"/>
              <a:t>: </a:t>
            </a:r>
            <a:r>
              <a:rPr lang="ko-KR" altLang="en-US" dirty="0" err="1"/>
              <a:t>릴리즈</a:t>
            </a:r>
            <a:r>
              <a:rPr lang="ko-KR" altLang="en-US" dirty="0"/>
              <a:t> </a:t>
            </a:r>
            <a:r>
              <a:rPr lang="ko-KR" altLang="en-US" dirty="0" err="1"/>
              <a:t>브랜치</a:t>
            </a:r>
            <a:r>
              <a:rPr lang="ko-KR" altLang="en-US" dirty="0"/>
              <a:t> </a:t>
            </a:r>
            <a:r>
              <a:rPr lang="ko-KR" altLang="en-US" dirty="0" err="1"/>
              <a:t>정기배포시</a:t>
            </a:r>
            <a:r>
              <a:rPr lang="ko-KR" altLang="en-US" dirty="0"/>
              <a:t> 라벨을 생성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	</a:t>
            </a:r>
          </a:p>
          <a:p>
            <a:pPr lvl="1"/>
            <a:endParaRPr lang="en-US" altLang="ko-KR" dirty="0" smtClean="0"/>
          </a:p>
          <a:p>
            <a:pPr marL="800100" lvl="1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120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직선 연결선 229"/>
          <p:cNvCxnSpPr/>
          <p:nvPr/>
        </p:nvCxnSpPr>
        <p:spPr>
          <a:xfrm flipH="1">
            <a:off x="3877399" y="1302471"/>
            <a:ext cx="23919" cy="4331195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192110" y="4498269"/>
            <a:ext cx="10604341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1995" y="4346855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 dirty="0" smtClean="0"/>
              <a:t>main</a:t>
            </a:r>
            <a:endParaRPr lang="ko-KR" altLang="en-US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-89134" y="3299554"/>
            <a:ext cx="1615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 smtClean="0"/>
              <a:t>Release M+1</a:t>
            </a:r>
            <a:endParaRPr lang="ko-KR" alt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401706" y="5355538"/>
            <a:ext cx="754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 smtClean="0"/>
              <a:t>feature</a:t>
            </a:r>
            <a:endParaRPr lang="ko-KR" altLang="en-US" sz="1400" dirty="0"/>
          </a:p>
        </p:txBody>
      </p:sp>
      <p:cxnSp>
        <p:nvCxnSpPr>
          <p:cNvPr id="16" name="직선 연결선 15"/>
          <p:cNvCxnSpPr/>
          <p:nvPr/>
        </p:nvCxnSpPr>
        <p:spPr>
          <a:xfrm>
            <a:off x="1139938" y="2434990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139938" y="3455600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300027" y="4481737"/>
            <a:ext cx="10335402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139938" y="5526435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32" idx="4"/>
            <a:endCxn id="133" idx="4"/>
          </p:cNvCxnSpPr>
          <p:nvPr/>
        </p:nvCxnSpPr>
        <p:spPr>
          <a:xfrm flipV="1">
            <a:off x="2299169" y="2524675"/>
            <a:ext cx="338018" cy="209700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타원 60"/>
          <p:cNvSpPr/>
          <p:nvPr/>
        </p:nvSpPr>
        <p:spPr>
          <a:xfrm>
            <a:off x="172157" y="438436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/>
          <p:cNvSpPr/>
          <p:nvPr/>
        </p:nvSpPr>
        <p:spPr>
          <a:xfrm>
            <a:off x="119985" y="3337064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/>
          <p:cNvSpPr/>
          <p:nvPr/>
        </p:nvSpPr>
        <p:spPr>
          <a:xfrm>
            <a:off x="119985" y="5393048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4139866" y="2585025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8/7 : 8</a:t>
            </a:r>
            <a:r>
              <a:rPr lang="ko-KR" altLang="en-US" sz="800" dirty="0" smtClean="0"/>
              <a:t>월 정기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RELEASE</a:t>
            </a:r>
            <a:r>
              <a:rPr lang="en-US" altLang="ko-KR" sz="800" b="1" dirty="0">
                <a:latin typeface="+mn-ea"/>
              </a:rPr>
              <a:t>/RELEASE_17.08.23.00</a:t>
            </a:r>
            <a:endParaRPr lang="ko-KR" altLang="en-US" sz="800" b="1" dirty="0"/>
          </a:p>
        </p:txBody>
      </p:sp>
      <p:sp>
        <p:nvSpPr>
          <p:cNvPr id="75" name="직사각형 74"/>
          <p:cNvSpPr/>
          <p:nvPr/>
        </p:nvSpPr>
        <p:spPr>
          <a:xfrm>
            <a:off x="6607274" y="224039"/>
            <a:ext cx="5189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7</a:t>
            </a:r>
            <a:r>
              <a:rPr lang="ko-KR" altLang="en-US" dirty="0" err="1" smtClean="0"/>
              <a:t>월정기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(deploy:7/26, codefreezing:7/12~7/25)</a:t>
            </a:r>
            <a:endParaRPr lang="ko-KR" altLang="en-US" dirty="0"/>
          </a:p>
        </p:txBody>
      </p:sp>
      <p:sp>
        <p:nvSpPr>
          <p:cNvPr id="82" name="타원 81"/>
          <p:cNvSpPr/>
          <p:nvPr/>
        </p:nvSpPr>
        <p:spPr>
          <a:xfrm>
            <a:off x="4005706" y="229646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연결선 90"/>
          <p:cNvCxnSpPr>
            <a:endCxn id="82" idx="0"/>
          </p:cNvCxnSpPr>
          <p:nvPr/>
        </p:nvCxnSpPr>
        <p:spPr>
          <a:xfrm>
            <a:off x="4122083" y="2131409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3" name="타원 92"/>
          <p:cNvSpPr/>
          <p:nvPr/>
        </p:nvSpPr>
        <p:spPr>
          <a:xfrm>
            <a:off x="4476367" y="229646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/>
          <p:cNvSpPr/>
          <p:nvPr/>
        </p:nvSpPr>
        <p:spPr>
          <a:xfrm>
            <a:off x="4947029" y="229646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6" name="직선 화살표 연결선 95"/>
          <p:cNvCxnSpPr>
            <a:stCxn id="82" idx="6"/>
            <a:endCxn id="93" idx="2"/>
          </p:cNvCxnSpPr>
          <p:nvPr/>
        </p:nvCxnSpPr>
        <p:spPr>
          <a:xfrm>
            <a:off x="4238461" y="2412841"/>
            <a:ext cx="237906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93" idx="6"/>
            <a:endCxn id="94" idx="2"/>
          </p:cNvCxnSpPr>
          <p:nvPr/>
        </p:nvCxnSpPr>
        <p:spPr>
          <a:xfrm>
            <a:off x="4709122" y="2412841"/>
            <a:ext cx="237907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3" name="타원 102"/>
          <p:cNvSpPr/>
          <p:nvPr/>
        </p:nvSpPr>
        <p:spPr>
          <a:xfrm>
            <a:off x="5419676" y="229646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화살표 연결선 103"/>
          <p:cNvCxnSpPr>
            <a:stCxn id="94" idx="6"/>
            <a:endCxn id="103" idx="2"/>
          </p:cNvCxnSpPr>
          <p:nvPr/>
        </p:nvCxnSpPr>
        <p:spPr>
          <a:xfrm>
            <a:off x="5179784" y="2412841"/>
            <a:ext cx="239892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직선 연결선 104"/>
          <p:cNvCxnSpPr>
            <a:endCxn id="103" idx="0"/>
          </p:cNvCxnSpPr>
          <p:nvPr/>
        </p:nvCxnSpPr>
        <p:spPr>
          <a:xfrm>
            <a:off x="5536053" y="2131409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2" name="타원 131"/>
          <p:cNvSpPr/>
          <p:nvPr/>
        </p:nvSpPr>
        <p:spPr>
          <a:xfrm>
            <a:off x="2182791" y="438892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2625958" y="4096485"/>
            <a:ext cx="17988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rgbClr val="FF0000"/>
                </a:solidFill>
              </a:rPr>
              <a:t>tag:hotfix-16.07.29.01_14.0.1.410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324941" y="2013753"/>
            <a:ext cx="1028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 smtClean="0"/>
              <a:t>프리징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8/8~8/22</a:t>
            </a:r>
            <a:endParaRPr lang="ko-KR" altLang="en-US" sz="1100" dirty="0"/>
          </a:p>
        </p:txBody>
      </p:sp>
      <p:cxnSp>
        <p:nvCxnSpPr>
          <p:cNvPr id="155" name="직선 화살표 연결선 154"/>
          <p:cNvCxnSpPr>
            <a:stCxn id="100" idx="3"/>
          </p:cNvCxnSpPr>
          <p:nvPr/>
        </p:nvCxnSpPr>
        <p:spPr>
          <a:xfrm>
            <a:off x="5353896" y="2121475"/>
            <a:ext cx="162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/>
          <p:cNvCxnSpPr>
            <a:stCxn id="100" idx="1"/>
          </p:cNvCxnSpPr>
          <p:nvPr/>
        </p:nvCxnSpPr>
        <p:spPr>
          <a:xfrm flipH="1">
            <a:off x="4139866" y="2121475"/>
            <a:ext cx="185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타원 174"/>
          <p:cNvSpPr/>
          <p:nvPr/>
        </p:nvSpPr>
        <p:spPr>
          <a:xfrm>
            <a:off x="6567132" y="437967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7" name="TextBox 176"/>
          <p:cNvSpPr txBox="1"/>
          <p:nvPr/>
        </p:nvSpPr>
        <p:spPr>
          <a:xfrm>
            <a:off x="6399900" y="2704429"/>
            <a:ext cx="18517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tag:release-17.08.23.00_14.0.1.500</a:t>
            </a:r>
            <a:endParaRPr lang="ko-KR" altLang="en-US" sz="800" b="1" dirty="0"/>
          </a:p>
        </p:txBody>
      </p:sp>
      <p:cxnSp>
        <p:nvCxnSpPr>
          <p:cNvPr id="184" name="직선 화살표 연결선 183"/>
          <p:cNvCxnSpPr>
            <a:stCxn id="192" idx="4"/>
            <a:endCxn id="175" idx="0"/>
          </p:cNvCxnSpPr>
          <p:nvPr/>
        </p:nvCxnSpPr>
        <p:spPr>
          <a:xfrm>
            <a:off x="6069729" y="2531073"/>
            <a:ext cx="613781" cy="184860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5" name="타원 244"/>
          <p:cNvSpPr/>
          <p:nvPr/>
        </p:nvSpPr>
        <p:spPr>
          <a:xfrm>
            <a:off x="1361095" y="438892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9" name="직선 화살표 연결선 328"/>
          <p:cNvCxnSpPr>
            <a:stCxn id="245" idx="6"/>
            <a:endCxn id="132" idx="2"/>
          </p:cNvCxnSpPr>
          <p:nvPr/>
        </p:nvCxnSpPr>
        <p:spPr>
          <a:xfrm>
            <a:off x="1593850" y="4505304"/>
            <a:ext cx="58894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2" name="직선 화살표 연결선 331"/>
          <p:cNvCxnSpPr>
            <a:stCxn id="132" idx="6"/>
            <a:endCxn id="175" idx="2"/>
          </p:cNvCxnSpPr>
          <p:nvPr/>
        </p:nvCxnSpPr>
        <p:spPr>
          <a:xfrm flipV="1">
            <a:off x="2415546" y="4496054"/>
            <a:ext cx="4151586" cy="925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6" name="타원 215"/>
          <p:cNvSpPr/>
          <p:nvPr/>
        </p:nvSpPr>
        <p:spPr>
          <a:xfrm>
            <a:off x="11574378" y="4380613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8" name="직선 화살표 연결선 217"/>
          <p:cNvCxnSpPr>
            <a:stCxn id="175" idx="6"/>
            <a:endCxn id="196" idx="2"/>
          </p:cNvCxnSpPr>
          <p:nvPr/>
        </p:nvCxnSpPr>
        <p:spPr>
          <a:xfrm>
            <a:off x="6799887" y="4496054"/>
            <a:ext cx="3525283" cy="54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직선 화살표 연결선 164"/>
          <p:cNvCxnSpPr>
            <a:stCxn id="245" idx="4"/>
            <a:endCxn id="125" idx="0"/>
          </p:cNvCxnSpPr>
          <p:nvPr/>
        </p:nvCxnSpPr>
        <p:spPr>
          <a:xfrm>
            <a:off x="1477473" y="4621681"/>
            <a:ext cx="85421" cy="79778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4" name="직선 화살표 연결선 203"/>
          <p:cNvCxnSpPr>
            <a:stCxn id="125" idx="6"/>
            <a:endCxn id="206" idx="2"/>
          </p:cNvCxnSpPr>
          <p:nvPr/>
        </p:nvCxnSpPr>
        <p:spPr>
          <a:xfrm flipV="1">
            <a:off x="1679271" y="5517739"/>
            <a:ext cx="673418" cy="1810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6" name="타원 205"/>
          <p:cNvSpPr/>
          <p:nvPr/>
        </p:nvSpPr>
        <p:spPr>
          <a:xfrm>
            <a:off x="2352689" y="5401361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TextBox 138"/>
          <p:cNvSpPr txBox="1"/>
          <p:nvPr/>
        </p:nvSpPr>
        <p:spPr>
          <a:xfrm>
            <a:off x="8411761" y="3611652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9/7 : 9</a:t>
            </a:r>
            <a:r>
              <a:rPr lang="ko-KR" altLang="en-US" sz="800" dirty="0" smtClean="0"/>
              <a:t>월 정기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RELEASE/</a:t>
            </a:r>
            <a:r>
              <a:rPr lang="en-US" altLang="ko-KR" sz="800" b="1" dirty="0">
                <a:latin typeface="+mn-ea"/>
              </a:rPr>
              <a:t>RELEASE</a:t>
            </a:r>
            <a:r>
              <a:rPr lang="en-US" altLang="ko-KR" sz="800" b="1" dirty="0" smtClean="0">
                <a:latin typeface="+mn-ea"/>
              </a:rPr>
              <a:t>_17.09.27.00</a:t>
            </a:r>
            <a:endParaRPr lang="ko-KR" altLang="en-US" sz="800" b="1" dirty="0"/>
          </a:p>
        </p:txBody>
      </p:sp>
      <p:sp>
        <p:nvSpPr>
          <p:cNvPr id="143" name="타원 142"/>
          <p:cNvSpPr/>
          <p:nvPr/>
        </p:nvSpPr>
        <p:spPr>
          <a:xfrm>
            <a:off x="8277601" y="3323090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4" name="직선 연결선 143"/>
          <p:cNvCxnSpPr>
            <a:endCxn id="143" idx="0"/>
          </p:cNvCxnSpPr>
          <p:nvPr/>
        </p:nvCxnSpPr>
        <p:spPr>
          <a:xfrm>
            <a:off x="8393978" y="3158036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5" name="타원 144"/>
          <p:cNvSpPr/>
          <p:nvPr/>
        </p:nvSpPr>
        <p:spPr>
          <a:xfrm>
            <a:off x="8748262" y="3323090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타원 145"/>
          <p:cNvSpPr/>
          <p:nvPr/>
        </p:nvSpPr>
        <p:spPr>
          <a:xfrm>
            <a:off x="9180824" y="3332615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0" name="직선 화살표 연결선 149"/>
          <p:cNvCxnSpPr>
            <a:stCxn id="143" idx="6"/>
            <a:endCxn id="145" idx="2"/>
          </p:cNvCxnSpPr>
          <p:nvPr/>
        </p:nvCxnSpPr>
        <p:spPr>
          <a:xfrm>
            <a:off x="8510356" y="3439468"/>
            <a:ext cx="237906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1" name="직선 화살표 연결선 150"/>
          <p:cNvCxnSpPr>
            <a:stCxn id="145" idx="6"/>
            <a:endCxn id="146" idx="2"/>
          </p:cNvCxnSpPr>
          <p:nvPr/>
        </p:nvCxnSpPr>
        <p:spPr>
          <a:xfrm>
            <a:off x="8981017" y="3439468"/>
            <a:ext cx="199807" cy="952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2" name="타원 151"/>
          <p:cNvSpPr/>
          <p:nvPr/>
        </p:nvSpPr>
        <p:spPr>
          <a:xfrm>
            <a:off x="9691571" y="3323090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3" name="직선 화살표 연결선 152"/>
          <p:cNvCxnSpPr>
            <a:stCxn id="146" idx="6"/>
            <a:endCxn id="152" idx="2"/>
          </p:cNvCxnSpPr>
          <p:nvPr/>
        </p:nvCxnSpPr>
        <p:spPr>
          <a:xfrm flipV="1">
            <a:off x="9413579" y="3439468"/>
            <a:ext cx="277992" cy="952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직선 연결선 153"/>
          <p:cNvCxnSpPr>
            <a:endCxn id="152" idx="0"/>
          </p:cNvCxnSpPr>
          <p:nvPr/>
        </p:nvCxnSpPr>
        <p:spPr>
          <a:xfrm>
            <a:off x="9807948" y="3158036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8596836" y="3017520"/>
            <a:ext cx="1028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 smtClean="0"/>
              <a:t>프리징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9/8~9/26</a:t>
            </a:r>
            <a:endParaRPr lang="ko-KR" altLang="en-US" sz="1100" dirty="0"/>
          </a:p>
        </p:txBody>
      </p:sp>
      <p:cxnSp>
        <p:nvCxnSpPr>
          <p:cNvPr id="158" name="직선 화살표 연결선 157"/>
          <p:cNvCxnSpPr>
            <a:stCxn id="157" idx="3"/>
          </p:cNvCxnSpPr>
          <p:nvPr/>
        </p:nvCxnSpPr>
        <p:spPr>
          <a:xfrm>
            <a:off x="9625791" y="3125242"/>
            <a:ext cx="162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화살표 연결선 158"/>
          <p:cNvCxnSpPr>
            <a:stCxn id="157" idx="1"/>
          </p:cNvCxnSpPr>
          <p:nvPr/>
        </p:nvCxnSpPr>
        <p:spPr>
          <a:xfrm flipH="1">
            <a:off x="8411761" y="3125242"/>
            <a:ext cx="185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화살표 연결선 160"/>
          <p:cNvCxnSpPr>
            <a:stCxn id="240" idx="0"/>
          </p:cNvCxnSpPr>
          <p:nvPr/>
        </p:nvCxnSpPr>
        <p:spPr>
          <a:xfrm>
            <a:off x="10215964" y="3328632"/>
            <a:ext cx="225584" cy="105158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6" name="타원 195"/>
          <p:cNvSpPr/>
          <p:nvPr/>
        </p:nvSpPr>
        <p:spPr>
          <a:xfrm>
            <a:off x="10325170" y="4380217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9" name="직선 화살표 연결선 208"/>
          <p:cNvCxnSpPr>
            <a:stCxn id="206" idx="0"/>
            <a:endCxn id="132" idx="4"/>
          </p:cNvCxnSpPr>
          <p:nvPr/>
        </p:nvCxnSpPr>
        <p:spPr>
          <a:xfrm flipH="1" flipV="1">
            <a:off x="2299169" y="4621681"/>
            <a:ext cx="169898" cy="77968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1668014" y="5660534"/>
            <a:ext cx="2233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8</a:t>
            </a:r>
            <a:r>
              <a:rPr lang="ko-KR" altLang="en-US" sz="800" dirty="0" smtClean="0"/>
              <a:t>월 정기 포함될 기능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FEATURE/FEATURE_RP####_</a:t>
            </a:r>
            <a:r>
              <a:rPr lang="en-US" altLang="ko-KR" sz="800" b="1" dirty="0" err="1" smtClean="0">
                <a:latin typeface="+mn-ea"/>
              </a:rPr>
              <a:t>feature_name</a:t>
            </a:r>
            <a:endParaRPr lang="en-US" altLang="ko-KR" sz="800" b="1" dirty="0" smtClean="0">
              <a:latin typeface="+mn-ea"/>
            </a:endParaRPr>
          </a:p>
          <a:p>
            <a:r>
              <a:rPr lang="ko-KR" altLang="en-US" sz="800" b="1" dirty="0" smtClean="0">
                <a:latin typeface="+mn-ea"/>
              </a:rPr>
              <a:t>메인 병합</a:t>
            </a:r>
            <a:endParaRPr lang="ko-KR" altLang="en-US" sz="800" b="1" dirty="0"/>
          </a:p>
        </p:txBody>
      </p:sp>
      <p:sp>
        <p:nvSpPr>
          <p:cNvPr id="213" name="TextBox 212"/>
          <p:cNvSpPr txBox="1"/>
          <p:nvPr/>
        </p:nvSpPr>
        <p:spPr>
          <a:xfrm>
            <a:off x="10266473" y="3959633"/>
            <a:ext cx="19255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tag:R</a:t>
            </a:r>
            <a:r>
              <a:rPr lang="en-US" altLang="ko-KR" sz="800" b="1" dirty="0" smtClean="0">
                <a:latin typeface="+mn-ea"/>
              </a:rPr>
              <a:t>ELEASE</a:t>
            </a:r>
            <a:r>
              <a:rPr lang="en-US" altLang="ko-KR" sz="800" b="1" dirty="0" smtClean="0"/>
              <a:t>_16.09.27.00_14.0.1.600</a:t>
            </a:r>
            <a:endParaRPr lang="ko-KR" altLang="en-US" sz="800" b="1" dirty="0"/>
          </a:p>
        </p:txBody>
      </p:sp>
      <p:sp>
        <p:nvSpPr>
          <p:cNvPr id="214" name="타원 213"/>
          <p:cNvSpPr/>
          <p:nvPr/>
        </p:nvSpPr>
        <p:spPr>
          <a:xfrm>
            <a:off x="6428793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5" name="직선 화살표 연결선 214"/>
          <p:cNvCxnSpPr>
            <a:stCxn id="214" idx="6"/>
            <a:endCxn id="217" idx="2"/>
          </p:cNvCxnSpPr>
          <p:nvPr/>
        </p:nvCxnSpPr>
        <p:spPr>
          <a:xfrm>
            <a:off x="6661548" y="5509425"/>
            <a:ext cx="16507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7" name="타원 216"/>
          <p:cNvSpPr/>
          <p:nvPr/>
        </p:nvSpPr>
        <p:spPr>
          <a:xfrm>
            <a:off x="6826619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9" name="직선 화살표 연결선 218"/>
          <p:cNvCxnSpPr>
            <a:stCxn id="217" idx="6"/>
            <a:endCxn id="220" idx="2"/>
          </p:cNvCxnSpPr>
          <p:nvPr/>
        </p:nvCxnSpPr>
        <p:spPr>
          <a:xfrm flipV="1">
            <a:off x="7059374" y="5507268"/>
            <a:ext cx="4264792" cy="215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0" name="타원 219"/>
          <p:cNvSpPr/>
          <p:nvPr/>
        </p:nvSpPr>
        <p:spPr>
          <a:xfrm>
            <a:off x="11324166" y="5390890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TextBox 220"/>
          <p:cNvSpPr txBox="1"/>
          <p:nvPr/>
        </p:nvSpPr>
        <p:spPr>
          <a:xfrm>
            <a:off x="5896530" y="5652220"/>
            <a:ext cx="2233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9</a:t>
            </a:r>
            <a:r>
              <a:rPr lang="ko-KR" altLang="en-US" sz="800" dirty="0" smtClean="0"/>
              <a:t>월 정기 포함될 기능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>
                <a:latin typeface="+mn-ea"/>
              </a:rPr>
              <a:t>FEATURE/FEATURE_RP####_</a:t>
            </a:r>
            <a:r>
              <a:rPr lang="en-US" altLang="ko-KR" sz="800" b="1" dirty="0" err="1">
                <a:latin typeface="+mn-ea"/>
              </a:rPr>
              <a:t>feature_name</a:t>
            </a:r>
            <a:endParaRPr lang="en-US" altLang="ko-KR" sz="800" b="1" dirty="0">
              <a:latin typeface="+mn-ea"/>
            </a:endParaRPr>
          </a:p>
          <a:p>
            <a:r>
              <a:rPr lang="en-US" altLang="ko-KR" sz="800" b="1" dirty="0" smtClean="0">
                <a:latin typeface="+mn-ea"/>
              </a:rPr>
              <a:t>develop </a:t>
            </a:r>
            <a:r>
              <a:rPr lang="ko-KR" altLang="en-US" sz="800" b="1" dirty="0">
                <a:latin typeface="+mn-ea"/>
              </a:rPr>
              <a:t>병합 후 </a:t>
            </a:r>
            <a:r>
              <a:rPr lang="ko-KR" altLang="en-US" sz="800" b="1" dirty="0" err="1">
                <a:latin typeface="+mn-ea"/>
              </a:rPr>
              <a:t>브랜치</a:t>
            </a:r>
            <a:r>
              <a:rPr lang="ko-KR" altLang="en-US" sz="800" b="1" dirty="0">
                <a:latin typeface="+mn-ea"/>
              </a:rPr>
              <a:t> </a:t>
            </a:r>
            <a:r>
              <a:rPr lang="ko-KR" altLang="en-US" sz="800" b="1" dirty="0" smtClean="0">
                <a:latin typeface="+mn-ea"/>
              </a:rPr>
              <a:t>삭제</a:t>
            </a:r>
            <a:endParaRPr lang="ko-KR" altLang="en-US" sz="800" b="1" dirty="0"/>
          </a:p>
        </p:txBody>
      </p:sp>
      <p:sp>
        <p:nvSpPr>
          <p:cNvPr id="134" name="TextBox 133"/>
          <p:cNvSpPr txBox="1"/>
          <p:nvPr/>
        </p:nvSpPr>
        <p:spPr>
          <a:xfrm>
            <a:off x="5834068" y="4716339"/>
            <a:ext cx="1572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7</a:t>
            </a:r>
            <a:r>
              <a:rPr lang="ko-KR" altLang="en-US" sz="800" dirty="0" err="1" smtClean="0"/>
              <a:t>월정기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배포후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hotfix </a:t>
            </a:r>
            <a:r>
              <a:rPr lang="ko-KR" altLang="en-US" sz="800" dirty="0" smtClean="0"/>
              <a:t>발생</a:t>
            </a:r>
            <a:endParaRPr lang="en-US" altLang="ko-KR" sz="800" dirty="0" smtClean="0"/>
          </a:p>
          <a:p>
            <a:r>
              <a:rPr lang="en-US" altLang="ko-KR" sz="800" b="1" dirty="0" smtClean="0"/>
              <a:t>HOTFIX</a:t>
            </a:r>
            <a:r>
              <a:rPr lang="en-US" altLang="ko-KR" sz="800" b="1" dirty="0" smtClean="0">
                <a:latin typeface="+mn-ea"/>
              </a:rPr>
              <a:t>/</a:t>
            </a:r>
            <a:r>
              <a:rPr lang="en-US" altLang="ko-KR" sz="800" b="1" dirty="0"/>
              <a:t>HOTFIX</a:t>
            </a:r>
            <a:r>
              <a:rPr lang="en-US" altLang="ko-KR" sz="800" b="1" dirty="0" smtClean="0">
                <a:latin typeface="+mn-ea"/>
              </a:rPr>
              <a:t>_17.07.29.01</a:t>
            </a:r>
            <a:endParaRPr lang="ko-KR" altLang="en-US" sz="800" b="1" dirty="0"/>
          </a:p>
        </p:txBody>
      </p:sp>
      <p:sp>
        <p:nvSpPr>
          <p:cNvPr id="174" name="TextBox 173"/>
          <p:cNvSpPr txBox="1"/>
          <p:nvPr/>
        </p:nvSpPr>
        <p:spPr>
          <a:xfrm>
            <a:off x="2545067" y="4728185"/>
            <a:ext cx="23407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7</a:t>
            </a:r>
            <a:r>
              <a:rPr lang="ko-KR" altLang="en-US" sz="800" dirty="0" smtClean="0"/>
              <a:t>월 </a:t>
            </a:r>
            <a:r>
              <a:rPr lang="ko-KR" altLang="en-US" sz="800" dirty="0" err="1" smtClean="0"/>
              <a:t>비정기</a:t>
            </a:r>
            <a:r>
              <a:rPr lang="ko-KR" altLang="en-US" sz="800" dirty="0" smtClean="0"/>
              <a:t> 배포 시</a:t>
            </a:r>
            <a:endParaRPr lang="en-US" altLang="ko-KR" sz="800" dirty="0" smtClean="0"/>
          </a:p>
          <a:p>
            <a:r>
              <a:rPr lang="en-US" altLang="ko-KR" sz="800" dirty="0" smtClean="0"/>
              <a:t>master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병합 후</a:t>
            </a:r>
            <a:endParaRPr lang="en-US" altLang="ko-KR" sz="800" dirty="0" smtClean="0"/>
          </a:p>
          <a:p>
            <a:r>
              <a:rPr lang="en-US" altLang="ko-KR" sz="800" b="1" dirty="0" smtClean="0"/>
              <a:t>tag/HOTFIX_17.07.29.01_14.0.1.410 tag </a:t>
            </a:r>
            <a:r>
              <a:rPr lang="ko-KR" altLang="en-US" sz="800" b="1" dirty="0" smtClean="0"/>
              <a:t>생성</a:t>
            </a:r>
            <a:endParaRPr lang="en-US" altLang="ko-KR" sz="800" b="1" dirty="0" smtClean="0"/>
          </a:p>
          <a:p>
            <a:r>
              <a:rPr lang="en-US" altLang="ko-KR" sz="800" b="1" dirty="0" smtClean="0"/>
              <a:t>HOTFIX/</a:t>
            </a:r>
            <a:r>
              <a:rPr lang="en-US" altLang="ko-KR" sz="800" b="1" dirty="0"/>
              <a:t>HOTFIX</a:t>
            </a:r>
            <a:r>
              <a:rPr lang="en-US" altLang="ko-KR" sz="800" b="1" dirty="0" smtClean="0"/>
              <a:t>_17.07.29.01 </a:t>
            </a:r>
            <a:r>
              <a:rPr lang="ko-KR" altLang="en-US" sz="800" b="1" dirty="0" smtClean="0"/>
              <a:t>삭제</a:t>
            </a:r>
            <a:endParaRPr lang="en-US" altLang="ko-KR" sz="800" b="1" dirty="0" smtClean="0"/>
          </a:p>
        </p:txBody>
      </p:sp>
      <p:cxnSp>
        <p:nvCxnSpPr>
          <p:cNvPr id="141" name="직선 화살표 연결선 140"/>
          <p:cNvCxnSpPr>
            <a:stCxn id="129" idx="4"/>
            <a:endCxn id="164" idx="7"/>
          </p:cNvCxnSpPr>
          <p:nvPr/>
        </p:nvCxnSpPr>
        <p:spPr>
          <a:xfrm>
            <a:off x="1844011" y="4622483"/>
            <a:ext cx="223796" cy="812964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직선 화살표 연결선 177"/>
          <p:cNvCxnSpPr>
            <a:stCxn id="196" idx="6"/>
            <a:endCxn id="216" idx="2"/>
          </p:cNvCxnSpPr>
          <p:nvPr/>
        </p:nvCxnSpPr>
        <p:spPr>
          <a:xfrm>
            <a:off x="10557925" y="4496595"/>
            <a:ext cx="1016453" cy="39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직선 연결선 197"/>
          <p:cNvCxnSpPr/>
          <p:nvPr/>
        </p:nvCxnSpPr>
        <p:spPr>
          <a:xfrm flipH="1">
            <a:off x="1489093" y="1329339"/>
            <a:ext cx="73" cy="414528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166851" y="137008"/>
            <a:ext cx="3811591" cy="369332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/>
              <a:t>신규 </a:t>
            </a:r>
            <a:r>
              <a:rPr lang="en-US" altLang="ko-KR" dirty="0" smtClean="0"/>
              <a:t>Branch </a:t>
            </a:r>
            <a:r>
              <a:rPr lang="ko-KR" altLang="en-US" dirty="0" smtClean="0"/>
              <a:t>전략 흐름도</a:t>
            </a:r>
            <a:r>
              <a:rPr lang="en-US" altLang="ko-KR" dirty="0" smtClean="0"/>
              <a:t>(</a:t>
            </a:r>
            <a:r>
              <a:rPr lang="ko-KR" altLang="en-US" dirty="0" smtClean="0"/>
              <a:t>통합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85" name="설명선 1 184"/>
          <p:cNvSpPr/>
          <p:nvPr/>
        </p:nvSpPr>
        <p:spPr>
          <a:xfrm>
            <a:off x="902836" y="4067355"/>
            <a:ext cx="623454" cy="224445"/>
          </a:xfrm>
          <a:prstGeom prst="borderCallout1">
            <a:avLst>
              <a:gd name="adj1" fmla="val 95602"/>
              <a:gd name="adj2" fmla="val 78530"/>
              <a:gd name="adj3" fmla="val 143055"/>
              <a:gd name="adj4" fmla="val 836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최초생성</a:t>
            </a:r>
            <a:endParaRPr lang="ko-KR" altLang="en-US" sz="800" dirty="0"/>
          </a:p>
        </p:txBody>
      </p:sp>
      <p:sp>
        <p:nvSpPr>
          <p:cNvPr id="201" name="설명선 1 200"/>
          <p:cNvSpPr/>
          <p:nvPr/>
        </p:nvSpPr>
        <p:spPr>
          <a:xfrm>
            <a:off x="8227822" y="5796401"/>
            <a:ext cx="1676399" cy="326966"/>
          </a:xfrm>
          <a:prstGeom prst="borderCallout1">
            <a:avLst>
              <a:gd name="adj1" fmla="val -6305"/>
              <a:gd name="adj2" fmla="val 35771"/>
              <a:gd name="adj3" fmla="val -102557"/>
              <a:gd name="adj4" fmla="val -11398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다음 정기에 반영하기로 결정한 경우</a:t>
            </a:r>
            <a:endParaRPr lang="ko-KR" altLang="en-US" sz="800" dirty="0"/>
          </a:p>
        </p:txBody>
      </p:sp>
      <p:cxnSp>
        <p:nvCxnSpPr>
          <p:cNvPr id="194" name="직선 화살표 연결선 193"/>
          <p:cNvCxnSpPr>
            <a:stCxn id="251" idx="4"/>
            <a:endCxn id="217" idx="0"/>
          </p:cNvCxnSpPr>
          <p:nvPr/>
        </p:nvCxnSpPr>
        <p:spPr>
          <a:xfrm flipH="1">
            <a:off x="6942997" y="4588704"/>
            <a:ext cx="314569" cy="804343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2" name="설명선 1 201"/>
          <p:cNvSpPr/>
          <p:nvPr/>
        </p:nvSpPr>
        <p:spPr>
          <a:xfrm>
            <a:off x="3943051" y="6108065"/>
            <a:ext cx="1478377" cy="374652"/>
          </a:xfrm>
          <a:prstGeom prst="borderCallout1">
            <a:avLst>
              <a:gd name="adj1" fmla="val 50648"/>
              <a:gd name="adj2" fmla="val -1306"/>
              <a:gd name="adj3" fmla="val -158884"/>
              <a:gd name="adj4" fmla="val -1182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merge</a:t>
            </a:r>
            <a:r>
              <a:rPr lang="ko-KR" altLang="en-US" sz="800" dirty="0" smtClean="0"/>
              <a:t> 타이밍은 </a:t>
            </a:r>
            <a:r>
              <a:rPr lang="en-US" altLang="ko-KR" sz="800" dirty="0" smtClean="0"/>
              <a:t>1</a:t>
            </a:r>
            <a:r>
              <a:rPr lang="ko-KR" altLang="en-US" sz="800" dirty="0" smtClean="0"/>
              <a:t>주에 </a:t>
            </a:r>
            <a:r>
              <a:rPr lang="en-US" altLang="ko-KR" sz="800" dirty="0" smtClean="0"/>
              <a:t>1</a:t>
            </a:r>
            <a:r>
              <a:rPr lang="ko-KR" altLang="en-US" sz="800" dirty="0" smtClean="0"/>
              <a:t>번</a:t>
            </a:r>
            <a:endParaRPr lang="ko-KR" altLang="en-US" sz="800" dirty="0"/>
          </a:p>
        </p:txBody>
      </p:sp>
      <p:sp>
        <p:nvSpPr>
          <p:cNvPr id="240" name="타원 239"/>
          <p:cNvSpPr/>
          <p:nvPr/>
        </p:nvSpPr>
        <p:spPr>
          <a:xfrm>
            <a:off x="10099586" y="3328632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1" name="직선 화살표 연결선 240"/>
          <p:cNvCxnSpPr>
            <a:stCxn id="152" idx="6"/>
            <a:endCxn id="240" idx="2"/>
          </p:cNvCxnSpPr>
          <p:nvPr/>
        </p:nvCxnSpPr>
        <p:spPr>
          <a:xfrm>
            <a:off x="9924326" y="3439468"/>
            <a:ext cx="175260" cy="554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2" name="직선 화살표 연결선 241"/>
          <p:cNvCxnSpPr/>
          <p:nvPr/>
        </p:nvCxnSpPr>
        <p:spPr>
          <a:xfrm>
            <a:off x="4172780" y="222523"/>
            <a:ext cx="367296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3" name="직선 화살표 연결선 242"/>
          <p:cNvCxnSpPr/>
          <p:nvPr/>
        </p:nvCxnSpPr>
        <p:spPr>
          <a:xfrm>
            <a:off x="4172780" y="353509"/>
            <a:ext cx="36729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4" name="직선 화살표 연결선 243"/>
          <p:cNvCxnSpPr/>
          <p:nvPr/>
        </p:nvCxnSpPr>
        <p:spPr>
          <a:xfrm>
            <a:off x="4175581" y="471360"/>
            <a:ext cx="371393" cy="1012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7" name="직사각형 246"/>
          <p:cNvSpPr/>
          <p:nvPr/>
        </p:nvSpPr>
        <p:spPr>
          <a:xfrm>
            <a:off x="4608683" y="45283"/>
            <a:ext cx="8899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브랜치생성</a:t>
            </a:r>
            <a:endParaRPr lang="ko-KR" altLang="en-US" sz="1100" dirty="0"/>
          </a:p>
        </p:txBody>
      </p:sp>
      <p:sp>
        <p:nvSpPr>
          <p:cNvPr id="248" name="직사각형 247"/>
          <p:cNvSpPr/>
          <p:nvPr/>
        </p:nvSpPr>
        <p:spPr>
          <a:xfrm>
            <a:off x="4608683" y="200644"/>
            <a:ext cx="16818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브랜치병합</a:t>
            </a:r>
            <a:r>
              <a:rPr lang="en-US" altLang="ko-KR" sz="1100" dirty="0" smtClean="0"/>
              <a:t>(</a:t>
            </a:r>
            <a:r>
              <a:rPr lang="ko-KR" altLang="en-US" sz="1100" dirty="0" err="1" smtClean="0"/>
              <a:t>오버라이트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  <p:sp>
        <p:nvSpPr>
          <p:cNvPr id="249" name="직사각형 248"/>
          <p:cNvSpPr/>
          <p:nvPr/>
        </p:nvSpPr>
        <p:spPr>
          <a:xfrm>
            <a:off x="4608683" y="350684"/>
            <a:ext cx="8899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브랜치병합</a:t>
            </a:r>
            <a:endParaRPr lang="ko-KR" altLang="en-US" sz="1100" dirty="0"/>
          </a:p>
        </p:txBody>
      </p:sp>
      <p:sp>
        <p:nvSpPr>
          <p:cNvPr id="251" name="타원 250"/>
          <p:cNvSpPr/>
          <p:nvPr/>
        </p:nvSpPr>
        <p:spPr>
          <a:xfrm>
            <a:off x="7141188" y="4355949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3" name="TextBox 252"/>
          <p:cNvSpPr txBox="1"/>
          <p:nvPr/>
        </p:nvSpPr>
        <p:spPr>
          <a:xfrm>
            <a:off x="10323301" y="3503930"/>
            <a:ext cx="697627" cy="2154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800" dirty="0" err="1" smtClean="0"/>
              <a:t>핫픽스머지</a:t>
            </a:r>
            <a:endParaRPr lang="en-US" altLang="ko-KR" sz="800" dirty="0" smtClean="0"/>
          </a:p>
        </p:txBody>
      </p:sp>
      <p:sp>
        <p:nvSpPr>
          <p:cNvPr id="66" name="직사각형 65"/>
          <p:cNvSpPr/>
          <p:nvPr/>
        </p:nvSpPr>
        <p:spPr>
          <a:xfrm>
            <a:off x="7356571" y="4096485"/>
            <a:ext cx="233910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smtClean="0">
                <a:solidFill>
                  <a:srgbClr val="FF0000"/>
                </a:solidFill>
              </a:rPr>
              <a:t>tag</a:t>
            </a:r>
            <a:r>
              <a:rPr lang="en-US" altLang="ko-KR" sz="800" b="1" dirty="0">
                <a:solidFill>
                  <a:srgbClr val="FF0000"/>
                </a:solidFill>
              </a:rPr>
              <a:t>/HOTFIX-17.08.11</a:t>
            </a:r>
            <a:r>
              <a:rPr lang="en-US" altLang="ko-KR" sz="800" b="1" dirty="0" smtClean="0">
                <a:solidFill>
                  <a:srgbClr val="FF0000"/>
                </a:solidFill>
              </a:rPr>
              <a:t>.01_14.0.1.510 </a:t>
            </a:r>
            <a:r>
              <a:rPr lang="en-US" altLang="ko-KR" sz="800" b="1" dirty="0">
                <a:solidFill>
                  <a:srgbClr val="FF0000"/>
                </a:solidFill>
              </a:rPr>
              <a:t>tag </a:t>
            </a:r>
            <a:r>
              <a:rPr lang="ko-KR" altLang="en-US" sz="800" b="1" dirty="0">
                <a:solidFill>
                  <a:srgbClr val="FF0000"/>
                </a:solidFill>
              </a:rPr>
              <a:t>생성</a:t>
            </a:r>
            <a:endParaRPr lang="en-US" altLang="ko-KR" sz="800" b="1" dirty="0">
              <a:solidFill>
                <a:srgbClr val="FF0000"/>
              </a:solidFill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2950021" y="2293924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/>
          <p:cNvCxnSpPr>
            <a:stCxn id="107" idx="6"/>
            <a:endCxn id="82" idx="2"/>
          </p:cNvCxnSpPr>
          <p:nvPr/>
        </p:nvCxnSpPr>
        <p:spPr>
          <a:xfrm>
            <a:off x="3182776" y="2410302"/>
            <a:ext cx="822930" cy="253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572611" y="1965809"/>
            <a:ext cx="1028955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800" dirty="0" smtClean="0"/>
              <a:t>작업기</a:t>
            </a:r>
            <a:r>
              <a:rPr lang="ko-KR" altLang="en-US" sz="800" dirty="0"/>
              <a:t>간</a:t>
            </a:r>
            <a:r>
              <a:rPr lang="en-US" altLang="ko-KR" sz="800" dirty="0" smtClean="0"/>
              <a:t>: 7/17~8/7</a:t>
            </a:r>
            <a:endParaRPr lang="ko-KR" altLang="en-US" sz="1100" dirty="0"/>
          </a:p>
        </p:txBody>
      </p:sp>
      <p:sp>
        <p:nvSpPr>
          <p:cNvPr id="120" name="타원 119"/>
          <p:cNvSpPr/>
          <p:nvPr/>
        </p:nvSpPr>
        <p:spPr>
          <a:xfrm>
            <a:off x="2927897" y="4389728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화살표 연결선 120"/>
          <p:cNvCxnSpPr>
            <a:stCxn id="120" idx="0"/>
            <a:endCxn id="107" idx="4"/>
          </p:cNvCxnSpPr>
          <p:nvPr/>
        </p:nvCxnSpPr>
        <p:spPr>
          <a:xfrm flipV="1">
            <a:off x="3044275" y="2526679"/>
            <a:ext cx="22124" cy="186304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5" name="타원 124"/>
          <p:cNvSpPr/>
          <p:nvPr/>
        </p:nvSpPr>
        <p:spPr>
          <a:xfrm>
            <a:off x="1446516" y="5419465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타원 128"/>
          <p:cNvSpPr/>
          <p:nvPr/>
        </p:nvSpPr>
        <p:spPr>
          <a:xfrm>
            <a:off x="1727633" y="4389728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/>
          <p:cNvSpPr/>
          <p:nvPr/>
        </p:nvSpPr>
        <p:spPr>
          <a:xfrm>
            <a:off x="2520809" y="2291920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화살표 연결선 135"/>
          <p:cNvCxnSpPr>
            <a:stCxn id="133" idx="6"/>
            <a:endCxn id="107" idx="2"/>
          </p:cNvCxnSpPr>
          <p:nvPr/>
        </p:nvCxnSpPr>
        <p:spPr>
          <a:xfrm>
            <a:off x="2753564" y="2408298"/>
            <a:ext cx="196457" cy="200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7" name="타원 136"/>
          <p:cNvSpPr/>
          <p:nvPr/>
        </p:nvSpPr>
        <p:spPr>
          <a:xfrm>
            <a:off x="6040553" y="4367607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9" name="TextBox 148"/>
          <p:cNvSpPr txBox="1"/>
          <p:nvPr/>
        </p:nvSpPr>
        <p:spPr>
          <a:xfrm>
            <a:off x="-2691" y="2258953"/>
            <a:ext cx="1427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     Release</a:t>
            </a:r>
            <a:endParaRPr lang="ko-KR" altLang="en-US" sz="1400" dirty="0"/>
          </a:p>
        </p:txBody>
      </p:sp>
      <p:sp>
        <p:nvSpPr>
          <p:cNvPr id="160" name="타원 159"/>
          <p:cNvSpPr/>
          <p:nvPr/>
        </p:nvSpPr>
        <p:spPr>
          <a:xfrm>
            <a:off x="103835" y="229646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2" name="직선 화살표 연결선 161"/>
          <p:cNvCxnSpPr>
            <a:stCxn id="137" idx="0"/>
            <a:endCxn id="192" idx="4"/>
          </p:cNvCxnSpPr>
          <p:nvPr/>
        </p:nvCxnSpPr>
        <p:spPr>
          <a:xfrm flipH="1" flipV="1">
            <a:off x="6069729" y="2531073"/>
            <a:ext cx="87202" cy="1836534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4" name="타원 163"/>
          <p:cNvSpPr/>
          <p:nvPr/>
        </p:nvSpPr>
        <p:spPr>
          <a:xfrm>
            <a:off x="1869138" y="5401361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9" name="직선 연결선 168"/>
          <p:cNvCxnSpPr/>
          <p:nvPr/>
        </p:nvCxnSpPr>
        <p:spPr>
          <a:xfrm>
            <a:off x="2656324" y="2139653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직선 연결선 169"/>
          <p:cNvCxnSpPr/>
          <p:nvPr/>
        </p:nvCxnSpPr>
        <p:spPr>
          <a:xfrm>
            <a:off x="4122082" y="2529218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2" name="타원 191"/>
          <p:cNvSpPr/>
          <p:nvPr/>
        </p:nvSpPr>
        <p:spPr>
          <a:xfrm>
            <a:off x="5953351" y="2298318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7" name="직선 화살표 연결선 196"/>
          <p:cNvCxnSpPr>
            <a:stCxn id="103" idx="6"/>
            <a:endCxn id="192" idx="2"/>
          </p:cNvCxnSpPr>
          <p:nvPr/>
        </p:nvCxnSpPr>
        <p:spPr>
          <a:xfrm>
            <a:off x="5652431" y="2412841"/>
            <a:ext cx="300920" cy="185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6147595" y="2541567"/>
            <a:ext cx="697627" cy="2154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800" dirty="0" err="1" smtClean="0"/>
              <a:t>핫픽스머지</a:t>
            </a:r>
            <a:endParaRPr lang="en-US" altLang="ko-KR" sz="800" dirty="0" smtClean="0"/>
          </a:p>
        </p:txBody>
      </p:sp>
      <p:cxnSp>
        <p:nvCxnSpPr>
          <p:cNvPr id="228" name="직선 화살표 연결선 227"/>
          <p:cNvCxnSpPr>
            <a:stCxn id="220" idx="0"/>
            <a:endCxn id="216" idx="3"/>
          </p:cNvCxnSpPr>
          <p:nvPr/>
        </p:nvCxnSpPr>
        <p:spPr>
          <a:xfrm flipV="1">
            <a:off x="11440544" y="4579282"/>
            <a:ext cx="167920" cy="81160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6" name="타원 165"/>
          <p:cNvSpPr/>
          <p:nvPr/>
        </p:nvSpPr>
        <p:spPr>
          <a:xfrm>
            <a:off x="8277601" y="3332615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직선 연결선 166"/>
          <p:cNvCxnSpPr>
            <a:endCxn id="166" idx="0"/>
          </p:cNvCxnSpPr>
          <p:nvPr/>
        </p:nvCxnSpPr>
        <p:spPr>
          <a:xfrm>
            <a:off x="8393978" y="3167561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직선 화살표 연결선 180"/>
          <p:cNvCxnSpPr>
            <a:stCxn id="188" idx="6"/>
            <a:endCxn id="166" idx="2"/>
          </p:cNvCxnSpPr>
          <p:nvPr/>
        </p:nvCxnSpPr>
        <p:spPr>
          <a:xfrm>
            <a:off x="7644584" y="3444450"/>
            <a:ext cx="633017" cy="454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6159506" y="3078889"/>
            <a:ext cx="1028955" cy="2154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800" dirty="0" smtClean="0"/>
              <a:t>작업기</a:t>
            </a:r>
            <a:r>
              <a:rPr lang="ko-KR" altLang="en-US" sz="800" dirty="0"/>
              <a:t>간</a:t>
            </a:r>
            <a:r>
              <a:rPr lang="en-US" altLang="ko-KR" sz="800" dirty="0" smtClean="0"/>
              <a:t>: 8/8~9/8</a:t>
            </a:r>
            <a:endParaRPr lang="ko-KR" altLang="en-US" sz="1100" dirty="0"/>
          </a:p>
        </p:txBody>
      </p:sp>
      <p:sp>
        <p:nvSpPr>
          <p:cNvPr id="188" name="타원 187"/>
          <p:cNvSpPr/>
          <p:nvPr/>
        </p:nvSpPr>
        <p:spPr>
          <a:xfrm>
            <a:off x="7411829" y="3328072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0" name="직선 연결선 189"/>
          <p:cNvCxnSpPr>
            <a:endCxn id="171" idx="0"/>
          </p:cNvCxnSpPr>
          <p:nvPr/>
        </p:nvCxnSpPr>
        <p:spPr>
          <a:xfrm>
            <a:off x="4281396" y="3187553"/>
            <a:ext cx="3858" cy="1678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>
            <a:off x="8393977" y="3565370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0" name="타원 199"/>
          <p:cNvSpPr/>
          <p:nvPr/>
        </p:nvSpPr>
        <p:spPr>
          <a:xfrm>
            <a:off x="9466195" y="441311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직사각형 202"/>
          <p:cNvSpPr/>
          <p:nvPr/>
        </p:nvSpPr>
        <p:spPr>
          <a:xfrm>
            <a:off x="8983461" y="4699426"/>
            <a:ext cx="234070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tag/HOTFIX_17.08.11.01_14.0.1.520</a:t>
            </a:r>
            <a:r>
              <a:rPr lang="en-US" altLang="ko-KR" sz="8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800" b="1" dirty="0">
                <a:solidFill>
                  <a:srgbClr val="FF0000"/>
                </a:solidFill>
              </a:rPr>
              <a:t>tag </a:t>
            </a:r>
            <a:r>
              <a:rPr lang="ko-KR" altLang="en-US" sz="800" b="1" dirty="0">
                <a:solidFill>
                  <a:srgbClr val="FF0000"/>
                </a:solidFill>
              </a:rPr>
              <a:t>생성</a:t>
            </a:r>
            <a:endParaRPr lang="en-US" altLang="ko-KR" sz="800" b="1" dirty="0">
              <a:solidFill>
                <a:srgbClr val="FF0000"/>
              </a:solidFill>
            </a:endParaRPr>
          </a:p>
        </p:txBody>
      </p:sp>
      <p:sp>
        <p:nvSpPr>
          <p:cNvPr id="205" name="타원 204"/>
          <p:cNvSpPr/>
          <p:nvPr/>
        </p:nvSpPr>
        <p:spPr>
          <a:xfrm>
            <a:off x="5221553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1" name="직선 화살표 연결선 210"/>
          <p:cNvCxnSpPr>
            <a:stCxn id="205" idx="6"/>
            <a:endCxn id="212" idx="2"/>
          </p:cNvCxnSpPr>
          <p:nvPr/>
        </p:nvCxnSpPr>
        <p:spPr>
          <a:xfrm>
            <a:off x="5454308" y="5509425"/>
            <a:ext cx="16507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2" name="타원 211"/>
          <p:cNvSpPr/>
          <p:nvPr/>
        </p:nvSpPr>
        <p:spPr>
          <a:xfrm>
            <a:off x="5619379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2" name="직선 화살표 연결선 221"/>
          <p:cNvCxnSpPr>
            <a:stCxn id="212" idx="6"/>
            <a:endCxn id="214" idx="2"/>
          </p:cNvCxnSpPr>
          <p:nvPr/>
        </p:nvCxnSpPr>
        <p:spPr>
          <a:xfrm>
            <a:off x="5852134" y="5509425"/>
            <a:ext cx="57665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5" name="직선 화살표 연결선 224"/>
          <p:cNvCxnSpPr>
            <a:stCxn id="137" idx="4"/>
            <a:endCxn id="212" idx="6"/>
          </p:cNvCxnSpPr>
          <p:nvPr/>
        </p:nvCxnSpPr>
        <p:spPr>
          <a:xfrm flipH="1">
            <a:off x="5852134" y="4600362"/>
            <a:ext cx="304797" cy="909063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6" name="직선 화살표 연결선 225"/>
          <p:cNvCxnSpPr>
            <a:stCxn id="175" idx="5"/>
            <a:endCxn id="214" idx="0"/>
          </p:cNvCxnSpPr>
          <p:nvPr/>
        </p:nvCxnSpPr>
        <p:spPr>
          <a:xfrm flipH="1">
            <a:off x="6545171" y="4578345"/>
            <a:ext cx="220630" cy="814702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2" name="타원 251"/>
          <p:cNvSpPr/>
          <p:nvPr/>
        </p:nvSpPr>
        <p:spPr>
          <a:xfrm>
            <a:off x="4925591" y="4388925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4" name="직선 화살표 연결선 253"/>
          <p:cNvCxnSpPr>
            <a:stCxn id="252" idx="4"/>
            <a:endCxn id="205" idx="0"/>
          </p:cNvCxnSpPr>
          <p:nvPr/>
        </p:nvCxnSpPr>
        <p:spPr>
          <a:xfrm>
            <a:off x="5041969" y="4621680"/>
            <a:ext cx="295962" cy="77136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2144478" y="1044059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7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sp>
        <p:nvSpPr>
          <p:cNvPr id="255" name="TextBox 254"/>
          <p:cNvSpPr txBox="1"/>
          <p:nvPr/>
        </p:nvSpPr>
        <p:spPr>
          <a:xfrm>
            <a:off x="4897103" y="904875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sp>
        <p:nvSpPr>
          <p:cNvPr id="256" name="TextBox 255"/>
          <p:cNvSpPr txBox="1"/>
          <p:nvPr/>
        </p:nvSpPr>
        <p:spPr>
          <a:xfrm>
            <a:off x="8427508" y="904875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cxnSp>
        <p:nvCxnSpPr>
          <p:cNvPr id="258" name="직선 화살표 연결선 257"/>
          <p:cNvCxnSpPr>
            <a:stCxn id="200" idx="7"/>
            <a:endCxn id="240" idx="3"/>
          </p:cNvCxnSpPr>
          <p:nvPr/>
        </p:nvCxnSpPr>
        <p:spPr>
          <a:xfrm flipV="1">
            <a:off x="9664864" y="3527301"/>
            <a:ext cx="468808" cy="919901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2293783" y="3754056"/>
            <a:ext cx="1983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cxnSp>
        <p:nvCxnSpPr>
          <p:cNvPr id="274" name="직선 화살표 연결선 273"/>
          <p:cNvCxnSpPr>
            <a:stCxn id="147" idx="7"/>
            <a:endCxn id="171" idx="3"/>
          </p:cNvCxnSpPr>
          <p:nvPr/>
        </p:nvCxnSpPr>
        <p:spPr>
          <a:xfrm flipV="1">
            <a:off x="4175687" y="3554047"/>
            <a:ext cx="27275" cy="85568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7" name="타원 146"/>
          <p:cNvSpPr/>
          <p:nvPr/>
        </p:nvSpPr>
        <p:spPr>
          <a:xfrm>
            <a:off x="3977018" y="4375647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3" name="직선 화살표 연결선 172"/>
          <p:cNvCxnSpPr>
            <a:endCxn id="69" idx="1"/>
          </p:cNvCxnSpPr>
          <p:nvPr/>
        </p:nvCxnSpPr>
        <p:spPr>
          <a:xfrm flipV="1">
            <a:off x="4112128" y="2754302"/>
            <a:ext cx="27738" cy="1592554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1" name="타원 170"/>
          <p:cNvSpPr/>
          <p:nvPr/>
        </p:nvSpPr>
        <p:spPr>
          <a:xfrm>
            <a:off x="4168876" y="3355378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6" name="직선 화살표 연결선 175"/>
          <p:cNvCxnSpPr>
            <a:endCxn id="188" idx="2"/>
          </p:cNvCxnSpPr>
          <p:nvPr/>
        </p:nvCxnSpPr>
        <p:spPr>
          <a:xfrm>
            <a:off x="7047669" y="3439467"/>
            <a:ext cx="364160" cy="498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8" name="타원 207"/>
          <p:cNvSpPr/>
          <p:nvPr/>
        </p:nvSpPr>
        <p:spPr>
          <a:xfrm>
            <a:off x="6814914" y="3344811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3" name="직선 화살표 연결선 222"/>
          <p:cNvCxnSpPr>
            <a:stCxn id="251" idx="0"/>
            <a:endCxn id="208" idx="4"/>
          </p:cNvCxnSpPr>
          <p:nvPr/>
        </p:nvCxnSpPr>
        <p:spPr>
          <a:xfrm flipH="1" flipV="1">
            <a:off x="6931292" y="3577566"/>
            <a:ext cx="326274" cy="778383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4" name="직선 화살표 연결선 223"/>
          <p:cNvCxnSpPr>
            <a:stCxn id="175" idx="0"/>
            <a:endCxn id="227" idx="4"/>
          </p:cNvCxnSpPr>
          <p:nvPr/>
        </p:nvCxnSpPr>
        <p:spPr>
          <a:xfrm flipH="1" flipV="1">
            <a:off x="6519507" y="3584447"/>
            <a:ext cx="164003" cy="79522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7" name="타원 226"/>
          <p:cNvSpPr/>
          <p:nvPr/>
        </p:nvSpPr>
        <p:spPr>
          <a:xfrm>
            <a:off x="6403129" y="3351692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2" name="직선 화살표 연결선 231"/>
          <p:cNvCxnSpPr>
            <a:stCxn id="171" idx="6"/>
            <a:endCxn id="227" idx="2"/>
          </p:cNvCxnSpPr>
          <p:nvPr/>
        </p:nvCxnSpPr>
        <p:spPr>
          <a:xfrm flipV="1">
            <a:off x="4401631" y="3468070"/>
            <a:ext cx="2001498" cy="368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4" name="직선 화살표 연결선 233"/>
          <p:cNvCxnSpPr>
            <a:stCxn id="227" idx="6"/>
            <a:endCxn id="208" idx="2"/>
          </p:cNvCxnSpPr>
          <p:nvPr/>
        </p:nvCxnSpPr>
        <p:spPr>
          <a:xfrm flipV="1">
            <a:off x="6635884" y="3461189"/>
            <a:ext cx="179030" cy="688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7" name="직선 연결선 236"/>
          <p:cNvCxnSpPr/>
          <p:nvPr/>
        </p:nvCxnSpPr>
        <p:spPr>
          <a:xfrm>
            <a:off x="7417965" y="1291757"/>
            <a:ext cx="4166" cy="4106108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직선 화살표 연결선 237"/>
          <p:cNvCxnSpPr>
            <a:stCxn id="183" idx="1"/>
          </p:cNvCxnSpPr>
          <p:nvPr/>
        </p:nvCxnSpPr>
        <p:spPr>
          <a:xfrm flipH="1" flipV="1">
            <a:off x="4424848" y="3167561"/>
            <a:ext cx="1734658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직선 화살표 연결선 245"/>
          <p:cNvCxnSpPr>
            <a:stCxn id="183" idx="3"/>
          </p:cNvCxnSpPr>
          <p:nvPr/>
        </p:nvCxnSpPr>
        <p:spPr>
          <a:xfrm>
            <a:off x="7188461" y="3186611"/>
            <a:ext cx="1205516" cy="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화살표 연결선 162"/>
          <p:cNvCxnSpPr>
            <a:stCxn id="200" idx="4"/>
            <a:endCxn id="168" idx="0"/>
          </p:cNvCxnSpPr>
          <p:nvPr/>
        </p:nvCxnSpPr>
        <p:spPr>
          <a:xfrm>
            <a:off x="9582573" y="4645871"/>
            <a:ext cx="8007" cy="74501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8" name="타원 167"/>
          <p:cNvSpPr/>
          <p:nvPr/>
        </p:nvSpPr>
        <p:spPr>
          <a:xfrm>
            <a:off x="9474202" y="5390890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75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직선 화살표 연결선 274"/>
          <p:cNvCxnSpPr/>
          <p:nvPr/>
        </p:nvCxnSpPr>
        <p:spPr>
          <a:xfrm flipH="1" flipV="1">
            <a:off x="4862444" y="2475577"/>
            <a:ext cx="12634" cy="1923656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0" name="직선 연결선 229"/>
          <p:cNvCxnSpPr/>
          <p:nvPr/>
        </p:nvCxnSpPr>
        <p:spPr>
          <a:xfrm flipH="1">
            <a:off x="3991470" y="1278218"/>
            <a:ext cx="23919" cy="4331195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192110" y="4498269"/>
            <a:ext cx="10604341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1995" y="4346855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 dirty="0" smtClean="0"/>
              <a:t>main</a:t>
            </a:r>
            <a:endParaRPr lang="ko-KR" altLang="en-US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-8040" y="2194138"/>
            <a:ext cx="1615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 smtClean="0"/>
              <a:t>Release M+1</a:t>
            </a:r>
            <a:endParaRPr lang="ko-KR" alt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401706" y="5355538"/>
            <a:ext cx="754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 smtClean="0"/>
              <a:t>feature</a:t>
            </a:r>
            <a:endParaRPr lang="ko-KR" altLang="en-US" sz="1400" dirty="0"/>
          </a:p>
        </p:txBody>
      </p:sp>
      <p:cxnSp>
        <p:nvCxnSpPr>
          <p:cNvPr id="16" name="직선 연결선 15"/>
          <p:cNvCxnSpPr/>
          <p:nvPr/>
        </p:nvCxnSpPr>
        <p:spPr>
          <a:xfrm>
            <a:off x="1103238" y="3291070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139937" y="2315198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300027" y="4481737"/>
            <a:ext cx="10335402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139938" y="5526435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32" idx="4"/>
            <a:endCxn id="133" idx="4"/>
          </p:cNvCxnSpPr>
          <p:nvPr/>
        </p:nvCxnSpPr>
        <p:spPr>
          <a:xfrm flipV="1">
            <a:off x="2299169" y="3380755"/>
            <a:ext cx="301318" cy="124092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타원 60"/>
          <p:cNvSpPr/>
          <p:nvPr/>
        </p:nvSpPr>
        <p:spPr>
          <a:xfrm>
            <a:off x="172157" y="438436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/>
          <p:cNvSpPr/>
          <p:nvPr/>
        </p:nvSpPr>
        <p:spPr>
          <a:xfrm>
            <a:off x="123538" y="2204649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/>
          <p:cNvSpPr/>
          <p:nvPr/>
        </p:nvSpPr>
        <p:spPr>
          <a:xfrm>
            <a:off x="119985" y="5393048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4665042" y="1519152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8/7 : 8</a:t>
            </a:r>
            <a:r>
              <a:rPr lang="ko-KR" altLang="en-US" sz="800" dirty="0" smtClean="0"/>
              <a:t>월 정기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RELEASE</a:t>
            </a:r>
            <a:r>
              <a:rPr lang="en-US" altLang="ko-KR" sz="800" b="1" dirty="0">
                <a:latin typeface="+mn-ea"/>
              </a:rPr>
              <a:t>/RELEASE_17.08.23.00</a:t>
            </a:r>
            <a:endParaRPr lang="ko-KR" altLang="en-US" sz="800" b="1" dirty="0"/>
          </a:p>
        </p:txBody>
      </p:sp>
      <p:sp>
        <p:nvSpPr>
          <p:cNvPr id="75" name="직사각형 74"/>
          <p:cNvSpPr/>
          <p:nvPr/>
        </p:nvSpPr>
        <p:spPr>
          <a:xfrm>
            <a:off x="6607274" y="224039"/>
            <a:ext cx="5189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7</a:t>
            </a:r>
            <a:r>
              <a:rPr lang="ko-KR" altLang="en-US" dirty="0" err="1" smtClean="0"/>
              <a:t>월정기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(deploy:7/26, codefreezing:7/12~7/25)</a:t>
            </a:r>
            <a:endParaRPr lang="ko-KR" altLang="en-US" dirty="0"/>
          </a:p>
        </p:txBody>
      </p:sp>
      <p:sp>
        <p:nvSpPr>
          <p:cNvPr id="82" name="타원 81"/>
          <p:cNvSpPr/>
          <p:nvPr/>
        </p:nvSpPr>
        <p:spPr>
          <a:xfrm>
            <a:off x="3901318" y="3143420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연결선 90"/>
          <p:cNvCxnSpPr/>
          <p:nvPr/>
        </p:nvCxnSpPr>
        <p:spPr>
          <a:xfrm>
            <a:off x="3979595" y="2978366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3" name="타원 92"/>
          <p:cNvSpPr/>
          <p:nvPr/>
        </p:nvSpPr>
        <p:spPr>
          <a:xfrm>
            <a:off x="4439667" y="315254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/>
          <p:cNvSpPr/>
          <p:nvPr/>
        </p:nvSpPr>
        <p:spPr>
          <a:xfrm>
            <a:off x="4910329" y="315254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6" name="직선 화살표 연결선 95"/>
          <p:cNvCxnSpPr>
            <a:stCxn id="82" idx="6"/>
            <a:endCxn id="93" idx="2"/>
          </p:cNvCxnSpPr>
          <p:nvPr/>
        </p:nvCxnSpPr>
        <p:spPr>
          <a:xfrm>
            <a:off x="4134073" y="3259798"/>
            <a:ext cx="305594" cy="912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93" idx="6"/>
            <a:endCxn id="94" idx="2"/>
          </p:cNvCxnSpPr>
          <p:nvPr/>
        </p:nvCxnSpPr>
        <p:spPr>
          <a:xfrm>
            <a:off x="4672422" y="3268921"/>
            <a:ext cx="237907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3" name="타원 102"/>
          <p:cNvSpPr/>
          <p:nvPr/>
        </p:nvSpPr>
        <p:spPr>
          <a:xfrm>
            <a:off x="5382976" y="3152543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화살표 연결선 103"/>
          <p:cNvCxnSpPr>
            <a:stCxn id="94" idx="6"/>
            <a:endCxn id="103" idx="2"/>
          </p:cNvCxnSpPr>
          <p:nvPr/>
        </p:nvCxnSpPr>
        <p:spPr>
          <a:xfrm>
            <a:off x="5143084" y="3268921"/>
            <a:ext cx="239892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직선 연결선 104"/>
          <p:cNvCxnSpPr>
            <a:endCxn id="103" idx="0"/>
          </p:cNvCxnSpPr>
          <p:nvPr/>
        </p:nvCxnSpPr>
        <p:spPr>
          <a:xfrm>
            <a:off x="5499353" y="2987489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2" name="타원 131"/>
          <p:cNvSpPr/>
          <p:nvPr/>
        </p:nvSpPr>
        <p:spPr>
          <a:xfrm>
            <a:off x="2182791" y="438892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2625958" y="4096485"/>
            <a:ext cx="17988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rgbClr val="FF0000"/>
                </a:solidFill>
              </a:rPr>
              <a:t>tag:hotfix-16.07.29.01_14.0.1.410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288241" y="2869833"/>
            <a:ext cx="1028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 smtClean="0"/>
              <a:t>프리징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8/8~8/22</a:t>
            </a:r>
            <a:endParaRPr lang="ko-KR" altLang="en-US" sz="1100" dirty="0"/>
          </a:p>
        </p:txBody>
      </p:sp>
      <p:cxnSp>
        <p:nvCxnSpPr>
          <p:cNvPr id="155" name="직선 화살표 연결선 154"/>
          <p:cNvCxnSpPr>
            <a:stCxn id="100" idx="3"/>
          </p:cNvCxnSpPr>
          <p:nvPr/>
        </p:nvCxnSpPr>
        <p:spPr>
          <a:xfrm>
            <a:off x="5317196" y="2977555"/>
            <a:ext cx="162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/>
          <p:cNvCxnSpPr>
            <a:stCxn id="100" idx="1"/>
          </p:cNvCxnSpPr>
          <p:nvPr/>
        </p:nvCxnSpPr>
        <p:spPr>
          <a:xfrm flipH="1">
            <a:off x="4103166" y="2977555"/>
            <a:ext cx="185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타원 174"/>
          <p:cNvSpPr/>
          <p:nvPr/>
        </p:nvSpPr>
        <p:spPr>
          <a:xfrm>
            <a:off x="6567132" y="437967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7" name="TextBox 176"/>
          <p:cNvSpPr txBox="1"/>
          <p:nvPr/>
        </p:nvSpPr>
        <p:spPr>
          <a:xfrm>
            <a:off x="5713472" y="3885194"/>
            <a:ext cx="18517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tag:release-17.08.23.00_14.0.1.500</a:t>
            </a:r>
            <a:endParaRPr lang="ko-KR" altLang="en-US" sz="800" b="1" dirty="0"/>
          </a:p>
        </p:txBody>
      </p:sp>
      <p:cxnSp>
        <p:nvCxnSpPr>
          <p:cNvPr id="184" name="직선 화살표 연결선 183"/>
          <p:cNvCxnSpPr>
            <a:stCxn id="192" idx="4"/>
            <a:endCxn id="175" idx="0"/>
          </p:cNvCxnSpPr>
          <p:nvPr/>
        </p:nvCxnSpPr>
        <p:spPr>
          <a:xfrm>
            <a:off x="6174177" y="3387153"/>
            <a:ext cx="509333" cy="99252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5" name="타원 244"/>
          <p:cNvSpPr/>
          <p:nvPr/>
        </p:nvSpPr>
        <p:spPr>
          <a:xfrm>
            <a:off x="1361095" y="438892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9" name="직선 화살표 연결선 328"/>
          <p:cNvCxnSpPr>
            <a:stCxn id="245" idx="6"/>
            <a:endCxn id="132" idx="2"/>
          </p:cNvCxnSpPr>
          <p:nvPr/>
        </p:nvCxnSpPr>
        <p:spPr>
          <a:xfrm>
            <a:off x="1593850" y="4505304"/>
            <a:ext cx="58894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2" name="직선 화살표 연결선 331"/>
          <p:cNvCxnSpPr>
            <a:stCxn id="132" idx="6"/>
            <a:endCxn id="175" idx="2"/>
          </p:cNvCxnSpPr>
          <p:nvPr/>
        </p:nvCxnSpPr>
        <p:spPr>
          <a:xfrm flipV="1">
            <a:off x="2415546" y="4496054"/>
            <a:ext cx="4151586" cy="925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6" name="타원 215"/>
          <p:cNvSpPr/>
          <p:nvPr/>
        </p:nvSpPr>
        <p:spPr>
          <a:xfrm>
            <a:off x="11574378" y="4380613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8" name="직선 화살표 연결선 217"/>
          <p:cNvCxnSpPr>
            <a:stCxn id="175" idx="6"/>
            <a:endCxn id="196" idx="2"/>
          </p:cNvCxnSpPr>
          <p:nvPr/>
        </p:nvCxnSpPr>
        <p:spPr>
          <a:xfrm>
            <a:off x="6799887" y="4496054"/>
            <a:ext cx="3525283" cy="54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직선 화살표 연결선 164"/>
          <p:cNvCxnSpPr>
            <a:stCxn id="245" idx="4"/>
            <a:endCxn id="125" idx="0"/>
          </p:cNvCxnSpPr>
          <p:nvPr/>
        </p:nvCxnSpPr>
        <p:spPr>
          <a:xfrm>
            <a:off x="1477473" y="4621681"/>
            <a:ext cx="85421" cy="79778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4" name="직선 화살표 연결선 203"/>
          <p:cNvCxnSpPr>
            <a:stCxn id="125" idx="6"/>
            <a:endCxn id="206" idx="2"/>
          </p:cNvCxnSpPr>
          <p:nvPr/>
        </p:nvCxnSpPr>
        <p:spPr>
          <a:xfrm flipV="1">
            <a:off x="1679271" y="5517739"/>
            <a:ext cx="673418" cy="1810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6" name="타원 205"/>
          <p:cNvSpPr/>
          <p:nvPr/>
        </p:nvSpPr>
        <p:spPr>
          <a:xfrm>
            <a:off x="2352689" y="5401361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TextBox 138"/>
          <p:cNvSpPr txBox="1"/>
          <p:nvPr/>
        </p:nvSpPr>
        <p:spPr>
          <a:xfrm>
            <a:off x="7749345" y="3640049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9/7 : 9</a:t>
            </a:r>
            <a:r>
              <a:rPr lang="ko-KR" altLang="en-US" sz="800" dirty="0" smtClean="0"/>
              <a:t>월 정기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RELEASE/</a:t>
            </a:r>
            <a:r>
              <a:rPr lang="en-US" altLang="ko-KR" sz="800" b="1" dirty="0">
                <a:latin typeface="+mn-ea"/>
              </a:rPr>
              <a:t>RELEASE</a:t>
            </a:r>
            <a:r>
              <a:rPr lang="en-US" altLang="ko-KR" sz="800" b="1" dirty="0" smtClean="0">
                <a:latin typeface="+mn-ea"/>
              </a:rPr>
              <a:t>_17.09.27.00</a:t>
            </a:r>
            <a:endParaRPr lang="ko-KR" altLang="en-US" sz="800" b="1" dirty="0"/>
          </a:p>
        </p:txBody>
      </p:sp>
      <p:sp>
        <p:nvSpPr>
          <p:cNvPr id="143" name="타원 142"/>
          <p:cNvSpPr/>
          <p:nvPr/>
        </p:nvSpPr>
        <p:spPr>
          <a:xfrm>
            <a:off x="7601011" y="3172144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1" name="직선 화살표 연결선 160"/>
          <p:cNvCxnSpPr/>
          <p:nvPr/>
        </p:nvCxnSpPr>
        <p:spPr>
          <a:xfrm>
            <a:off x="6179861" y="2306445"/>
            <a:ext cx="225547" cy="98207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6" name="타원 195"/>
          <p:cNvSpPr/>
          <p:nvPr/>
        </p:nvSpPr>
        <p:spPr>
          <a:xfrm>
            <a:off x="10325170" y="4380217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9" name="직선 화살표 연결선 208"/>
          <p:cNvCxnSpPr>
            <a:stCxn id="206" idx="0"/>
            <a:endCxn id="132" idx="4"/>
          </p:cNvCxnSpPr>
          <p:nvPr/>
        </p:nvCxnSpPr>
        <p:spPr>
          <a:xfrm flipH="1" flipV="1">
            <a:off x="2299169" y="4621681"/>
            <a:ext cx="169898" cy="77968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1668014" y="5660534"/>
            <a:ext cx="2233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8</a:t>
            </a:r>
            <a:r>
              <a:rPr lang="ko-KR" altLang="en-US" sz="800" dirty="0" smtClean="0"/>
              <a:t>월 정기 포함될 기능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FEATURE/FEATURE_RP####_</a:t>
            </a:r>
            <a:r>
              <a:rPr lang="en-US" altLang="ko-KR" sz="800" b="1" dirty="0" err="1" smtClean="0">
                <a:latin typeface="+mn-ea"/>
              </a:rPr>
              <a:t>feature_name</a:t>
            </a:r>
            <a:endParaRPr lang="en-US" altLang="ko-KR" sz="800" b="1" dirty="0" smtClean="0">
              <a:latin typeface="+mn-ea"/>
            </a:endParaRPr>
          </a:p>
          <a:p>
            <a:r>
              <a:rPr lang="ko-KR" altLang="en-US" sz="800" b="1" dirty="0" smtClean="0">
                <a:latin typeface="+mn-ea"/>
              </a:rPr>
              <a:t>메인 병합</a:t>
            </a:r>
            <a:endParaRPr lang="ko-KR" altLang="en-US" sz="800" b="1" dirty="0"/>
          </a:p>
        </p:txBody>
      </p:sp>
      <p:sp>
        <p:nvSpPr>
          <p:cNvPr id="213" name="TextBox 212"/>
          <p:cNvSpPr txBox="1"/>
          <p:nvPr/>
        </p:nvSpPr>
        <p:spPr>
          <a:xfrm>
            <a:off x="10266473" y="3959633"/>
            <a:ext cx="19255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tag:R</a:t>
            </a:r>
            <a:r>
              <a:rPr lang="en-US" altLang="ko-KR" sz="800" b="1" dirty="0" smtClean="0">
                <a:latin typeface="+mn-ea"/>
              </a:rPr>
              <a:t>ELEASE</a:t>
            </a:r>
            <a:r>
              <a:rPr lang="en-US" altLang="ko-KR" sz="800" b="1" dirty="0" smtClean="0"/>
              <a:t>_16.09.27.00_14.0.1.600</a:t>
            </a:r>
            <a:endParaRPr lang="ko-KR" altLang="en-US" sz="800" b="1" dirty="0"/>
          </a:p>
        </p:txBody>
      </p:sp>
      <p:sp>
        <p:nvSpPr>
          <p:cNvPr id="214" name="타원 213"/>
          <p:cNvSpPr/>
          <p:nvPr/>
        </p:nvSpPr>
        <p:spPr>
          <a:xfrm>
            <a:off x="6428793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5" name="직선 화살표 연결선 214"/>
          <p:cNvCxnSpPr>
            <a:stCxn id="214" idx="6"/>
            <a:endCxn id="217" idx="2"/>
          </p:cNvCxnSpPr>
          <p:nvPr/>
        </p:nvCxnSpPr>
        <p:spPr>
          <a:xfrm>
            <a:off x="6661548" y="5509425"/>
            <a:ext cx="16507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7" name="타원 216"/>
          <p:cNvSpPr/>
          <p:nvPr/>
        </p:nvSpPr>
        <p:spPr>
          <a:xfrm>
            <a:off x="6826619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9" name="직선 화살표 연결선 218"/>
          <p:cNvCxnSpPr>
            <a:stCxn id="217" idx="6"/>
            <a:endCxn id="220" idx="2"/>
          </p:cNvCxnSpPr>
          <p:nvPr/>
        </p:nvCxnSpPr>
        <p:spPr>
          <a:xfrm flipV="1">
            <a:off x="7059374" y="5507268"/>
            <a:ext cx="4264792" cy="215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0" name="타원 219"/>
          <p:cNvSpPr/>
          <p:nvPr/>
        </p:nvSpPr>
        <p:spPr>
          <a:xfrm>
            <a:off x="11324166" y="5390890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TextBox 220"/>
          <p:cNvSpPr txBox="1"/>
          <p:nvPr/>
        </p:nvSpPr>
        <p:spPr>
          <a:xfrm>
            <a:off x="5896530" y="5652220"/>
            <a:ext cx="2233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9</a:t>
            </a:r>
            <a:r>
              <a:rPr lang="ko-KR" altLang="en-US" sz="800" dirty="0" smtClean="0"/>
              <a:t>월 정기 포함될 기능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>
                <a:latin typeface="+mn-ea"/>
              </a:rPr>
              <a:t>FEATURE/FEATURE_RP####_</a:t>
            </a:r>
            <a:r>
              <a:rPr lang="en-US" altLang="ko-KR" sz="800" b="1" dirty="0" err="1">
                <a:latin typeface="+mn-ea"/>
              </a:rPr>
              <a:t>feature_name</a:t>
            </a:r>
            <a:endParaRPr lang="en-US" altLang="ko-KR" sz="800" b="1" dirty="0">
              <a:latin typeface="+mn-ea"/>
            </a:endParaRPr>
          </a:p>
          <a:p>
            <a:r>
              <a:rPr lang="en-US" altLang="ko-KR" sz="800" b="1" dirty="0" smtClean="0">
                <a:latin typeface="+mn-ea"/>
              </a:rPr>
              <a:t>develop </a:t>
            </a:r>
            <a:r>
              <a:rPr lang="ko-KR" altLang="en-US" sz="800" b="1" dirty="0">
                <a:latin typeface="+mn-ea"/>
              </a:rPr>
              <a:t>병합 후 </a:t>
            </a:r>
            <a:r>
              <a:rPr lang="ko-KR" altLang="en-US" sz="800" b="1" dirty="0" err="1">
                <a:latin typeface="+mn-ea"/>
              </a:rPr>
              <a:t>브랜치</a:t>
            </a:r>
            <a:r>
              <a:rPr lang="ko-KR" altLang="en-US" sz="800" b="1" dirty="0">
                <a:latin typeface="+mn-ea"/>
              </a:rPr>
              <a:t> </a:t>
            </a:r>
            <a:r>
              <a:rPr lang="ko-KR" altLang="en-US" sz="800" b="1" dirty="0" smtClean="0">
                <a:latin typeface="+mn-ea"/>
              </a:rPr>
              <a:t>삭제</a:t>
            </a:r>
            <a:endParaRPr lang="ko-KR" altLang="en-US" sz="800" b="1" dirty="0"/>
          </a:p>
        </p:txBody>
      </p:sp>
      <p:sp>
        <p:nvSpPr>
          <p:cNvPr id="134" name="TextBox 133"/>
          <p:cNvSpPr txBox="1"/>
          <p:nvPr/>
        </p:nvSpPr>
        <p:spPr>
          <a:xfrm>
            <a:off x="5834068" y="4716339"/>
            <a:ext cx="1572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7</a:t>
            </a:r>
            <a:r>
              <a:rPr lang="ko-KR" altLang="en-US" sz="800" dirty="0" err="1" smtClean="0"/>
              <a:t>월정기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배포후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hotfix </a:t>
            </a:r>
            <a:r>
              <a:rPr lang="ko-KR" altLang="en-US" sz="800" dirty="0" smtClean="0"/>
              <a:t>발생</a:t>
            </a:r>
            <a:endParaRPr lang="en-US" altLang="ko-KR" sz="800" dirty="0" smtClean="0"/>
          </a:p>
          <a:p>
            <a:r>
              <a:rPr lang="en-US" altLang="ko-KR" sz="800" b="1" dirty="0" smtClean="0"/>
              <a:t>HOTFIX</a:t>
            </a:r>
            <a:r>
              <a:rPr lang="en-US" altLang="ko-KR" sz="800" b="1" dirty="0" smtClean="0">
                <a:latin typeface="+mn-ea"/>
              </a:rPr>
              <a:t>/</a:t>
            </a:r>
            <a:r>
              <a:rPr lang="en-US" altLang="ko-KR" sz="800" b="1" dirty="0"/>
              <a:t>HOTFIX</a:t>
            </a:r>
            <a:r>
              <a:rPr lang="en-US" altLang="ko-KR" sz="800" b="1" dirty="0" smtClean="0">
                <a:latin typeface="+mn-ea"/>
              </a:rPr>
              <a:t>_17.07.29.01</a:t>
            </a:r>
            <a:endParaRPr lang="ko-KR" altLang="en-US" sz="800" b="1" dirty="0"/>
          </a:p>
        </p:txBody>
      </p:sp>
      <p:sp>
        <p:nvSpPr>
          <p:cNvPr id="174" name="TextBox 173"/>
          <p:cNvSpPr txBox="1"/>
          <p:nvPr/>
        </p:nvSpPr>
        <p:spPr>
          <a:xfrm>
            <a:off x="2545067" y="4728185"/>
            <a:ext cx="23407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7</a:t>
            </a:r>
            <a:r>
              <a:rPr lang="ko-KR" altLang="en-US" sz="800" dirty="0" smtClean="0"/>
              <a:t>월 </a:t>
            </a:r>
            <a:r>
              <a:rPr lang="ko-KR" altLang="en-US" sz="800" dirty="0" err="1" smtClean="0"/>
              <a:t>비정기</a:t>
            </a:r>
            <a:r>
              <a:rPr lang="ko-KR" altLang="en-US" sz="800" dirty="0" smtClean="0"/>
              <a:t> 배포 시</a:t>
            </a:r>
            <a:endParaRPr lang="en-US" altLang="ko-KR" sz="800" dirty="0" smtClean="0"/>
          </a:p>
          <a:p>
            <a:r>
              <a:rPr lang="en-US" altLang="ko-KR" sz="800" dirty="0" smtClean="0"/>
              <a:t>master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병합 후</a:t>
            </a:r>
            <a:endParaRPr lang="en-US" altLang="ko-KR" sz="800" dirty="0" smtClean="0"/>
          </a:p>
          <a:p>
            <a:r>
              <a:rPr lang="en-US" altLang="ko-KR" sz="800" b="1" dirty="0" smtClean="0"/>
              <a:t>tag/HOTFIX_17.07.29.01_14.0.1.410 tag </a:t>
            </a:r>
            <a:r>
              <a:rPr lang="ko-KR" altLang="en-US" sz="800" b="1" dirty="0" smtClean="0"/>
              <a:t>생성</a:t>
            </a:r>
            <a:endParaRPr lang="en-US" altLang="ko-KR" sz="800" b="1" dirty="0" smtClean="0"/>
          </a:p>
          <a:p>
            <a:r>
              <a:rPr lang="en-US" altLang="ko-KR" sz="800" b="1" dirty="0" smtClean="0"/>
              <a:t>HOTFIX/</a:t>
            </a:r>
            <a:r>
              <a:rPr lang="en-US" altLang="ko-KR" sz="800" b="1" dirty="0"/>
              <a:t>HOTFIX</a:t>
            </a:r>
            <a:r>
              <a:rPr lang="en-US" altLang="ko-KR" sz="800" b="1" dirty="0" smtClean="0"/>
              <a:t>_17.07.29.01 </a:t>
            </a:r>
            <a:r>
              <a:rPr lang="ko-KR" altLang="en-US" sz="800" b="1" dirty="0" smtClean="0"/>
              <a:t>삭제</a:t>
            </a:r>
            <a:endParaRPr lang="en-US" altLang="ko-KR" sz="800" b="1" dirty="0" smtClean="0"/>
          </a:p>
        </p:txBody>
      </p:sp>
      <p:cxnSp>
        <p:nvCxnSpPr>
          <p:cNvPr id="141" name="직선 화살표 연결선 140"/>
          <p:cNvCxnSpPr>
            <a:stCxn id="129" idx="4"/>
            <a:endCxn id="164" idx="7"/>
          </p:cNvCxnSpPr>
          <p:nvPr/>
        </p:nvCxnSpPr>
        <p:spPr>
          <a:xfrm>
            <a:off x="1844011" y="4622483"/>
            <a:ext cx="223796" cy="812964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직선 화살표 연결선 177"/>
          <p:cNvCxnSpPr>
            <a:stCxn id="196" idx="6"/>
            <a:endCxn id="216" idx="2"/>
          </p:cNvCxnSpPr>
          <p:nvPr/>
        </p:nvCxnSpPr>
        <p:spPr>
          <a:xfrm>
            <a:off x="10557925" y="4496595"/>
            <a:ext cx="1016453" cy="39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직선 연결선 197"/>
          <p:cNvCxnSpPr/>
          <p:nvPr/>
        </p:nvCxnSpPr>
        <p:spPr>
          <a:xfrm flipH="1">
            <a:off x="1489093" y="1329339"/>
            <a:ext cx="73" cy="414528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166851" y="137008"/>
            <a:ext cx="3811591" cy="369332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/>
              <a:t>신규 </a:t>
            </a:r>
            <a:r>
              <a:rPr lang="en-US" altLang="ko-KR" dirty="0" smtClean="0"/>
              <a:t>Branch </a:t>
            </a:r>
            <a:r>
              <a:rPr lang="ko-KR" altLang="en-US" dirty="0" smtClean="0"/>
              <a:t>전략 흐름도</a:t>
            </a:r>
            <a:r>
              <a:rPr lang="en-US" altLang="ko-KR" dirty="0" smtClean="0"/>
              <a:t>(</a:t>
            </a:r>
            <a:r>
              <a:rPr lang="ko-KR" altLang="en-US" dirty="0" smtClean="0"/>
              <a:t>통합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85" name="설명선 1 184"/>
          <p:cNvSpPr/>
          <p:nvPr/>
        </p:nvSpPr>
        <p:spPr>
          <a:xfrm>
            <a:off x="902836" y="4067355"/>
            <a:ext cx="623454" cy="224445"/>
          </a:xfrm>
          <a:prstGeom prst="borderCallout1">
            <a:avLst>
              <a:gd name="adj1" fmla="val 95602"/>
              <a:gd name="adj2" fmla="val 78530"/>
              <a:gd name="adj3" fmla="val 143055"/>
              <a:gd name="adj4" fmla="val 836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최초생성</a:t>
            </a:r>
            <a:endParaRPr lang="ko-KR" altLang="en-US" sz="800" dirty="0"/>
          </a:p>
        </p:txBody>
      </p:sp>
      <p:sp>
        <p:nvSpPr>
          <p:cNvPr id="201" name="설명선 1 200"/>
          <p:cNvSpPr/>
          <p:nvPr/>
        </p:nvSpPr>
        <p:spPr>
          <a:xfrm>
            <a:off x="8227822" y="5796401"/>
            <a:ext cx="1676399" cy="326966"/>
          </a:xfrm>
          <a:prstGeom prst="borderCallout1">
            <a:avLst>
              <a:gd name="adj1" fmla="val -6305"/>
              <a:gd name="adj2" fmla="val 35771"/>
              <a:gd name="adj3" fmla="val -102557"/>
              <a:gd name="adj4" fmla="val -11398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다음 정기에 반영하기로 결정한 경우</a:t>
            </a:r>
            <a:endParaRPr lang="ko-KR" altLang="en-US" sz="800" dirty="0"/>
          </a:p>
        </p:txBody>
      </p:sp>
      <p:cxnSp>
        <p:nvCxnSpPr>
          <p:cNvPr id="194" name="직선 화살표 연결선 193"/>
          <p:cNvCxnSpPr>
            <a:stCxn id="251" idx="4"/>
            <a:endCxn id="217" idx="0"/>
          </p:cNvCxnSpPr>
          <p:nvPr/>
        </p:nvCxnSpPr>
        <p:spPr>
          <a:xfrm flipH="1">
            <a:off x="6942997" y="4588704"/>
            <a:ext cx="314569" cy="804343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2" name="설명선 1 201"/>
          <p:cNvSpPr/>
          <p:nvPr/>
        </p:nvSpPr>
        <p:spPr>
          <a:xfrm>
            <a:off x="3943051" y="6108065"/>
            <a:ext cx="1478377" cy="374652"/>
          </a:xfrm>
          <a:prstGeom prst="borderCallout1">
            <a:avLst>
              <a:gd name="adj1" fmla="val 50648"/>
              <a:gd name="adj2" fmla="val -1306"/>
              <a:gd name="adj3" fmla="val -158884"/>
              <a:gd name="adj4" fmla="val -1182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merge</a:t>
            </a:r>
            <a:r>
              <a:rPr lang="ko-KR" altLang="en-US" sz="800" dirty="0" smtClean="0"/>
              <a:t> 타이밍은 </a:t>
            </a:r>
            <a:r>
              <a:rPr lang="en-US" altLang="ko-KR" sz="800" dirty="0" smtClean="0"/>
              <a:t>1</a:t>
            </a:r>
            <a:r>
              <a:rPr lang="ko-KR" altLang="en-US" sz="800" dirty="0" smtClean="0"/>
              <a:t>주에 </a:t>
            </a:r>
            <a:r>
              <a:rPr lang="en-US" altLang="ko-KR" sz="800" dirty="0" smtClean="0"/>
              <a:t>1</a:t>
            </a:r>
            <a:r>
              <a:rPr lang="ko-KR" altLang="en-US" sz="800" dirty="0" smtClean="0"/>
              <a:t>번</a:t>
            </a:r>
            <a:endParaRPr lang="ko-KR" altLang="en-US" sz="800" dirty="0"/>
          </a:p>
        </p:txBody>
      </p:sp>
      <p:cxnSp>
        <p:nvCxnSpPr>
          <p:cNvPr id="242" name="직선 화살표 연결선 241"/>
          <p:cNvCxnSpPr/>
          <p:nvPr/>
        </p:nvCxnSpPr>
        <p:spPr>
          <a:xfrm>
            <a:off x="4172780" y="222523"/>
            <a:ext cx="367296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3" name="직선 화살표 연결선 242"/>
          <p:cNvCxnSpPr/>
          <p:nvPr/>
        </p:nvCxnSpPr>
        <p:spPr>
          <a:xfrm>
            <a:off x="4172780" y="353509"/>
            <a:ext cx="36729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4" name="직선 화살표 연결선 243"/>
          <p:cNvCxnSpPr/>
          <p:nvPr/>
        </p:nvCxnSpPr>
        <p:spPr>
          <a:xfrm>
            <a:off x="4175581" y="471360"/>
            <a:ext cx="371393" cy="1012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7" name="직사각형 246"/>
          <p:cNvSpPr/>
          <p:nvPr/>
        </p:nvSpPr>
        <p:spPr>
          <a:xfrm>
            <a:off x="4608683" y="45283"/>
            <a:ext cx="8899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브랜치생성</a:t>
            </a:r>
            <a:endParaRPr lang="ko-KR" altLang="en-US" sz="1100" dirty="0"/>
          </a:p>
        </p:txBody>
      </p:sp>
      <p:sp>
        <p:nvSpPr>
          <p:cNvPr id="248" name="직사각형 247"/>
          <p:cNvSpPr/>
          <p:nvPr/>
        </p:nvSpPr>
        <p:spPr>
          <a:xfrm>
            <a:off x="4608683" y="200644"/>
            <a:ext cx="16818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브랜치병합</a:t>
            </a:r>
            <a:r>
              <a:rPr lang="en-US" altLang="ko-KR" sz="1100" dirty="0" smtClean="0"/>
              <a:t>(</a:t>
            </a:r>
            <a:r>
              <a:rPr lang="ko-KR" altLang="en-US" sz="1100" dirty="0" err="1" smtClean="0"/>
              <a:t>오버라이트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  <p:sp>
        <p:nvSpPr>
          <p:cNvPr id="249" name="직사각형 248"/>
          <p:cNvSpPr/>
          <p:nvPr/>
        </p:nvSpPr>
        <p:spPr>
          <a:xfrm>
            <a:off x="4608683" y="350684"/>
            <a:ext cx="8899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err="1" smtClean="0"/>
              <a:t>브랜치병합</a:t>
            </a:r>
            <a:endParaRPr lang="ko-KR" altLang="en-US" sz="1100" dirty="0"/>
          </a:p>
        </p:txBody>
      </p:sp>
      <p:sp>
        <p:nvSpPr>
          <p:cNvPr id="251" name="타원 250"/>
          <p:cNvSpPr/>
          <p:nvPr/>
        </p:nvSpPr>
        <p:spPr>
          <a:xfrm>
            <a:off x="7141188" y="4355949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3" name="TextBox 252"/>
          <p:cNvSpPr txBox="1"/>
          <p:nvPr/>
        </p:nvSpPr>
        <p:spPr>
          <a:xfrm>
            <a:off x="10323301" y="3370580"/>
            <a:ext cx="697627" cy="2154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800" dirty="0" err="1" smtClean="0"/>
              <a:t>핫픽스머지</a:t>
            </a:r>
            <a:endParaRPr lang="en-US" altLang="ko-KR" sz="800" dirty="0" smtClean="0"/>
          </a:p>
        </p:txBody>
      </p:sp>
      <p:sp>
        <p:nvSpPr>
          <p:cNvPr id="66" name="직사각형 65"/>
          <p:cNvSpPr/>
          <p:nvPr/>
        </p:nvSpPr>
        <p:spPr>
          <a:xfrm>
            <a:off x="7356571" y="4096485"/>
            <a:ext cx="233910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smtClean="0">
                <a:solidFill>
                  <a:srgbClr val="FF0000"/>
                </a:solidFill>
              </a:rPr>
              <a:t>tag</a:t>
            </a:r>
            <a:r>
              <a:rPr lang="en-US" altLang="ko-KR" sz="800" b="1" dirty="0">
                <a:solidFill>
                  <a:srgbClr val="FF0000"/>
                </a:solidFill>
              </a:rPr>
              <a:t>/HOTFIX-17.08.11</a:t>
            </a:r>
            <a:r>
              <a:rPr lang="en-US" altLang="ko-KR" sz="800" b="1" dirty="0" smtClean="0">
                <a:solidFill>
                  <a:srgbClr val="FF0000"/>
                </a:solidFill>
              </a:rPr>
              <a:t>.01_14.0.1.510 </a:t>
            </a:r>
            <a:r>
              <a:rPr lang="en-US" altLang="ko-KR" sz="800" b="1" dirty="0">
                <a:solidFill>
                  <a:srgbClr val="FF0000"/>
                </a:solidFill>
              </a:rPr>
              <a:t>tag </a:t>
            </a:r>
            <a:r>
              <a:rPr lang="ko-KR" altLang="en-US" sz="800" b="1" dirty="0">
                <a:solidFill>
                  <a:srgbClr val="FF0000"/>
                </a:solidFill>
              </a:rPr>
              <a:t>생성</a:t>
            </a:r>
            <a:endParaRPr lang="en-US" altLang="ko-KR" sz="800" b="1" dirty="0">
              <a:solidFill>
                <a:srgbClr val="FF0000"/>
              </a:solidFill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2913321" y="3150004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/>
          <p:cNvCxnSpPr>
            <a:stCxn id="107" idx="6"/>
            <a:endCxn id="82" idx="2"/>
          </p:cNvCxnSpPr>
          <p:nvPr/>
        </p:nvCxnSpPr>
        <p:spPr>
          <a:xfrm flipV="1">
            <a:off x="3146076" y="3259798"/>
            <a:ext cx="755242" cy="658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913321" y="2733415"/>
            <a:ext cx="802098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800" dirty="0" smtClean="0"/>
              <a:t>작업기</a:t>
            </a:r>
            <a:r>
              <a:rPr lang="ko-KR" altLang="en-US" sz="800" dirty="0"/>
              <a:t>간</a:t>
            </a:r>
            <a:r>
              <a:rPr lang="en-US" altLang="ko-KR" sz="800" dirty="0" smtClean="0"/>
              <a:t>: 7/17~8/7</a:t>
            </a:r>
            <a:endParaRPr lang="ko-KR" altLang="en-US" sz="1100" dirty="0"/>
          </a:p>
        </p:txBody>
      </p:sp>
      <p:sp>
        <p:nvSpPr>
          <p:cNvPr id="120" name="타원 119"/>
          <p:cNvSpPr/>
          <p:nvPr/>
        </p:nvSpPr>
        <p:spPr>
          <a:xfrm>
            <a:off x="2927897" y="4389728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화살표 연결선 120"/>
          <p:cNvCxnSpPr>
            <a:stCxn id="120" idx="0"/>
            <a:endCxn id="107" idx="4"/>
          </p:cNvCxnSpPr>
          <p:nvPr/>
        </p:nvCxnSpPr>
        <p:spPr>
          <a:xfrm flipH="1" flipV="1">
            <a:off x="3029699" y="3382759"/>
            <a:ext cx="14576" cy="100696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5" name="타원 124"/>
          <p:cNvSpPr/>
          <p:nvPr/>
        </p:nvSpPr>
        <p:spPr>
          <a:xfrm>
            <a:off x="1446516" y="5419465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타원 128"/>
          <p:cNvSpPr/>
          <p:nvPr/>
        </p:nvSpPr>
        <p:spPr>
          <a:xfrm>
            <a:off x="1727633" y="4389728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/>
          <p:cNvSpPr/>
          <p:nvPr/>
        </p:nvSpPr>
        <p:spPr>
          <a:xfrm>
            <a:off x="2484109" y="3148000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화살표 연결선 135"/>
          <p:cNvCxnSpPr>
            <a:stCxn id="133" idx="6"/>
            <a:endCxn id="107" idx="2"/>
          </p:cNvCxnSpPr>
          <p:nvPr/>
        </p:nvCxnSpPr>
        <p:spPr>
          <a:xfrm>
            <a:off x="2716864" y="3264378"/>
            <a:ext cx="196457" cy="200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7" name="타원 136"/>
          <p:cNvSpPr/>
          <p:nvPr/>
        </p:nvSpPr>
        <p:spPr>
          <a:xfrm>
            <a:off x="5522871" y="4385304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9" name="TextBox 148"/>
          <p:cNvSpPr txBox="1"/>
          <p:nvPr/>
        </p:nvSpPr>
        <p:spPr>
          <a:xfrm>
            <a:off x="64896" y="3105908"/>
            <a:ext cx="1427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     release</a:t>
            </a:r>
          </a:p>
        </p:txBody>
      </p:sp>
      <p:sp>
        <p:nvSpPr>
          <p:cNvPr id="160" name="타원 159"/>
          <p:cNvSpPr/>
          <p:nvPr/>
        </p:nvSpPr>
        <p:spPr>
          <a:xfrm>
            <a:off x="140172" y="3140840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2" name="직선 화살표 연결선 161"/>
          <p:cNvCxnSpPr>
            <a:stCxn id="137" idx="0"/>
          </p:cNvCxnSpPr>
          <p:nvPr/>
        </p:nvCxnSpPr>
        <p:spPr>
          <a:xfrm flipV="1">
            <a:off x="5639249" y="3452794"/>
            <a:ext cx="248405" cy="932510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4" name="타원 163"/>
          <p:cNvSpPr/>
          <p:nvPr/>
        </p:nvSpPr>
        <p:spPr>
          <a:xfrm>
            <a:off x="1869138" y="5401361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9" name="직선 연결선 168"/>
          <p:cNvCxnSpPr/>
          <p:nvPr/>
        </p:nvCxnSpPr>
        <p:spPr>
          <a:xfrm>
            <a:off x="2619624" y="2995733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직선 연결선 169"/>
          <p:cNvCxnSpPr/>
          <p:nvPr/>
        </p:nvCxnSpPr>
        <p:spPr>
          <a:xfrm>
            <a:off x="3873010" y="1490619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2" name="타원 191"/>
          <p:cNvSpPr/>
          <p:nvPr/>
        </p:nvSpPr>
        <p:spPr>
          <a:xfrm>
            <a:off x="6057799" y="3154398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7" name="직선 화살표 연결선 196"/>
          <p:cNvCxnSpPr>
            <a:stCxn id="192" idx="6"/>
          </p:cNvCxnSpPr>
          <p:nvPr/>
        </p:nvCxnSpPr>
        <p:spPr>
          <a:xfrm>
            <a:off x="6290554" y="3270776"/>
            <a:ext cx="350702" cy="1774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6290554" y="3647897"/>
            <a:ext cx="697627" cy="2154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800" dirty="0" err="1" smtClean="0"/>
              <a:t>핫픽스머지</a:t>
            </a:r>
            <a:endParaRPr lang="en-US" altLang="ko-KR" sz="800" dirty="0" smtClean="0"/>
          </a:p>
        </p:txBody>
      </p:sp>
      <p:cxnSp>
        <p:nvCxnSpPr>
          <p:cNvPr id="228" name="직선 화살표 연결선 227"/>
          <p:cNvCxnSpPr>
            <a:stCxn id="220" idx="0"/>
            <a:endCxn id="216" idx="3"/>
          </p:cNvCxnSpPr>
          <p:nvPr/>
        </p:nvCxnSpPr>
        <p:spPr>
          <a:xfrm flipV="1">
            <a:off x="11440544" y="4579282"/>
            <a:ext cx="167920" cy="81160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4429437" y="1955900"/>
            <a:ext cx="1028955" cy="2154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800" dirty="0" smtClean="0"/>
              <a:t>작업기</a:t>
            </a:r>
            <a:r>
              <a:rPr lang="ko-KR" altLang="en-US" sz="800" dirty="0"/>
              <a:t>간</a:t>
            </a:r>
            <a:r>
              <a:rPr lang="en-US" altLang="ko-KR" sz="800" dirty="0" smtClean="0"/>
              <a:t>: 8/8~9/8</a:t>
            </a:r>
            <a:endParaRPr lang="ko-KR" altLang="en-US" sz="1100" dirty="0"/>
          </a:p>
        </p:txBody>
      </p:sp>
      <p:cxnSp>
        <p:nvCxnSpPr>
          <p:cNvPr id="190" name="직선 연결선 189"/>
          <p:cNvCxnSpPr>
            <a:endCxn id="171" idx="0"/>
          </p:cNvCxnSpPr>
          <p:nvPr/>
        </p:nvCxnSpPr>
        <p:spPr>
          <a:xfrm>
            <a:off x="4013838" y="2012717"/>
            <a:ext cx="3858" cy="1678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0" name="타원 199"/>
          <p:cNvSpPr/>
          <p:nvPr/>
        </p:nvSpPr>
        <p:spPr>
          <a:xfrm>
            <a:off x="9466195" y="441311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직사각형 202"/>
          <p:cNvSpPr/>
          <p:nvPr/>
        </p:nvSpPr>
        <p:spPr>
          <a:xfrm>
            <a:off x="8983461" y="4699426"/>
            <a:ext cx="234070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tag/HOTFIX_17.08.11.01_14.0.1.520</a:t>
            </a:r>
            <a:r>
              <a:rPr lang="en-US" altLang="ko-KR" sz="8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800" b="1" dirty="0">
                <a:solidFill>
                  <a:srgbClr val="FF0000"/>
                </a:solidFill>
              </a:rPr>
              <a:t>tag </a:t>
            </a:r>
            <a:r>
              <a:rPr lang="ko-KR" altLang="en-US" sz="800" b="1" dirty="0">
                <a:solidFill>
                  <a:srgbClr val="FF0000"/>
                </a:solidFill>
              </a:rPr>
              <a:t>생성</a:t>
            </a:r>
            <a:endParaRPr lang="en-US" altLang="ko-KR" sz="800" b="1" dirty="0">
              <a:solidFill>
                <a:srgbClr val="FF0000"/>
              </a:solidFill>
            </a:endParaRPr>
          </a:p>
        </p:txBody>
      </p:sp>
      <p:sp>
        <p:nvSpPr>
          <p:cNvPr id="205" name="타원 204"/>
          <p:cNvSpPr/>
          <p:nvPr/>
        </p:nvSpPr>
        <p:spPr>
          <a:xfrm>
            <a:off x="5221553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1" name="직선 화살표 연결선 210"/>
          <p:cNvCxnSpPr>
            <a:stCxn id="205" idx="6"/>
            <a:endCxn id="212" idx="2"/>
          </p:cNvCxnSpPr>
          <p:nvPr/>
        </p:nvCxnSpPr>
        <p:spPr>
          <a:xfrm>
            <a:off x="5454308" y="5509425"/>
            <a:ext cx="16507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2" name="타원 211"/>
          <p:cNvSpPr/>
          <p:nvPr/>
        </p:nvSpPr>
        <p:spPr>
          <a:xfrm>
            <a:off x="5619379" y="5393047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2" name="직선 화살표 연결선 221"/>
          <p:cNvCxnSpPr>
            <a:stCxn id="212" idx="6"/>
            <a:endCxn id="214" idx="2"/>
          </p:cNvCxnSpPr>
          <p:nvPr/>
        </p:nvCxnSpPr>
        <p:spPr>
          <a:xfrm>
            <a:off x="5852134" y="5509425"/>
            <a:ext cx="57665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5" name="직선 화살표 연결선 224"/>
          <p:cNvCxnSpPr>
            <a:stCxn id="137" idx="4"/>
            <a:endCxn id="212" idx="6"/>
          </p:cNvCxnSpPr>
          <p:nvPr/>
        </p:nvCxnSpPr>
        <p:spPr>
          <a:xfrm>
            <a:off x="5639249" y="4618059"/>
            <a:ext cx="212885" cy="891366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6" name="직선 화살표 연결선 225"/>
          <p:cNvCxnSpPr>
            <a:stCxn id="175" idx="5"/>
            <a:endCxn id="214" idx="0"/>
          </p:cNvCxnSpPr>
          <p:nvPr/>
        </p:nvCxnSpPr>
        <p:spPr>
          <a:xfrm flipH="1">
            <a:off x="6545171" y="4578345"/>
            <a:ext cx="220630" cy="814702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2" name="타원 251"/>
          <p:cNvSpPr/>
          <p:nvPr/>
        </p:nvSpPr>
        <p:spPr>
          <a:xfrm>
            <a:off x="4758701" y="4421877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4" name="직선 화살표 연결선 253"/>
          <p:cNvCxnSpPr>
            <a:stCxn id="252" idx="4"/>
            <a:endCxn id="205" idx="0"/>
          </p:cNvCxnSpPr>
          <p:nvPr/>
        </p:nvCxnSpPr>
        <p:spPr>
          <a:xfrm>
            <a:off x="4875079" y="4654632"/>
            <a:ext cx="462852" cy="73841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2295874" y="1301700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7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sp>
        <p:nvSpPr>
          <p:cNvPr id="255" name="TextBox 254"/>
          <p:cNvSpPr txBox="1"/>
          <p:nvPr/>
        </p:nvSpPr>
        <p:spPr>
          <a:xfrm>
            <a:off x="5484558" y="1196812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sp>
        <p:nvSpPr>
          <p:cNvPr id="256" name="TextBox 255"/>
          <p:cNvSpPr txBox="1"/>
          <p:nvPr/>
        </p:nvSpPr>
        <p:spPr>
          <a:xfrm>
            <a:off x="8400440" y="1647340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sp>
        <p:nvSpPr>
          <p:cNvPr id="262" name="TextBox 261"/>
          <p:cNvSpPr txBox="1"/>
          <p:nvPr/>
        </p:nvSpPr>
        <p:spPr>
          <a:xfrm>
            <a:off x="2293783" y="3754056"/>
            <a:ext cx="1983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cxnSp>
        <p:nvCxnSpPr>
          <p:cNvPr id="274" name="직선 화살표 연결선 273"/>
          <p:cNvCxnSpPr>
            <a:stCxn id="82" idx="0"/>
            <a:endCxn id="171" idx="4"/>
          </p:cNvCxnSpPr>
          <p:nvPr/>
        </p:nvCxnSpPr>
        <p:spPr>
          <a:xfrm flipV="1">
            <a:off x="4017696" y="2413297"/>
            <a:ext cx="0" cy="73012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7" name="타원 146"/>
          <p:cNvSpPr/>
          <p:nvPr/>
        </p:nvSpPr>
        <p:spPr>
          <a:xfrm>
            <a:off x="4123673" y="4375647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타원 170"/>
          <p:cNvSpPr/>
          <p:nvPr/>
        </p:nvSpPr>
        <p:spPr>
          <a:xfrm>
            <a:off x="3901318" y="2180542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타원 226"/>
          <p:cNvSpPr/>
          <p:nvPr/>
        </p:nvSpPr>
        <p:spPr>
          <a:xfrm>
            <a:off x="4917360" y="2215671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2" name="직선 화살표 연결선 231"/>
          <p:cNvCxnSpPr>
            <a:endCxn id="227" idx="2"/>
          </p:cNvCxnSpPr>
          <p:nvPr/>
        </p:nvCxnSpPr>
        <p:spPr>
          <a:xfrm>
            <a:off x="4157697" y="2315198"/>
            <a:ext cx="759663" cy="1685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4" name="직선 화살표 연결선 233"/>
          <p:cNvCxnSpPr>
            <a:stCxn id="227" idx="6"/>
          </p:cNvCxnSpPr>
          <p:nvPr/>
        </p:nvCxnSpPr>
        <p:spPr>
          <a:xfrm flipV="1">
            <a:off x="5150115" y="2323623"/>
            <a:ext cx="1029746" cy="842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7" name="직선 연결선 236"/>
          <p:cNvCxnSpPr/>
          <p:nvPr/>
        </p:nvCxnSpPr>
        <p:spPr>
          <a:xfrm>
            <a:off x="7417965" y="1291757"/>
            <a:ext cx="4166" cy="4106108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직선 화살표 연결선 237"/>
          <p:cNvCxnSpPr>
            <a:stCxn id="183" idx="1"/>
          </p:cNvCxnSpPr>
          <p:nvPr/>
        </p:nvCxnSpPr>
        <p:spPr>
          <a:xfrm flipH="1">
            <a:off x="4017696" y="2063622"/>
            <a:ext cx="411741" cy="4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직선 화살표 연결선 245"/>
          <p:cNvCxnSpPr/>
          <p:nvPr/>
        </p:nvCxnSpPr>
        <p:spPr>
          <a:xfrm>
            <a:off x="5470829" y="2086261"/>
            <a:ext cx="2137872" cy="10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화살표 연결선 162"/>
          <p:cNvCxnSpPr>
            <a:stCxn id="200" idx="4"/>
            <a:endCxn id="168" idx="0"/>
          </p:cNvCxnSpPr>
          <p:nvPr/>
        </p:nvCxnSpPr>
        <p:spPr>
          <a:xfrm>
            <a:off x="9582573" y="4645871"/>
            <a:ext cx="8007" cy="74501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8" name="타원 167"/>
          <p:cNvSpPr/>
          <p:nvPr/>
        </p:nvSpPr>
        <p:spPr>
          <a:xfrm>
            <a:off x="9474202" y="5390890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9" name="TextBox 268"/>
          <p:cNvSpPr txBox="1"/>
          <p:nvPr/>
        </p:nvSpPr>
        <p:spPr>
          <a:xfrm>
            <a:off x="5329104" y="2666382"/>
            <a:ext cx="971741" cy="2154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800" dirty="0" smtClean="0"/>
              <a:t>7</a:t>
            </a:r>
            <a:r>
              <a:rPr lang="ko-KR" altLang="en-US" sz="800" dirty="0" smtClean="0"/>
              <a:t>월 </a:t>
            </a:r>
            <a:r>
              <a:rPr lang="en-US" altLang="ko-KR" sz="800" dirty="0" smtClean="0"/>
              <a:t>Release </a:t>
            </a:r>
            <a:r>
              <a:rPr lang="ko-KR" altLang="en-US" sz="800" dirty="0" smtClean="0"/>
              <a:t>배포</a:t>
            </a:r>
            <a:endParaRPr lang="en-US" altLang="ko-KR" sz="800" dirty="0" smtClean="0"/>
          </a:p>
        </p:txBody>
      </p:sp>
      <p:cxnSp>
        <p:nvCxnSpPr>
          <p:cNvPr id="270" name="직선 화살표 연결선 269"/>
          <p:cNvCxnSpPr>
            <a:stCxn id="103" idx="0"/>
          </p:cNvCxnSpPr>
          <p:nvPr/>
        </p:nvCxnSpPr>
        <p:spPr>
          <a:xfrm flipV="1">
            <a:off x="5499354" y="2878232"/>
            <a:ext cx="139895" cy="27431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1" name="직선 화살표 연결선 270"/>
          <p:cNvCxnSpPr>
            <a:stCxn id="147" idx="0"/>
          </p:cNvCxnSpPr>
          <p:nvPr/>
        </p:nvCxnSpPr>
        <p:spPr>
          <a:xfrm flipV="1">
            <a:off x="4240051" y="2451991"/>
            <a:ext cx="14336" cy="1923656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직선 화살표 연결선 275"/>
          <p:cNvCxnSpPr>
            <a:stCxn id="252" idx="7"/>
          </p:cNvCxnSpPr>
          <p:nvPr/>
        </p:nvCxnSpPr>
        <p:spPr>
          <a:xfrm flipV="1">
            <a:off x="4957370" y="3424420"/>
            <a:ext cx="806081" cy="1031543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9" name="직선 화살표 연결선 278"/>
          <p:cNvCxnSpPr>
            <a:stCxn id="147" idx="7"/>
          </p:cNvCxnSpPr>
          <p:nvPr/>
        </p:nvCxnSpPr>
        <p:spPr>
          <a:xfrm flipV="1">
            <a:off x="4322342" y="3413819"/>
            <a:ext cx="1441109" cy="995914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0" name="직선 화살표 연결선 279"/>
          <p:cNvCxnSpPr/>
          <p:nvPr/>
        </p:nvCxnSpPr>
        <p:spPr>
          <a:xfrm>
            <a:off x="5613034" y="3278614"/>
            <a:ext cx="442068" cy="185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6140463" y="2171344"/>
            <a:ext cx="3858" cy="1678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5" name="타원 284"/>
          <p:cNvSpPr/>
          <p:nvPr/>
        </p:nvSpPr>
        <p:spPr>
          <a:xfrm>
            <a:off x="6652023" y="3181519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6" name="직선 화살표 연결선 285"/>
          <p:cNvCxnSpPr/>
          <p:nvPr/>
        </p:nvCxnSpPr>
        <p:spPr>
          <a:xfrm flipV="1">
            <a:off x="4375613" y="2318641"/>
            <a:ext cx="0" cy="911770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직선 화살표 연결선 286"/>
          <p:cNvCxnSpPr/>
          <p:nvPr/>
        </p:nvCxnSpPr>
        <p:spPr>
          <a:xfrm flipV="1">
            <a:off x="5215666" y="2348027"/>
            <a:ext cx="0" cy="911770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8" name="직선 화살표 연결선 287"/>
          <p:cNvCxnSpPr>
            <a:stCxn id="119" idx="3"/>
          </p:cNvCxnSpPr>
          <p:nvPr/>
        </p:nvCxnSpPr>
        <p:spPr>
          <a:xfrm>
            <a:off x="3715419" y="2902692"/>
            <a:ext cx="2630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9" name="직선 화살표 연결선 288"/>
          <p:cNvCxnSpPr>
            <a:stCxn id="119" idx="1"/>
          </p:cNvCxnSpPr>
          <p:nvPr/>
        </p:nvCxnSpPr>
        <p:spPr>
          <a:xfrm flipH="1">
            <a:off x="2578796" y="2902692"/>
            <a:ext cx="334525" cy="3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직선 화살표 연결선 289"/>
          <p:cNvCxnSpPr>
            <a:endCxn id="143" idx="2"/>
          </p:cNvCxnSpPr>
          <p:nvPr/>
        </p:nvCxnSpPr>
        <p:spPr>
          <a:xfrm>
            <a:off x="6906863" y="3280150"/>
            <a:ext cx="694148" cy="837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1" name="타원 290"/>
          <p:cNvSpPr/>
          <p:nvPr/>
        </p:nvSpPr>
        <p:spPr>
          <a:xfrm>
            <a:off x="7604308" y="3173228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2" name="직선 연결선 291"/>
          <p:cNvCxnSpPr/>
          <p:nvPr/>
        </p:nvCxnSpPr>
        <p:spPr>
          <a:xfrm>
            <a:off x="7682585" y="3008174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3" name="타원 292"/>
          <p:cNvSpPr/>
          <p:nvPr/>
        </p:nvSpPr>
        <p:spPr>
          <a:xfrm>
            <a:off x="8142657" y="3182351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타원 293"/>
          <p:cNvSpPr/>
          <p:nvPr/>
        </p:nvSpPr>
        <p:spPr>
          <a:xfrm>
            <a:off x="8613319" y="3182351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5" name="직선 화살표 연결선 294"/>
          <p:cNvCxnSpPr>
            <a:stCxn id="291" idx="6"/>
            <a:endCxn id="293" idx="2"/>
          </p:cNvCxnSpPr>
          <p:nvPr/>
        </p:nvCxnSpPr>
        <p:spPr>
          <a:xfrm>
            <a:off x="7837063" y="3289606"/>
            <a:ext cx="305594" cy="912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6" name="직선 화살표 연결선 295"/>
          <p:cNvCxnSpPr>
            <a:stCxn id="293" idx="6"/>
            <a:endCxn id="294" idx="2"/>
          </p:cNvCxnSpPr>
          <p:nvPr/>
        </p:nvCxnSpPr>
        <p:spPr>
          <a:xfrm>
            <a:off x="8375412" y="3298729"/>
            <a:ext cx="237907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7" name="타원 296"/>
          <p:cNvSpPr/>
          <p:nvPr/>
        </p:nvSpPr>
        <p:spPr>
          <a:xfrm>
            <a:off x="9085966" y="3182351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8" name="직선 화살표 연결선 297"/>
          <p:cNvCxnSpPr>
            <a:stCxn id="294" idx="6"/>
            <a:endCxn id="297" idx="2"/>
          </p:cNvCxnSpPr>
          <p:nvPr/>
        </p:nvCxnSpPr>
        <p:spPr>
          <a:xfrm>
            <a:off x="8846074" y="3298729"/>
            <a:ext cx="239892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9" name="직선 연결선 298"/>
          <p:cNvCxnSpPr>
            <a:endCxn id="297" idx="0"/>
          </p:cNvCxnSpPr>
          <p:nvPr/>
        </p:nvCxnSpPr>
        <p:spPr>
          <a:xfrm>
            <a:off x="9202343" y="3017297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0" name="TextBox 299"/>
          <p:cNvSpPr txBox="1"/>
          <p:nvPr/>
        </p:nvSpPr>
        <p:spPr>
          <a:xfrm>
            <a:off x="7991231" y="2899641"/>
            <a:ext cx="1028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 smtClean="0"/>
              <a:t>프리징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9/9~9/26</a:t>
            </a:r>
            <a:endParaRPr lang="ko-KR" altLang="en-US" sz="1100" dirty="0"/>
          </a:p>
        </p:txBody>
      </p:sp>
      <p:cxnSp>
        <p:nvCxnSpPr>
          <p:cNvPr id="301" name="직선 화살표 연결선 300"/>
          <p:cNvCxnSpPr>
            <a:stCxn id="300" idx="3"/>
          </p:cNvCxnSpPr>
          <p:nvPr/>
        </p:nvCxnSpPr>
        <p:spPr>
          <a:xfrm>
            <a:off x="9020186" y="3007363"/>
            <a:ext cx="162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2" name="직선 화살표 연결선 301"/>
          <p:cNvCxnSpPr>
            <a:stCxn id="300" idx="1"/>
          </p:cNvCxnSpPr>
          <p:nvPr/>
        </p:nvCxnSpPr>
        <p:spPr>
          <a:xfrm flipH="1">
            <a:off x="7806156" y="3007363"/>
            <a:ext cx="185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3" name="TextBox 302"/>
          <p:cNvSpPr txBox="1"/>
          <p:nvPr/>
        </p:nvSpPr>
        <p:spPr>
          <a:xfrm>
            <a:off x="9032094" y="2696190"/>
            <a:ext cx="971741" cy="2154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800" dirty="0" smtClean="0"/>
              <a:t>8</a:t>
            </a:r>
            <a:r>
              <a:rPr lang="ko-KR" altLang="en-US" sz="800" dirty="0" smtClean="0"/>
              <a:t>월 </a:t>
            </a:r>
            <a:r>
              <a:rPr lang="en-US" altLang="ko-KR" sz="800" dirty="0" smtClean="0"/>
              <a:t>Release </a:t>
            </a:r>
            <a:r>
              <a:rPr lang="ko-KR" altLang="en-US" sz="800" dirty="0" smtClean="0"/>
              <a:t>배포</a:t>
            </a:r>
            <a:endParaRPr lang="en-US" altLang="ko-KR" sz="800" dirty="0" smtClean="0"/>
          </a:p>
        </p:txBody>
      </p:sp>
      <p:cxnSp>
        <p:nvCxnSpPr>
          <p:cNvPr id="304" name="직선 화살표 연결선 303"/>
          <p:cNvCxnSpPr>
            <a:stCxn id="297" idx="0"/>
          </p:cNvCxnSpPr>
          <p:nvPr/>
        </p:nvCxnSpPr>
        <p:spPr>
          <a:xfrm flipV="1">
            <a:off x="9202344" y="2908040"/>
            <a:ext cx="139895" cy="27431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직선 화살표 연결선 304"/>
          <p:cNvCxnSpPr/>
          <p:nvPr/>
        </p:nvCxnSpPr>
        <p:spPr>
          <a:xfrm flipV="1">
            <a:off x="7738729" y="2432421"/>
            <a:ext cx="0" cy="73012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6" name="타원 305"/>
          <p:cNvSpPr/>
          <p:nvPr/>
        </p:nvSpPr>
        <p:spPr>
          <a:xfrm>
            <a:off x="7608701" y="2172117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7" name="타원 306"/>
          <p:cNvSpPr/>
          <p:nvPr/>
        </p:nvSpPr>
        <p:spPr>
          <a:xfrm>
            <a:off x="8624743" y="2207246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8" name="직선 화살표 연결선 307"/>
          <p:cNvCxnSpPr>
            <a:endCxn id="307" idx="2"/>
          </p:cNvCxnSpPr>
          <p:nvPr/>
        </p:nvCxnSpPr>
        <p:spPr>
          <a:xfrm>
            <a:off x="7865080" y="2306773"/>
            <a:ext cx="759663" cy="1685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9" name="직선 화살표 연결선 308"/>
          <p:cNvCxnSpPr>
            <a:stCxn id="307" idx="6"/>
          </p:cNvCxnSpPr>
          <p:nvPr/>
        </p:nvCxnSpPr>
        <p:spPr>
          <a:xfrm flipV="1">
            <a:off x="8857498" y="2315198"/>
            <a:ext cx="1029746" cy="842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0" name="직선 연결선 309"/>
          <p:cNvCxnSpPr/>
          <p:nvPr/>
        </p:nvCxnSpPr>
        <p:spPr>
          <a:xfrm>
            <a:off x="9847846" y="2162919"/>
            <a:ext cx="3858" cy="1678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1" name="직선 화살표 연결선 310"/>
          <p:cNvCxnSpPr/>
          <p:nvPr/>
        </p:nvCxnSpPr>
        <p:spPr>
          <a:xfrm>
            <a:off x="7378761" y="2315819"/>
            <a:ext cx="225547" cy="98207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2" name="직선 화살표 연결선 311"/>
          <p:cNvCxnSpPr/>
          <p:nvPr/>
        </p:nvCxnSpPr>
        <p:spPr>
          <a:xfrm flipV="1">
            <a:off x="6285014" y="2323623"/>
            <a:ext cx="1029746" cy="842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32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설명선 1 1"/>
          <p:cNvSpPr/>
          <p:nvPr/>
        </p:nvSpPr>
        <p:spPr>
          <a:xfrm>
            <a:off x="299259" y="3943004"/>
            <a:ext cx="1266306" cy="224445"/>
          </a:xfrm>
          <a:prstGeom prst="borderCallout1">
            <a:avLst>
              <a:gd name="adj1" fmla="val 54862"/>
              <a:gd name="adj2" fmla="val 99248"/>
              <a:gd name="adj3" fmla="val 83796"/>
              <a:gd name="adj4" fmla="val 11089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master </a:t>
            </a:r>
            <a:r>
              <a:rPr lang="ko-KR" altLang="en-US" sz="800" dirty="0" err="1" smtClean="0"/>
              <a:t>브랜치로</a:t>
            </a:r>
            <a:r>
              <a:rPr lang="ko-KR" altLang="en-US" sz="800" dirty="0" smtClean="0"/>
              <a:t> 분리</a:t>
            </a:r>
            <a:endParaRPr lang="ko-KR" altLang="en-US" sz="800" dirty="0"/>
          </a:p>
        </p:txBody>
      </p:sp>
      <p:cxnSp>
        <p:nvCxnSpPr>
          <p:cNvPr id="4" name="직선 연결선 3"/>
          <p:cNvCxnSpPr/>
          <p:nvPr/>
        </p:nvCxnSpPr>
        <p:spPr>
          <a:xfrm>
            <a:off x="1187171" y="2365185"/>
            <a:ext cx="10604341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2068" y="2177092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 dirty="0" smtClean="0"/>
              <a:t>main</a:t>
            </a:r>
            <a:endParaRPr lang="ko-KR" altLang="en-US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8985" y="3474327"/>
            <a:ext cx="10692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 smtClean="0"/>
              <a:t>QA release</a:t>
            </a:r>
            <a:endParaRPr lang="ko-KR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75693" y="4500459"/>
            <a:ext cx="944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 smtClean="0"/>
              <a:t>master</a:t>
            </a:r>
            <a:endParaRPr lang="ko-KR" alt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82068" y="5530311"/>
            <a:ext cx="754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 smtClean="0"/>
              <a:t>feature</a:t>
            </a:r>
            <a:endParaRPr lang="ko-KR" altLang="en-US" sz="1400" dirty="0"/>
          </a:p>
        </p:txBody>
      </p:sp>
      <p:cxnSp>
        <p:nvCxnSpPr>
          <p:cNvPr id="9" name="직선 연결선 8"/>
          <p:cNvCxnSpPr/>
          <p:nvPr/>
        </p:nvCxnSpPr>
        <p:spPr>
          <a:xfrm>
            <a:off x="1220300" y="3630373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1220300" y="4661201"/>
            <a:ext cx="10604341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20300" y="5701208"/>
            <a:ext cx="1060434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7149" y="737929"/>
            <a:ext cx="563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월 정기작업 </a:t>
            </a:r>
            <a:r>
              <a:rPr lang="en-US" altLang="ko-KR" dirty="0" smtClean="0"/>
              <a:t>(deploy:4/28, codefreezing:4/17~4/28)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2082746" y="453982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>
            <a:stCxn id="65" idx="0"/>
            <a:endCxn id="22" idx="4"/>
          </p:cNvCxnSpPr>
          <p:nvPr/>
        </p:nvCxnSpPr>
        <p:spPr>
          <a:xfrm flipV="1">
            <a:off x="4734515" y="3744592"/>
            <a:ext cx="91419" cy="79523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166001" y="2214603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200347" y="3511837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200347" y="453982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200347" y="5567821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/>
          <p:cNvCxnSpPr>
            <a:stCxn id="13" idx="4"/>
          </p:cNvCxnSpPr>
          <p:nvPr/>
        </p:nvCxnSpPr>
        <p:spPr>
          <a:xfrm>
            <a:off x="2199124" y="4772584"/>
            <a:ext cx="1307" cy="1988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02626" y="4787073"/>
            <a:ext cx="12538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 smtClean="0"/>
              <a:t>작업기간 </a:t>
            </a:r>
            <a:r>
              <a:rPr lang="en-US" altLang="ko-KR" sz="800" dirty="0" smtClean="0"/>
              <a:t>: 3/12 ~ 4/14</a:t>
            </a:r>
            <a:endParaRPr lang="ko-KR" altLang="en-US" sz="1100" dirty="0"/>
          </a:p>
        </p:txBody>
      </p:sp>
      <p:sp>
        <p:nvSpPr>
          <p:cNvPr id="22" name="타원 21"/>
          <p:cNvSpPr/>
          <p:nvPr/>
        </p:nvSpPr>
        <p:spPr>
          <a:xfrm>
            <a:off x="4709556" y="3511837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/>
          <p:cNvCxnSpPr>
            <a:endCxn id="22" idx="0"/>
          </p:cNvCxnSpPr>
          <p:nvPr/>
        </p:nvCxnSpPr>
        <p:spPr>
          <a:xfrm>
            <a:off x="4825933" y="3346783"/>
            <a:ext cx="1" cy="1650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타원 24"/>
          <p:cNvSpPr/>
          <p:nvPr/>
        </p:nvSpPr>
        <p:spPr>
          <a:xfrm>
            <a:off x="5686258" y="3511837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/>
          <p:cNvCxnSpPr>
            <a:stCxn id="22" idx="6"/>
            <a:endCxn id="25" idx="2"/>
          </p:cNvCxnSpPr>
          <p:nvPr/>
        </p:nvCxnSpPr>
        <p:spPr>
          <a:xfrm>
            <a:off x="4942311" y="3628215"/>
            <a:ext cx="743947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endCxn id="25" idx="2"/>
          </p:cNvCxnSpPr>
          <p:nvPr/>
        </p:nvCxnSpPr>
        <p:spPr>
          <a:xfrm>
            <a:off x="5448351" y="3628215"/>
            <a:ext cx="237907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타원 27"/>
          <p:cNvSpPr/>
          <p:nvPr/>
        </p:nvSpPr>
        <p:spPr>
          <a:xfrm>
            <a:off x="6158905" y="3511837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/>
          <p:cNvCxnSpPr>
            <a:stCxn id="25" idx="6"/>
            <a:endCxn id="28" idx="2"/>
          </p:cNvCxnSpPr>
          <p:nvPr/>
        </p:nvCxnSpPr>
        <p:spPr>
          <a:xfrm>
            <a:off x="5919013" y="3628215"/>
            <a:ext cx="239892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endCxn id="28" idx="0"/>
          </p:cNvCxnSpPr>
          <p:nvPr/>
        </p:nvCxnSpPr>
        <p:spPr>
          <a:xfrm>
            <a:off x="6255457" y="3022409"/>
            <a:ext cx="19826" cy="48942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>
            <a:off x="2135300" y="1620102"/>
            <a:ext cx="5209" cy="59293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875509" y="1755044"/>
            <a:ext cx="9861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hotfix label </a:t>
            </a:r>
            <a:r>
              <a:rPr lang="ko-KR" altLang="en-US" sz="800" b="1" dirty="0" smtClean="0">
                <a:solidFill>
                  <a:srgbClr val="FF0000"/>
                </a:solidFill>
              </a:rPr>
              <a:t>생</a:t>
            </a:r>
            <a:r>
              <a:rPr lang="ko-KR" altLang="en-US" sz="800" b="1" dirty="0">
                <a:solidFill>
                  <a:srgbClr val="FF0000"/>
                </a:solidFill>
              </a:rPr>
              <a:t>성</a:t>
            </a:r>
          </a:p>
        </p:txBody>
      </p:sp>
      <p:cxnSp>
        <p:nvCxnSpPr>
          <p:cNvPr id="34" name="직선 화살표 연결선 33"/>
          <p:cNvCxnSpPr>
            <a:stCxn id="146" idx="4"/>
            <a:endCxn id="13" idx="0"/>
          </p:cNvCxnSpPr>
          <p:nvPr/>
        </p:nvCxnSpPr>
        <p:spPr>
          <a:xfrm>
            <a:off x="2140509" y="2447995"/>
            <a:ext cx="58615" cy="2091834"/>
          </a:xfrm>
          <a:prstGeom prst="straightConnector1">
            <a:avLst/>
          </a:prstGeom>
          <a:ln w="28575">
            <a:prstDash val="sysDot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01202" y="3229127"/>
            <a:ext cx="10919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 smtClean="0"/>
              <a:t>프리징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4/17~4/28</a:t>
            </a:r>
            <a:endParaRPr lang="ko-KR" altLang="en-US" sz="1100" dirty="0"/>
          </a:p>
        </p:txBody>
      </p:sp>
      <p:cxnSp>
        <p:nvCxnSpPr>
          <p:cNvPr id="36" name="직선 화살표 연결선 35"/>
          <p:cNvCxnSpPr>
            <a:stCxn id="20" idx="3"/>
          </p:cNvCxnSpPr>
          <p:nvPr/>
        </p:nvCxnSpPr>
        <p:spPr>
          <a:xfrm>
            <a:off x="3956495" y="4894795"/>
            <a:ext cx="7780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20" idx="1"/>
          </p:cNvCxnSpPr>
          <p:nvPr/>
        </p:nvCxnSpPr>
        <p:spPr>
          <a:xfrm flipH="1">
            <a:off x="2199126" y="4894795"/>
            <a:ext cx="503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35" idx="3"/>
          </p:cNvCxnSpPr>
          <p:nvPr/>
        </p:nvCxnSpPr>
        <p:spPr>
          <a:xfrm>
            <a:off x="6093126" y="3336849"/>
            <a:ext cx="16233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5" idx="1"/>
          </p:cNvCxnSpPr>
          <p:nvPr/>
        </p:nvCxnSpPr>
        <p:spPr>
          <a:xfrm flipH="1">
            <a:off x="4879096" y="3336849"/>
            <a:ext cx="1221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150" idx="0"/>
            <a:endCxn id="41" idx="4"/>
          </p:cNvCxnSpPr>
          <p:nvPr/>
        </p:nvCxnSpPr>
        <p:spPr>
          <a:xfrm flipV="1">
            <a:off x="6898984" y="2473401"/>
            <a:ext cx="215025" cy="103843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타원 40"/>
          <p:cNvSpPr/>
          <p:nvPr/>
        </p:nvSpPr>
        <p:spPr>
          <a:xfrm>
            <a:off x="6997631" y="2240646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6495327" y="453982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>
            <a:off x="1625003" y="453982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/>
          <p:cNvSpPr/>
          <p:nvPr/>
        </p:nvSpPr>
        <p:spPr>
          <a:xfrm>
            <a:off x="1387552" y="2236122"/>
            <a:ext cx="232755" cy="23275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화살표 연결선 46"/>
          <p:cNvCxnSpPr>
            <a:stCxn id="46" idx="4"/>
            <a:endCxn id="45" idx="0"/>
          </p:cNvCxnSpPr>
          <p:nvPr/>
        </p:nvCxnSpPr>
        <p:spPr>
          <a:xfrm>
            <a:off x="1503930" y="2468877"/>
            <a:ext cx="237451" cy="207095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타원 47"/>
          <p:cNvSpPr/>
          <p:nvPr/>
        </p:nvSpPr>
        <p:spPr>
          <a:xfrm>
            <a:off x="5381921" y="4536111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직선 화살표 연결선 48"/>
          <p:cNvCxnSpPr>
            <a:stCxn id="13" idx="6"/>
            <a:endCxn id="56" idx="2"/>
          </p:cNvCxnSpPr>
          <p:nvPr/>
        </p:nvCxnSpPr>
        <p:spPr>
          <a:xfrm>
            <a:off x="2315501" y="4656207"/>
            <a:ext cx="274408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45" idx="6"/>
            <a:endCxn id="13" idx="2"/>
          </p:cNvCxnSpPr>
          <p:nvPr/>
        </p:nvCxnSpPr>
        <p:spPr>
          <a:xfrm>
            <a:off x="1857758" y="4656207"/>
            <a:ext cx="224988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stCxn id="48" idx="6"/>
            <a:endCxn id="131" idx="2"/>
          </p:cNvCxnSpPr>
          <p:nvPr/>
        </p:nvCxnSpPr>
        <p:spPr>
          <a:xfrm>
            <a:off x="5614676" y="4652489"/>
            <a:ext cx="348313" cy="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 flipV="1">
            <a:off x="1620307" y="2355936"/>
            <a:ext cx="1384465" cy="924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endCxn id="41" idx="2"/>
          </p:cNvCxnSpPr>
          <p:nvPr/>
        </p:nvCxnSpPr>
        <p:spPr>
          <a:xfrm flipV="1">
            <a:off x="3004772" y="2357024"/>
            <a:ext cx="3992859" cy="816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41" idx="6"/>
          </p:cNvCxnSpPr>
          <p:nvPr/>
        </p:nvCxnSpPr>
        <p:spPr>
          <a:xfrm flipV="1">
            <a:off x="7230386" y="2356476"/>
            <a:ext cx="2330666" cy="54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타원 55"/>
          <p:cNvSpPr/>
          <p:nvPr/>
        </p:nvSpPr>
        <p:spPr>
          <a:xfrm>
            <a:off x="2589909" y="453982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/>
          <p:cNvCxnSpPr>
            <a:stCxn id="65" idx="6"/>
            <a:endCxn id="48" idx="2"/>
          </p:cNvCxnSpPr>
          <p:nvPr/>
        </p:nvCxnSpPr>
        <p:spPr>
          <a:xfrm flipV="1">
            <a:off x="4850892" y="4652489"/>
            <a:ext cx="531029" cy="371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stCxn id="56" idx="6"/>
            <a:endCxn id="59" idx="2"/>
          </p:cNvCxnSpPr>
          <p:nvPr/>
        </p:nvCxnSpPr>
        <p:spPr>
          <a:xfrm>
            <a:off x="2822664" y="4656207"/>
            <a:ext cx="274408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3097072" y="453982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화살표 연결선 59"/>
          <p:cNvCxnSpPr>
            <a:stCxn id="59" idx="6"/>
            <a:endCxn id="61" idx="2"/>
          </p:cNvCxnSpPr>
          <p:nvPr/>
        </p:nvCxnSpPr>
        <p:spPr>
          <a:xfrm>
            <a:off x="3329827" y="4656207"/>
            <a:ext cx="274824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타원 60"/>
          <p:cNvSpPr/>
          <p:nvPr/>
        </p:nvSpPr>
        <p:spPr>
          <a:xfrm>
            <a:off x="3604651" y="453982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화살표 연결선 61"/>
          <p:cNvCxnSpPr>
            <a:stCxn id="61" idx="6"/>
            <a:endCxn id="63" idx="2"/>
          </p:cNvCxnSpPr>
          <p:nvPr/>
        </p:nvCxnSpPr>
        <p:spPr>
          <a:xfrm>
            <a:off x="3837406" y="4656207"/>
            <a:ext cx="274408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4111814" y="453982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직선 화살표 연결선 63"/>
          <p:cNvCxnSpPr>
            <a:stCxn id="63" idx="6"/>
            <a:endCxn id="65" idx="2"/>
          </p:cNvCxnSpPr>
          <p:nvPr/>
        </p:nvCxnSpPr>
        <p:spPr>
          <a:xfrm>
            <a:off x="4344569" y="4656207"/>
            <a:ext cx="273568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타원 64"/>
          <p:cNvSpPr/>
          <p:nvPr/>
        </p:nvSpPr>
        <p:spPr>
          <a:xfrm>
            <a:off x="4618137" y="453982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6" name="직선 연결선 65"/>
          <p:cNvCxnSpPr>
            <a:stCxn id="65" idx="4"/>
          </p:cNvCxnSpPr>
          <p:nvPr/>
        </p:nvCxnSpPr>
        <p:spPr>
          <a:xfrm>
            <a:off x="4734515" y="4772584"/>
            <a:ext cx="0" cy="1880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타원 66"/>
          <p:cNvSpPr/>
          <p:nvPr/>
        </p:nvSpPr>
        <p:spPr>
          <a:xfrm>
            <a:off x="2359075" y="5576134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/>
          <p:cNvCxnSpPr>
            <a:endCxn id="67" idx="0"/>
          </p:cNvCxnSpPr>
          <p:nvPr/>
        </p:nvCxnSpPr>
        <p:spPr>
          <a:xfrm>
            <a:off x="2223196" y="4968887"/>
            <a:ext cx="252257" cy="60724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67" idx="6"/>
            <a:endCxn id="70" idx="2"/>
          </p:cNvCxnSpPr>
          <p:nvPr/>
        </p:nvCxnSpPr>
        <p:spPr>
          <a:xfrm>
            <a:off x="2591830" y="5692512"/>
            <a:ext cx="269846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타원 69"/>
          <p:cNvSpPr/>
          <p:nvPr/>
        </p:nvSpPr>
        <p:spPr>
          <a:xfrm>
            <a:off x="2861676" y="5576134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1" name="직선 화살표 연결선 70"/>
          <p:cNvCxnSpPr>
            <a:stCxn id="70" idx="6"/>
            <a:endCxn id="72" idx="2"/>
          </p:cNvCxnSpPr>
          <p:nvPr/>
        </p:nvCxnSpPr>
        <p:spPr>
          <a:xfrm>
            <a:off x="3094431" y="5692512"/>
            <a:ext cx="26417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타원 71"/>
          <p:cNvSpPr/>
          <p:nvPr/>
        </p:nvSpPr>
        <p:spPr>
          <a:xfrm>
            <a:off x="3358602" y="5576134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/>
          <p:cNvSpPr/>
          <p:nvPr/>
        </p:nvSpPr>
        <p:spPr>
          <a:xfrm>
            <a:off x="6994747" y="453912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화살표 연결선 73"/>
          <p:cNvCxnSpPr>
            <a:stCxn id="73" idx="6"/>
            <a:endCxn id="76" idx="2"/>
          </p:cNvCxnSpPr>
          <p:nvPr/>
        </p:nvCxnSpPr>
        <p:spPr>
          <a:xfrm>
            <a:off x="7227502" y="4655506"/>
            <a:ext cx="266665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43" idx="6"/>
            <a:endCxn id="73" idx="2"/>
          </p:cNvCxnSpPr>
          <p:nvPr/>
        </p:nvCxnSpPr>
        <p:spPr>
          <a:xfrm flipV="1">
            <a:off x="6728082" y="4655506"/>
            <a:ext cx="266665" cy="70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타원 75"/>
          <p:cNvSpPr/>
          <p:nvPr/>
        </p:nvSpPr>
        <p:spPr>
          <a:xfrm>
            <a:off x="7494167" y="453912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화살표 연결선 76"/>
          <p:cNvCxnSpPr>
            <a:stCxn id="76" idx="6"/>
            <a:endCxn id="78" idx="2"/>
          </p:cNvCxnSpPr>
          <p:nvPr/>
        </p:nvCxnSpPr>
        <p:spPr>
          <a:xfrm>
            <a:off x="7726922" y="4655506"/>
            <a:ext cx="266665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7993587" y="453912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9" name="직선 화살표 연결선 78"/>
          <p:cNvCxnSpPr>
            <a:stCxn id="78" idx="6"/>
            <a:endCxn id="80" idx="2"/>
          </p:cNvCxnSpPr>
          <p:nvPr/>
        </p:nvCxnSpPr>
        <p:spPr>
          <a:xfrm>
            <a:off x="8226342" y="4655506"/>
            <a:ext cx="266665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타원 79"/>
          <p:cNvSpPr/>
          <p:nvPr/>
        </p:nvSpPr>
        <p:spPr>
          <a:xfrm>
            <a:off x="8493007" y="453912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화살표 연결선 80"/>
          <p:cNvCxnSpPr>
            <a:stCxn id="80" idx="6"/>
            <a:endCxn id="82" idx="2"/>
          </p:cNvCxnSpPr>
          <p:nvPr/>
        </p:nvCxnSpPr>
        <p:spPr>
          <a:xfrm>
            <a:off x="8725762" y="4655506"/>
            <a:ext cx="266665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타원 81"/>
          <p:cNvSpPr/>
          <p:nvPr/>
        </p:nvSpPr>
        <p:spPr>
          <a:xfrm>
            <a:off x="8992427" y="453912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/>
          <p:cNvCxnSpPr>
            <a:stCxn id="82" idx="6"/>
          </p:cNvCxnSpPr>
          <p:nvPr/>
        </p:nvCxnSpPr>
        <p:spPr>
          <a:xfrm>
            <a:off x="9225182" y="4655506"/>
            <a:ext cx="744571" cy="70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324479" y="4789254"/>
            <a:ext cx="12346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 smtClean="0"/>
              <a:t>작업기간 </a:t>
            </a:r>
            <a:r>
              <a:rPr lang="en-US" altLang="ko-KR" sz="800" dirty="0" smtClean="0"/>
              <a:t>: 4/17 ~ 6/??</a:t>
            </a:r>
            <a:endParaRPr lang="ko-KR" altLang="en-US" sz="1100" dirty="0"/>
          </a:p>
        </p:txBody>
      </p:sp>
      <p:cxnSp>
        <p:nvCxnSpPr>
          <p:cNvPr id="85" name="직선 화살표 연결선 84"/>
          <p:cNvCxnSpPr>
            <a:stCxn id="84" idx="3"/>
          </p:cNvCxnSpPr>
          <p:nvPr/>
        </p:nvCxnSpPr>
        <p:spPr>
          <a:xfrm>
            <a:off x="7559112" y="4896976"/>
            <a:ext cx="1549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 flipH="1">
            <a:off x="4716502" y="4872026"/>
            <a:ext cx="15979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연결선 86"/>
          <p:cNvCxnSpPr>
            <a:stCxn id="82" idx="4"/>
          </p:cNvCxnSpPr>
          <p:nvPr/>
        </p:nvCxnSpPr>
        <p:spPr>
          <a:xfrm>
            <a:off x="9108805" y="4771883"/>
            <a:ext cx="2145" cy="1970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타원 104"/>
          <p:cNvSpPr/>
          <p:nvPr/>
        </p:nvSpPr>
        <p:spPr>
          <a:xfrm>
            <a:off x="5365136" y="2255914"/>
            <a:ext cx="232755" cy="23275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/>
          <p:cNvCxnSpPr>
            <a:stCxn id="72" idx="7"/>
          </p:cNvCxnSpPr>
          <p:nvPr/>
        </p:nvCxnSpPr>
        <p:spPr>
          <a:xfrm flipV="1">
            <a:off x="3557271" y="4962766"/>
            <a:ext cx="134473" cy="64745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2053176" y="5835307"/>
            <a:ext cx="2084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4</a:t>
            </a:r>
            <a:r>
              <a:rPr lang="ko-KR" altLang="en-US" sz="800" dirty="0" smtClean="0"/>
              <a:t>월 정기 포함될 기능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feature/feature-[#</a:t>
            </a:r>
            <a:r>
              <a:rPr lang="en-US" altLang="ko-KR" sz="800" b="1" dirty="0" err="1" smtClean="0">
                <a:latin typeface="+mn-ea"/>
              </a:rPr>
              <a:t>rp_no</a:t>
            </a:r>
            <a:r>
              <a:rPr lang="en-US" altLang="ko-KR" sz="800" b="1" dirty="0" smtClean="0">
                <a:latin typeface="+mn-ea"/>
              </a:rPr>
              <a:t>]-</a:t>
            </a:r>
            <a:r>
              <a:rPr lang="en-US" altLang="ko-KR" sz="800" b="1" dirty="0" err="1" smtClean="0">
                <a:latin typeface="+mn-ea"/>
              </a:rPr>
              <a:t>feature_name</a:t>
            </a:r>
            <a:endParaRPr lang="en-US" altLang="ko-KR" sz="800" b="1" dirty="0" smtClean="0">
              <a:latin typeface="+mn-ea"/>
            </a:endParaRPr>
          </a:p>
          <a:p>
            <a:r>
              <a:rPr lang="en-US" altLang="ko-KR" sz="800" b="1" dirty="0" smtClean="0">
                <a:latin typeface="+mn-ea"/>
              </a:rPr>
              <a:t>master </a:t>
            </a:r>
            <a:r>
              <a:rPr lang="ko-KR" altLang="en-US" sz="800" b="1" dirty="0" smtClean="0">
                <a:latin typeface="+mn-ea"/>
              </a:rPr>
              <a:t>병합</a:t>
            </a:r>
            <a:endParaRPr lang="ko-KR" altLang="en-US" sz="800" b="1" dirty="0"/>
          </a:p>
        </p:txBody>
      </p:sp>
      <p:sp>
        <p:nvSpPr>
          <p:cNvPr id="113" name="타원 112"/>
          <p:cNvSpPr/>
          <p:nvPr/>
        </p:nvSpPr>
        <p:spPr>
          <a:xfrm>
            <a:off x="4348824" y="5576134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4" name="직선 화살표 연결선 113"/>
          <p:cNvCxnSpPr>
            <a:stCxn id="113" idx="6"/>
            <a:endCxn id="115" idx="2"/>
          </p:cNvCxnSpPr>
          <p:nvPr/>
        </p:nvCxnSpPr>
        <p:spPr>
          <a:xfrm>
            <a:off x="4581579" y="5692512"/>
            <a:ext cx="269846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5" name="타원 114"/>
          <p:cNvSpPr/>
          <p:nvPr/>
        </p:nvSpPr>
        <p:spPr>
          <a:xfrm>
            <a:off x="4851425" y="5576134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6" name="직선 화살표 연결선 115"/>
          <p:cNvCxnSpPr>
            <a:stCxn id="115" idx="6"/>
            <a:endCxn id="117" idx="2"/>
          </p:cNvCxnSpPr>
          <p:nvPr/>
        </p:nvCxnSpPr>
        <p:spPr>
          <a:xfrm>
            <a:off x="5084180" y="5692512"/>
            <a:ext cx="26417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7" name="타원 116"/>
          <p:cNvSpPr/>
          <p:nvPr/>
        </p:nvSpPr>
        <p:spPr>
          <a:xfrm>
            <a:off x="5348351" y="5576134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/>
          <p:cNvSpPr txBox="1"/>
          <p:nvPr/>
        </p:nvSpPr>
        <p:spPr>
          <a:xfrm>
            <a:off x="4435686" y="5835307"/>
            <a:ext cx="2084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6</a:t>
            </a:r>
            <a:r>
              <a:rPr lang="ko-KR" altLang="en-US" sz="800" dirty="0" smtClean="0"/>
              <a:t>월 정기 포함될 기능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생성</a:t>
            </a:r>
            <a:endParaRPr lang="en-US" altLang="ko-KR" sz="800" dirty="0" smtClean="0"/>
          </a:p>
          <a:p>
            <a:r>
              <a:rPr lang="en-US" altLang="ko-KR" sz="800" b="1" dirty="0" smtClean="0">
                <a:latin typeface="+mn-ea"/>
              </a:rPr>
              <a:t>feature/feature-[#</a:t>
            </a:r>
            <a:r>
              <a:rPr lang="en-US" altLang="ko-KR" sz="800" b="1" dirty="0" err="1" smtClean="0">
                <a:latin typeface="+mn-ea"/>
              </a:rPr>
              <a:t>rp_no</a:t>
            </a:r>
            <a:r>
              <a:rPr lang="en-US" altLang="ko-KR" sz="800" b="1" dirty="0" smtClean="0">
                <a:latin typeface="+mn-ea"/>
              </a:rPr>
              <a:t>]-</a:t>
            </a:r>
            <a:r>
              <a:rPr lang="en-US" altLang="ko-KR" sz="800" b="1" dirty="0" err="1" smtClean="0">
                <a:latin typeface="+mn-ea"/>
              </a:rPr>
              <a:t>feature_name</a:t>
            </a:r>
            <a:endParaRPr lang="en-US" altLang="ko-KR" sz="800" b="1" dirty="0" smtClean="0">
              <a:latin typeface="+mn-ea"/>
            </a:endParaRPr>
          </a:p>
          <a:p>
            <a:r>
              <a:rPr lang="en-US" altLang="ko-KR" sz="800" b="1" dirty="0" smtClean="0">
                <a:latin typeface="+mn-ea"/>
              </a:rPr>
              <a:t>master </a:t>
            </a:r>
            <a:r>
              <a:rPr lang="ko-KR" altLang="en-US" sz="800" b="1" dirty="0" smtClean="0">
                <a:latin typeface="+mn-ea"/>
              </a:rPr>
              <a:t>병합</a:t>
            </a:r>
            <a:endParaRPr lang="ko-KR" altLang="en-US" sz="800" b="1" dirty="0"/>
          </a:p>
        </p:txBody>
      </p:sp>
      <p:cxnSp>
        <p:nvCxnSpPr>
          <p:cNvPr id="119" name="직선 화살표 연결선 118"/>
          <p:cNvCxnSpPr>
            <a:stCxn id="63" idx="4"/>
            <a:endCxn id="113" idx="0"/>
          </p:cNvCxnSpPr>
          <p:nvPr/>
        </p:nvCxnSpPr>
        <p:spPr>
          <a:xfrm>
            <a:off x="4228192" y="4772584"/>
            <a:ext cx="237010" cy="80355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>
            <a:stCxn id="117" idx="6"/>
            <a:endCxn id="121" idx="2"/>
          </p:cNvCxnSpPr>
          <p:nvPr/>
        </p:nvCxnSpPr>
        <p:spPr>
          <a:xfrm>
            <a:off x="5581106" y="5692512"/>
            <a:ext cx="2254405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1" name="타원 120"/>
          <p:cNvSpPr/>
          <p:nvPr/>
        </p:nvSpPr>
        <p:spPr>
          <a:xfrm>
            <a:off x="7835511" y="5576134"/>
            <a:ext cx="232755" cy="23275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2" name="직선 화살표 연결선 121"/>
          <p:cNvCxnSpPr>
            <a:stCxn id="121" idx="0"/>
            <a:endCxn id="78" idx="4"/>
          </p:cNvCxnSpPr>
          <p:nvPr/>
        </p:nvCxnSpPr>
        <p:spPr>
          <a:xfrm flipV="1">
            <a:off x="7951889" y="4771883"/>
            <a:ext cx="158076" cy="80425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821910" y="2683855"/>
            <a:ext cx="15359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4</a:t>
            </a:r>
            <a:r>
              <a:rPr lang="ko-KR" altLang="en-US" sz="800" dirty="0" err="1" smtClean="0"/>
              <a:t>월정기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배포후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hotfix </a:t>
            </a:r>
            <a:r>
              <a:rPr lang="ko-KR" altLang="en-US" sz="800" dirty="0" smtClean="0"/>
              <a:t>발생시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master </a:t>
            </a:r>
            <a:r>
              <a:rPr lang="ko-KR" altLang="en-US" sz="800" dirty="0" err="1" smtClean="0"/>
              <a:t>브랜치에</a:t>
            </a:r>
            <a:r>
              <a:rPr lang="ko-KR" altLang="en-US" sz="800" dirty="0" smtClean="0"/>
              <a:t> 반영  </a:t>
            </a:r>
            <a:endParaRPr lang="en-US" altLang="ko-KR" sz="800" dirty="0" smtClean="0"/>
          </a:p>
        </p:txBody>
      </p:sp>
      <p:cxnSp>
        <p:nvCxnSpPr>
          <p:cNvPr id="130" name="직선 화살표 연결선 129"/>
          <p:cNvCxnSpPr/>
          <p:nvPr/>
        </p:nvCxnSpPr>
        <p:spPr>
          <a:xfrm>
            <a:off x="5835850" y="3766328"/>
            <a:ext cx="166325" cy="791519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1" name="타원 130"/>
          <p:cNvSpPr/>
          <p:nvPr/>
        </p:nvSpPr>
        <p:spPr>
          <a:xfrm>
            <a:off x="5962989" y="4536112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2" name="직선 화살표 연결선 131"/>
          <p:cNvCxnSpPr>
            <a:stCxn id="131" idx="6"/>
            <a:endCxn id="43" idx="2"/>
          </p:cNvCxnSpPr>
          <p:nvPr/>
        </p:nvCxnSpPr>
        <p:spPr>
          <a:xfrm>
            <a:off x="6195744" y="4652490"/>
            <a:ext cx="299583" cy="371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 flipH="1">
            <a:off x="1487433" y="2355936"/>
            <a:ext cx="73" cy="414528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/>
          <p:cNvCxnSpPr/>
          <p:nvPr/>
        </p:nvCxnSpPr>
        <p:spPr>
          <a:xfrm>
            <a:off x="11233058" y="1580984"/>
            <a:ext cx="4166" cy="4106108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502834" y="4026012"/>
            <a:ext cx="1276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master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병합 </a:t>
            </a:r>
            <a:endParaRPr lang="en-US" altLang="ko-KR" sz="800" dirty="0" smtClean="0"/>
          </a:p>
        </p:txBody>
      </p:sp>
      <p:sp>
        <p:nvSpPr>
          <p:cNvPr id="139" name="TextBox 138"/>
          <p:cNvSpPr txBox="1"/>
          <p:nvPr/>
        </p:nvSpPr>
        <p:spPr>
          <a:xfrm>
            <a:off x="166851" y="137008"/>
            <a:ext cx="3811591" cy="369332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/>
              <a:t>신규 </a:t>
            </a:r>
            <a:r>
              <a:rPr lang="en-US" altLang="ko-KR" dirty="0" smtClean="0"/>
              <a:t>Branch </a:t>
            </a:r>
            <a:r>
              <a:rPr lang="ko-KR" altLang="en-US" dirty="0" smtClean="0"/>
              <a:t>전략 흐름도</a:t>
            </a:r>
            <a:r>
              <a:rPr lang="en-US" altLang="ko-KR" dirty="0" smtClean="0"/>
              <a:t>(20170418)</a:t>
            </a:r>
            <a:endParaRPr lang="ko-KR" altLang="en-US" dirty="0"/>
          </a:p>
        </p:txBody>
      </p:sp>
      <p:sp>
        <p:nvSpPr>
          <p:cNvPr id="140" name="설명선 1 139"/>
          <p:cNvSpPr/>
          <p:nvPr/>
        </p:nvSpPr>
        <p:spPr>
          <a:xfrm>
            <a:off x="908110" y="1922271"/>
            <a:ext cx="623454" cy="224445"/>
          </a:xfrm>
          <a:prstGeom prst="borderCallout1">
            <a:avLst>
              <a:gd name="adj1" fmla="val 95602"/>
              <a:gd name="adj2" fmla="val 78530"/>
              <a:gd name="adj3" fmla="val 143055"/>
              <a:gd name="adj4" fmla="val 836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최초생성</a:t>
            </a:r>
            <a:endParaRPr lang="ko-KR" altLang="en-US" sz="800" dirty="0"/>
          </a:p>
        </p:txBody>
      </p:sp>
      <p:cxnSp>
        <p:nvCxnSpPr>
          <p:cNvPr id="144" name="직선 화살표 연결선 143"/>
          <p:cNvCxnSpPr>
            <a:stCxn id="48" idx="4"/>
            <a:endCxn id="117" idx="0"/>
          </p:cNvCxnSpPr>
          <p:nvPr/>
        </p:nvCxnSpPr>
        <p:spPr>
          <a:xfrm flipH="1">
            <a:off x="5464729" y="4768866"/>
            <a:ext cx="33570" cy="807268"/>
          </a:xfrm>
          <a:prstGeom prst="straightConnector1">
            <a:avLst/>
          </a:prstGeom>
          <a:ln w="12700"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5" name="설명선 1 144"/>
          <p:cNvSpPr/>
          <p:nvPr/>
        </p:nvSpPr>
        <p:spPr>
          <a:xfrm>
            <a:off x="5770515" y="4994790"/>
            <a:ext cx="1676399" cy="374652"/>
          </a:xfrm>
          <a:prstGeom prst="borderCallout1">
            <a:avLst>
              <a:gd name="adj1" fmla="val 58275"/>
              <a:gd name="adj2" fmla="val 399"/>
              <a:gd name="adj3" fmla="val 68912"/>
              <a:gd name="adj4" fmla="val -117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merge</a:t>
            </a:r>
            <a:r>
              <a:rPr lang="ko-KR" altLang="en-US" sz="800" dirty="0" smtClean="0"/>
              <a:t> 타이밍은 개발자가 판단</a:t>
            </a:r>
            <a:endParaRPr lang="ko-KR" altLang="en-US" sz="800" dirty="0"/>
          </a:p>
        </p:txBody>
      </p:sp>
      <p:sp>
        <p:nvSpPr>
          <p:cNvPr id="146" name="타원 145"/>
          <p:cNvSpPr/>
          <p:nvPr/>
        </p:nvSpPr>
        <p:spPr>
          <a:xfrm>
            <a:off x="2024131" y="2215240"/>
            <a:ext cx="232755" cy="23275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7" name="직선 화살표 연결선 146"/>
          <p:cNvCxnSpPr/>
          <p:nvPr/>
        </p:nvCxnSpPr>
        <p:spPr>
          <a:xfrm flipH="1">
            <a:off x="5493089" y="1621667"/>
            <a:ext cx="5209" cy="59293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직선 화살표 연결선 147"/>
          <p:cNvCxnSpPr>
            <a:endCxn id="48" idx="1"/>
          </p:cNvCxnSpPr>
          <p:nvPr/>
        </p:nvCxnSpPr>
        <p:spPr>
          <a:xfrm flipH="1">
            <a:off x="5416007" y="2472853"/>
            <a:ext cx="47217" cy="2097344"/>
          </a:xfrm>
          <a:prstGeom prst="straightConnector1">
            <a:avLst/>
          </a:prstGeom>
          <a:ln w="28575">
            <a:prstDash val="sysDot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직선 화살표 연결선 148"/>
          <p:cNvCxnSpPr>
            <a:endCxn id="150" idx="2"/>
          </p:cNvCxnSpPr>
          <p:nvPr/>
        </p:nvCxnSpPr>
        <p:spPr>
          <a:xfrm flipV="1">
            <a:off x="6399965" y="3628215"/>
            <a:ext cx="382641" cy="611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0" name="타원 149"/>
          <p:cNvSpPr/>
          <p:nvPr/>
        </p:nvSpPr>
        <p:spPr>
          <a:xfrm>
            <a:off x="6782606" y="3511837"/>
            <a:ext cx="232755" cy="2327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1" name="직선 화살표 연결선 150"/>
          <p:cNvCxnSpPr>
            <a:stCxn id="105" idx="4"/>
          </p:cNvCxnSpPr>
          <p:nvPr/>
        </p:nvCxnSpPr>
        <p:spPr>
          <a:xfrm>
            <a:off x="5481514" y="2488669"/>
            <a:ext cx="1120832" cy="1190184"/>
          </a:xfrm>
          <a:prstGeom prst="straightConnector1">
            <a:avLst/>
          </a:prstGeom>
          <a:ln w="28575">
            <a:prstDash val="sysDot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2" name="설명선 1 151"/>
          <p:cNvSpPr/>
          <p:nvPr/>
        </p:nvSpPr>
        <p:spPr>
          <a:xfrm>
            <a:off x="5021785" y="3884576"/>
            <a:ext cx="836319" cy="282873"/>
          </a:xfrm>
          <a:prstGeom prst="borderCallout1">
            <a:avLst>
              <a:gd name="adj1" fmla="val 97298"/>
              <a:gd name="adj2" fmla="val 54945"/>
              <a:gd name="adj3" fmla="val 173044"/>
              <a:gd name="adj4" fmla="val 11026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프리징</a:t>
            </a:r>
            <a:r>
              <a:rPr lang="ko-KR" altLang="en-US" sz="800" dirty="0" smtClean="0"/>
              <a:t> 기간의 피드백적용</a:t>
            </a:r>
            <a:endParaRPr lang="ko-KR" altLang="en-US" sz="800" dirty="0"/>
          </a:p>
        </p:txBody>
      </p:sp>
      <p:sp>
        <p:nvSpPr>
          <p:cNvPr id="153" name="TextBox 152"/>
          <p:cNvSpPr txBox="1"/>
          <p:nvPr/>
        </p:nvSpPr>
        <p:spPr>
          <a:xfrm>
            <a:off x="7178439" y="1803660"/>
            <a:ext cx="1779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4</a:t>
            </a:r>
            <a:r>
              <a:rPr lang="ko-KR" altLang="en-US" sz="800" dirty="0" smtClean="0"/>
              <a:t>월 정기 배포 </a:t>
            </a:r>
            <a:r>
              <a:rPr lang="ko-KR" altLang="en-US" sz="800" dirty="0"/>
              <a:t>후</a:t>
            </a:r>
            <a:endParaRPr lang="en-US" altLang="ko-KR" sz="800" dirty="0" smtClean="0"/>
          </a:p>
          <a:p>
            <a:r>
              <a:rPr lang="en-US" altLang="ko-KR" sz="800" dirty="0" smtClean="0"/>
              <a:t>Main  hotfix </a:t>
            </a:r>
            <a:r>
              <a:rPr lang="ko-KR" altLang="en-US" sz="800" dirty="0" smtClean="0"/>
              <a:t>병합 후 </a:t>
            </a:r>
            <a:r>
              <a:rPr lang="ko-KR" altLang="en-US" sz="800" dirty="0"/>
              <a:t> </a:t>
            </a:r>
            <a:r>
              <a:rPr lang="en-US" altLang="ko-KR" sz="800" dirty="0" smtClean="0"/>
              <a:t>main</a:t>
            </a:r>
            <a:r>
              <a:rPr lang="ko-KR" altLang="en-US" sz="800" dirty="0" smtClean="0"/>
              <a:t>에 반영</a:t>
            </a:r>
            <a:endParaRPr lang="en-US" altLang="ko-KR" sz="800" dirty="0" smtClean="0"/>
          </a:p>
          <a:p>
            <a:r>
              <a:rPr lang="en-US" altLang="ko-KR" sz="800" dirty="0"/>
              <a:t>label </a:t>
            </a:r>
            <a:r>
              <a:rPr lang="ko-KR" altLang="en-US" sz="800" dirty="0"/>
              <a:t>생성</a:t>
            </a:r>
            <a:endParaRPr lang="en-US" altLang="ko-KR" sz="800" dirty="0"/>
          </a:p>
        </p:txBody>
      </p:sp>
      <p:sp>
        <p:nvSpPr>
          <p:cNvPr id="154" name="설명선 1 153"/>
          <p:cNvSpPr/>
          <p:nvPr/>
        </p:nvSpPr>
        <p:spPr>
          <a:xfrm>
            <a:off x="2978053" y="3344287"/>
            <a:ext cx="1584465" cy="282873"/>
          </a:xfrm>
          <a:prstGeom prst="borderCallout1">
            <a:avLst>
              <a:gd name="adj1" fmla="val 97298"/>
              <a:gd name="adj2" fmla="val 54945"/>
              <a:gd name="adj3" fmla="val 267448"/>
              <a:gd name="adj4" fmla="val 11515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 dirty="0" smtClean="0"/>
              <a:t>4</a:t>
            </a:r>
            <a:r>
              <a:rPr lang="ko-KR" altLang="en-US" sz="800" dirty="0" smtClean="0"/>
              <a:t>월 </a:t>
            </a:r>
            <a:r>
              <a:rPr lang="ko-KR" altLang="en-US" sz="800" dirty="0"/>
              <a:t>정기 </a:t>
            </a:r>
            <a:r>
              <a:rPr lang="ko-KR" altLang="en-US" sz="800" dirty="0" smtClean="0"/>
              <a:t>테스트 </a:t>
            </a:r>
            <a:r>
              <a:rPr lang="ko-KR" altLang="en-US" sz="800" dirty="0" err="1" smtClean="0"/>
              <a:t>브랜치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생성</a:t>
            </a:r>
            <a:endParaRPr lang="en-US" altLang="ko-KR" sz="800" dirty="0"/>
          </a:p>
          <a:p>
            <a:r>
              <a:rPr lang="en-US" altLang="ko-KR" sz="800" b="1" dirty="0" smtClean="0">
                <a:latin typeface="+mn-ea"/>
              </a:rPr>
              <a:t>release/release-17.04.28.00</a:t>
            </a:r>
            <a:endParaRPr lang="ko-KR" altLang="en-US" sz="800" b="1" dirty="0"/>
          </a:p>
        </p:txBody>
      </p:sp>
      <p:sp>
        <p:nvSpPr>
          <p:cNvPr id="155" name="설명선 1 154"/>
          <p:cNvSpPr/>
          <p:nvPr/>
        </p:nvSpPr>
        <p:spPr>
          <a:xfrm>
            <a:off x="5509774" y="1242673"/>
            <a:ext cx="1567200" cy="281359"/>
          </a:xfrm>
          <a:prstGeom prst="borderCallout1">
            <a:avLst>
              <a:gd name="adj1" fmla="val 100438"/>
              <a:gd name="adj2" fmla="val 49303"/>
              <a:gd name="adj3" fmla="val 645833"/>
              <a:gd name="adj4" fmla="val 4776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 dirty="0" smtClean="0"/>
              <a:t>4</a:t>
            </a:r>
            <a:r>
              <a:rPr lang="ko-KR" altLang="en-US" sz="800" dirty="0" smtClean="0"/>
              <a:t>월 </a:t>
            </a:r>
            <a:r>
              <a:rPr lang="ko-KR" altLang="en-US" sz="800" dirty="0"/>
              <a:t>정기 </a:t>
            </a:r>
            <a:r>
              <a:rPr lang="ko-KR" altLang="en-US" sz="800" dirty="0" smtClean="0"/>
              <a:t>배포</a:t>
            </a:r>
            <a:r>
              <a:rPr lang="en-US" altLang="ko-KR" sz="800" b="1" dirty="0" smtClean="0">
                <a:latin typeface="+mn-ea"/>
              </a:rPr>
              <a:t>release/release-17.04.28.00</a:t>
            </a:r>
            <a:endParaRPr lang="ko-KR" altLang="en-US" sz="800" b="1" dirty="0"/>
          </a:p>
        </p:txBody>
      </p:sp>
      <p:sp>
        <p:nvSpPr>
          <p:cNvPr id="156" name="TextBox 155"/>
          <p:cNvSpPr txBox="1"/>
          <p:nvPr/>
        </p:nvSpPr>
        <p:spPr>
          <a:xfrm>
            <a:off x="491755" y="1088785"/>
            <a:ext cx="2587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2017/04/18 </a:t>
            </a:r>
            <a:r>
              <a:rPr lang="ko-KR" altLang="en-US" b="1" dirty="0" smtClean="0">
                <a:solidFill>
                  <a:srgbClr val="FF0000"/>
                </a:solidFill>
              </a:rPr>
              <a:t>최종 확정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3557271" y="1728438"/>
            <a:ext cx="18806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4</a:t>
            </a:r>
            <a:r>
              <a:rPr lang="ko-KR" altLang="en-US" sz="800" dirty="0" err="1" smtClean="0"/>
              <a:t>월정기</a:t>
            </a:r>
            <a:r>
              <a:rPr lang="ko-KR" altLang="en-US" sz="800" dirty="0" smtClean="0"/>
              <a:t> 테스트 기간에 </a:t>
            </a:r>
            <a:r>
              <a:rPr lang="en-US" altLang="ko-KR" sz="800" dirty="0" smtClean="0"/>
              <a:t>hotfix </a:t>
            </a:r>
            <a:r>
              <a:rPr lang="ko-KR" altLang="en-US" sz="800" dirty="0" smtClean="0"/>
              <a:t>발생시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master </a:t>
            </a:r>
            <a:r>
              <a:rPr lang="ko-KR" altLang="en-US" sz="800" dirty="0" err="1" smtClean="0"/>
              <a:t>브랜치에</a:t>
            </a:r>
            <a:r>
              <a:rPr lang="ko-KR" altLang="en-US" sz="800" dirty="0" smtClean="0"/>
              <a:t> 반영  </a:t>
            </a:r>
            <a:endParaRPr lang="en-US" altLang="ko-KR" sz="800" dirty="0" smtClean="0"/>
          </a:p>
        </p:txBody>
      </p:sp>
      <p:cxnSp>
        <p:nvCxnSpPr>
          <p:cNvPr id="167" name="직선 화살표 연결선 166"/>
          <p:cNvCxnSpPr>
            <a:endCxn id="43" idx="0"/>
          </p:cNvCxnSpPr>
          <p:nvPr/>
        </p:nvCxnSpPr>
        <p:spPr>
          <a:xfrm>
            <a:off x="6343898" y="3716621"/>
            <a:ext cx="267807" cy="8232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525188" y="2742811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4</a:t>
            </a:r>
            <a:r>
              <a:rPr lang="ko-KR" altLang="en-US" sz="800" dirty="0" smtClean="0"/>
              <a:t>월 정기 배포 </a:t>
            </a:r>
            <a:r>
              <a:rPr lang="ko-KR" altLang="en-US" sz="800" dirty="0"/>
              <a:t>후</a:t>
            </a:r>
            <a:endParaRPr lang="en-US" altLang="ko-KR" sz="800" dirty="0" smtClean="0"/>
          </a:p>
          <a:p>
            <a:r>
              <a:rPr lang="en-US" altLang="ko-KR" sz="800" dirty="0" smtClean="0"/>
              <a:t>Main  hotfix </a:t>
            </a:r>
            <a:r>
              <a:rPr lang="ko-KR" altLang="en-US" sz="800" dirty="0" smtClean="0"/>
              <a:t>병합 후</a:t>
            </a:r>
            <a:endParaRPr lang="en-US" altLang="ko-KR" sz="800" dirty="0" smtClean="0"/>
          </a:p>
        </p:txBody>
      </p:sp>
      <p:sp>
        <p:nvSpPr>
          <p:cNvPr id="173" name="설명선 1 172"/>
          <p:cNvSpPr/>
          <p:nvPr/>
        </p:nvSpPr>
        <p:spPr>
          <a:xfrm>
            <a:off x="8859094" y="5085184"/>
            <a:ext cx="1676399" cy="374652"/>
          </a:xfrm>
          <a:prstGeom prst="borderCallout1">
            <a:avLst>
              <a:gd name="adj1" fmla="val -3652"/>
              <a:gd name="adj2" fmla="val 50874"/>
              <a:gd name="adj3" fmla="val -111406"/>
              <a:gd name="adj4" fmla="val 716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정기에 넣을 수 있는 작업만 </a:t>
            </a:r>
            <a:r>
              <a:rPr lang="en-US" altLang="ko-KR" sz="800" dirty="0" smtClean="0"/>
              <a:t>master </a:t>
            </a:r>
            <a:r>
              <a:rPr lang="ko-KR" altLang="en-US" sz="800" dirty="0" smtClean="0"/>
              <a:t>에 반영한다</a:t>
            </a:r>
            <a:r>
              <a:rPr lang="en-US" altLang="ko-KR" sz="800" dirty="0" smtClean="0"/>
              <a:t>. </a:t>
            </a:r>
            <a:r>
              <a:rPr lang="ko-KR" altLang="en-US" sz="800" dirty="0" smtClean="0"/>
              <a:t>반드시 </a:t>
            </a:r>
            <a:r>
              <a:rPr lang="en-US" altLang="ko-KR" sz="800" dirty="0" smtClean="0"/>
              <a:t>RP</a:t>
            </a:r>
            <a:r>
              <a:rPr lang="ko-KR" altLang="en-US" sz="800" dirty="0" smtClean="0"/>
              <a:t>에 등록되어 있어야 한다</a:t>
            </a:r>
            <a:r>
              <a:rPr lang="en-US" altLang="ko-KR" sz="800" dirty="0" smtClean="0"/>
              <a:t>.</a:t>
            </a:r>
            <a:endParaRPr lang="ko-KR" altLang="en-US" sz="800" dirty="0"/>
          </a:p>
        </p:txBody>
      </p:sp>
      <p:sp>
        <p:nvSpPr>
          <p:cNvPr id="174" name="설명선 1 173"/>
          <p:cNvSpPr/>
          <p:nvPr/>
        </p:nvSpPr>
        <p:spPr>
          <a:xfrm>
            <a:off x="6504497" y="6089924"/>
            <a:ext cx="2144286" cy="414095"/>
          </a:xfrm>
          <a:prstGeom prst="borderCallout1">
            <a:avLst>
              <a:gd name="adj1" fmla="val -3652"/>
              <a:gd name="adj2" fmla="val 50874"/>
              <a:gd name="adj3" fmla="val -90983"/>
              <a:gd name="adj4" fmla="val 1916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800" dirty="0"/>
              <a:t>신규 기능이나 연관성 있는 작업은 </a:t>
            </a:r>
            <a:r>
              <a:rPr lang="en-US" altLang="ko-KR" sz="800" dirty="0"/>
              <a:t>feature </a:t>
            </a:r>
            <a:r>
              <a:rPr lang="ko-KR" altLang="en-US" sz="800" dirty="0"/>
              <a:t>로 작업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3631542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4169</TotalTime>
  <Words>1257</Words>
  <Application>Microsoft Office PowerPoint</Application>
  <PresentationFormat>사용자 지정</PresentationFormat>
  <Paragraphs>310</Paragraphs>
  <Slides>10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NEXACRO 17 브랜치전략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(주)투비소프트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오상민</dc:creator>
  <cp:lastModifiedBy>SOYOUNG</cp:lastModifiedBy>
  <cp:revision>775</cp:revision>
  <cp:lastPrinted>2016-07-27T10:41:14Z</cp:lastPrinted>
  <dcterms:created xsi:type="dcterms:W3CDTF">2016-07-27T07:21:34Z</dcterms:created>
  <dcterms:modified xsi:type="dcterms:W3CDTF">2017-04-18T02:35:02Z</dcterms:modified>
</cp:coreProperties>
</file>